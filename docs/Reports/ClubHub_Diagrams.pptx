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stem boundary"/>
          <p:cNvSpPr/>
          <p:nvPr/>
        </p:nvSpPr>
        <p:spPr>
          <a:xfrm>
            <a:off x="4146804" y="164592"/>
            <a:ext cx="3319272" cy="6517843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3" name="Title"/>
          <p:cNvSpPr txBox="1"/>
          <p:nvPr/>
        </p:nvSpPr>
        <p:spPr>
          <a:xfrm>
            <a:off x="4146804" y="224942"/>
            <a:ext cx="3319272" cy="193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ClubHub</a:t>
            </a:r>
            <a:endParaRPr lang="en-US" sz="1400" dirty="0"/>
          </a:p>
        </p:txBody>
      </p:sp>
      <p:sp>
        <p:nvSpPr>
          <p:cNvPr id="4" name="Log in"/>
          <p:cNvSpPr/>
          <p:nvPr/>
        </p:nvSpPr>
        <p:spPr>
          <a:xfrm>
            <a:off x="4406311" y="870692"/>
            <a:ext cx="989747" cy="51901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in</a:t>
            </a:r>
            <a:endParaRPr lang="en-US" sz="1000" dirty="0"/>
          </a:p>
        </p:txBody>
      </p:sp>
      <p:sp>
        <p:nvSpPr>
          <p:cNvPr id="5" name="Registration for club"/>
          <p:cNvSpPr/>
          <p:nvPr/>
        </p:nvSpPr>
        <p:spPr>
          <a:xfrm>
            <a:off x="4406311" y="1522476"/>
            <a:ext cx="989747" cy="51901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club</a:t>
            </a:r>
            <a:endParaRPr lang="en-US" sz="1000" dirty="0"/>
          </a:p>
        </p:txBody>
      </p:sp>
      <p:sp>
        <p:nvSpPr>
          <p:cNvPr id="6" name="Create new events"/>
          <p:cNvSpPr/>
          <p:nvPr/>
        </p:nvSpPr>
        <p:spPr>
          <a:xfrm>
            <a:off x="4406311" y="2174260"/>
            <a:ext cx="989747" cy="51901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events</a:t>
            </a:r>
            <a:endParaRPr lang="en-US" sz="1000" dirty="0"/>
          </a:p>
        </p:txBody>
      </p:sp>
      <p:sp>
        <p:nvSpPr>
          <p:cNvPr id="7" name="Create new clubs"/>
          <p:cNvSpPr/>
          <p:nvPr/>
        </p:nvSpPr>
        <p:spPr>
          <a:xfrm>
            <a:off x="4406311" y="2826045"/>
            <a:ext cx="989747" cy="51901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clubs</a:t>
            </a:r>
            <a:endParaRPr lang="en-US" sz="1000" dirty="0"/>
          </a:p>
        </p:txBody>
      </p:sp>
      <p:sp>
        <p:nvSpPr>
          <p:cNvPr id="8" name="Approve or reject request"/>
          <p:cNvSpPr/>
          <p:nvPr/>
        </p:nvSpPr>
        <p:spPr>
          <a:xfrm>
            <a:off x="4406311" y="3610600"/>
            <a:ext cx="989747" cy="6517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reject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</a:t>
            </a:r>
            <a:endParaRPr lang="en-US" sz="1000" dirty="0"/>
          </a:p>
        </p:txBody>
      </p:sp>
      <p:sp>
        <p:nvSpPr>
          <p:cNvPr id="9" name="Verify password"/>
          <p:cNvSpPr/>
          <p:nvPr/>
        </p:nvSpPr>
        <p:spPr>
          <a:xfrm>
            <a:off x="6277173" y="508589"/>
            <a:ext cx="989747" cy="51901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</a:t>
            </a:r>
            <a:endParaRPr lang="en-US" sz="1000" dirty="0"/>
          </a:p>
        </p:txBody>
      </p:sp>
      <p:sp>
        <p:nvSpPr>
          <p:cNvPr id="10" name="Display login error"/>
          <p:cNvSpPr/>
          <p:nvPr/>
        </p:nvSpPr>
        <p:spPr>
          <a:xfrm>
            <a:off x="6277173" y="1142268"/>
            <a:ext cx="989747" cy="51901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error</a:t>
            </a:r>
            <a:endParaRPr lang="en-US" sz="1000" dirty="0"/>
          </a:p>
        </p:txBody>
      </p:sp>
      <p:sp>
        <p:nvSpPr>
          <p:cNvPr id="11" name="Profile creation"/>
          <p:cNvSpPr/>
          <p:nvPr/>
        </p:nvSpPr>
        <p:spPr>
          <a:xfrm>
            <a:off x="6277173" y="1775948"/>
            <a:ext cx="989747" cy="51901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creation</a:t>
            </a:r>
            <a:endParaRPr lang="en-US" sz="1000" dirty="0"/>
          </a:p>
        </p:txBody>
      </p:sp>
      <p:sp>
        <p:nvSpPr>
          <p:cNvPr id="12" name="Delete events"/>
          <p:cNvSpPr/>
          <p:nvPr/>
        </p:nvSpPr>
        <p:spPr>
          <a:xfrm>
            <a:off x="6277173" y="2439802"/>
            <a:ext cx="989747" cy="51901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</a:t>
            </a:r>
            <a:endParaRPr lang="en-US" sz="1000" dirty="0"/>
          </a:p>
        </p:txBody>
      </p:sp>
      <p:sp>
        <p:nvSpPr>
          <p:cNvPr id="13" name="Add new members"/>
          <p:cNvSpPr/>
          <p:nvPr/>
        </p:nvSpPr>
        <p:spPr>
          <a:xfrm>
            <a:off x="6277173" y="3103656"/>
            <a:ext cx="989747" cy="51901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new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members</a:t>
            </a:r>
            <a:endParaRPr lang="en-US" sz="1000" dirty="0"/>
          </a:p>
        </p:txBody>
      </p:sp>
      <p:sp>
        <p:nvSpPr>
          <p:cNvPr id="14" name="Remove existing members"/>
          <p:cNvSpPr/>
          <p:nvPr/>
        </p:nvSpPr>
        <p:spPr>
          <a:xfrm>
            <a:off x="6277173" y="3731301"/>
            <a:ext cx="989747" cy="6517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members</a:t>
            </a:r>
            <a:endParaRPr lang="en-US" sz="1000" dirty="0"/>
          </a:p>
        </p:txBody>
      </p:sp>
      <p:sp>
        <p:nvSpPr>
          <p:cNvPr id="15" name="Go to a specific club"/>
          <p:cNvSpPr/>
          <p:nvPr/>
        </p:nvSpPr>
        <p:spPr>
          <a:xfrm>
            <a:off x="6277173" y="5469392"/>
            <a:ext cx="989747" cy="6759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to 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club</a:t>
            </a:r>
            <a:endParaRPr lang="en-US" sz="1000" dirty="0"/>
          </a:p>
        </p:txBody>
      </p:sp>
      <p:sp>
        <p:nvSpPr>
          <p:cNvPr id="16" name="List of all the clubs"/>
          <p:cNvSpPr/>
          <p:nvPr/>
        </p:nvSpPr>
        <p:spPr>
          <a:xfrm>
            <a:off x="4176979" y="5022799"/>
            <a:ext cx="1327709" cy="156911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7" name="Extension points divider"/>
          <p:cNvSpPr/>
          <p:nvPr/>
        </p:nvSpPr>
        <p:spPr>
          <a:xfrm>
            <a:off x="4181413" y="5716829"/>
            <a:ext cx="1318841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18" name="List of all the clubs - name"/>
          <p:cNvSpPr txBox="1"/>
          <p:nvPr/>
        </p:nvSpPr>
        <p:spPr>
          <a:xfrm>
            <a:off x="4237330" y="5372832"/>
            <a:ext cx="1207008" cy="205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of all the clubs</a:t>
            </a:r>
            <a:endParaRPr lang="en-US" sz="1000" dirty="0"/>
          </a:p>
        </p:txBody>
      </p:sp>
      <p:sp>
        <p:nvSpPr>
          <p:cNvPr id="19" name="List of all the clubs - extension points"/>
          <p:cNvSpPr txBox="1"/>
          <p:nvPr/>
        </p:nvSpPr>
        <p:spPr>
          <a:xfrm>
            <a:off x="4297680" y="5740969"/>
            <a:ext cx="1086307" cy="651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Extension Points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a club by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off of area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interest</a:t>
            </a:r>
            <a:endParaRPr lang="en-US" sz="850" dirty="0"/>
          </a:p>
        </p:txBody>
      </p:sp>
      <p:sp>
        <p:nvSpPr>
          <p:cNvPr id="20" name="Student - head"/>
          <p:cNvSpPr/>
          <p:nvPr/>
        </p:nvSpPr>
        <p:spPr>
          <a:xfrm>
            <a:off x="3601598" y="1975104"/>
            <a:ext cx="185155" cy="185155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1" name="Student - body"/>
          <p:cNvSpPr/>
          <p:nvPr/>
        </p:nvSpPr>
        <p:spPr>
          <a:xfrm>
            <a:off x="3498339" y="2160259"/>
            <a:ext cx="391674" cy="526980"/>
          </a:xfrm>
          <a:custGeom>
            <a:avLst/>
            <a:gdLst/>
            <a:ahLst/>
            <a:cxnLst/>
            <a:rect l="l" t="t" r="r" b="b"/>
            <a:pathLst>
              <a:path w="391674" h="526980">
                <a:moveTo>
                  <a:pt x="195837" y="0"/>
                </a:moveTo>
                <a:lnTo>
                  <a:pt x="195837" y="256368"/>
                </a:lnTo>
                <a:moveTo>
                  <a:pt x="0" y="85456"/>
                </a:moveTo>
                <a:lnTo>
                  <a:pt x="391674" y="85456"/>
                </a:lnTo>
                <a:moveTo>
                  <a:pt x="0" y="526980"/>
                </a:moveTo>
                <a:lnTo>
                  <a:pt x="195837" y="256368"/>
                </a:lnTo>
                <a:lnTo>
                  <a:pt x="391674" y="526980"/>
                </a:lnTo>
              </a:path>
            </a:pathLst>
          </a:custGeom>
          <a:noFill/>
          <a:ln w="15875">
            <a:solidFill>
              <a:srgbClr val="1A1A1A"/>
            </a:solidFill>
            <a:prstDash val="solid"/>
          </a:ln>
        </p:spPr>
      </p:sp>
      <p:sp>
        <p:nvSpPr>
          <p:cNvPr id="22" name="Student - label"/>
          <p:cNvSpPr txBox="1"/>
          <p:nvPr/>
        </p:nvSpPr>
        <p:spPr>
          <a:xfrm>
            <a:off x="2871216" y="2711379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</a:t>
            </a:r>
            <a:endParaRPr lang="en-US" sz="900" dirty="0"/>
          </a:p>
        </p:txBody>
      </p:sp>
      <p:sp>
        <p:nvSpPr>
          <p:cNvPr id="23" name="Administrator - head"/>
          <p:cNvSpPr/>
          <p:nvPr/>
        </p:nvSpPr>
        <p:spPr>
          <a:xfrm>
            <a:off x="3631774" y="3791651"/>
            <a:ext cx="185155" cy="185155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4" name="Administrator - body"/>
          <p:cNvSpPr/>
          <p:nvPr/>
        </p:nvSpPr>
        <p:spPr>
          <a:xfrm>
            <a:off x="3528514" y="3976806"/>
            <a:ext cx="391674" cy="526980"/>
          </a:xfrm>
          <a:custGeom>
            <a:avLst/>
            <a:gdLst/>
            <a:ahLst/>
            <a:cxnLst/>
            <a:rect l="l" t="t" r="r" b="b"/>
            <a:pathLst>
              <a:path w="391674" h="526980">
                <a:moveTo>
                  <a:pt x="195837" y="0"/>
                </a:moveTo>
                <a:lnTo>
                  <a:pt x="195837" y="256368"/>
                </a:lnTo>
                <a:moveTo>
                  <a:pt x="0" y="85456"/>
                </a:moveTo>
                <a:lnTo>
                  <a:pt x="391674" y="85456"/>
                </a:lnTo>
                <a:moveTo>
                  <a:pt x="0" y="526980"/>
                </a:moveTo>
                <a:lnTo>
                  <a:pt x="195837" y="256368"/>
                </a:lnTo>
                <a:lnTo>
                  <a:pt x="391674" y="526980"/>
                </a:lnTo>
              </a:path>
            </a:pathLst>
          </a:custGeom>
          <a:noFill/>
          <a:ln w="15875">
            <a:solidFill>
              <a:srgbClr val="1A1A1A"/>
            </a:solidFill>
            <a:prstDash val="solid"/>
          </a:ln>
        </p:spPr>
      </p:sp>
      <p:sp>
        <p:nvSpPr>
          <p:cNvPr id="25" name="Administrator - label"/>
          <p:cNvSpPr txBox="1"/>
          <p:nvPr/>
        </p:nvSpPr>
        <p:spPr>
          <a:xfrm>
            <a:off x="2901391" y="452792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Administrator</a:t>
            </a:r>
            <a:endParaRPr lang="en-US" sz="900" dirty="0"/>
          </a:p>
        </p:txBody>
      </p:sp>
      <p:sp>
        <p:nvSpPr>
          <p:cNvPr id="26" name="University authentication system - head"/>
          <p:cNvSpPr/>
          <p:nvPr/>
        </p:nvSpPr>
        <p:spPr>
          <a:xfrm>
            <a:off x="8127878" y="1371600"/>
            <a:ext cx="185155" cy="185155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7" name="University authentication system - body"/>
          <p:cNvSpPr/>
          <p:nvPr/>
        </p:nvSpPr>
        <p:spPr>
          <a:xfrm>
            <a:off x="8024619" y="1556755"/>
            <a:ext cx="391674" cy="526980"/>
          </a:xfrm>
          <a:custGeom>
            <a:avLst/>
            <a:gdLst/>
            <a:ahLst/>
            <a:cxnLst/>
            <a:rect l="l" t="t" r="r" b="b"/>
            <a:pathLst>
              <a:path w="391674" h="526980">
                <a:moveTo>
                  <a:pt x="195837" y="0"/>
                </a:moveTo>
                <a:lnTo>
                  <a:pt x="195837" y="256368"/>
                </a:lnTo>
                <a:moveTo>
                  <a:pt x="0" y="85456"/>
                </a:moveTo>
                <a:lnTo>
                  <a:pt x="391674" y="85456"/>
                </a:lnTo>
                <a:moveTo>
                  <a:pt x="0" y="526980"/>
                </a:moveTo>
                <a:lnTo>
                  <a:pt x="195837" y="256368"/>
                </a:lnTo>
                <a:lnTo>
                  <a:pt x="391674" y="526980"/>
                </a:lnTo>
              </a:path>
            </a:pathLst>
          </a:custGeom>
          <a:noFill/>
          <a:ln w="15875">
            <a:solidFill>
              <a:srgbClr val="1A1A1A"/>
            </a:solidFill>
            <a:prstDash val="solid"/>
          </a:ln>
        </p:spPr>
      </p:sp>
      <p:sp>
        <p:nvSpPr>
          <p:cNvPr id="28" name="University authentication system - label"/>
          <p:cNvSpPr txBox="1"/>
          <p:nvPr/>
        </p:nvSpPr>
        <p:spPr>
          <a:xfrm>
            <a:off x="7397496" y="2107875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authentication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900" dirty="0"/>
          </a:p>
        </p:txBody>
      </p:sp>
      <p:sp>
        <p:nvSpPr>
          <p:cNvPr id="29" name="Student to login"/>
          <p:cNvSpPr/>
          <p:nvPr/>
        </p:nvSpPr>
        <p:spPr>
          <a:xfrm flipV="1">
            <a:off x="3694176" y="1359773"/>
            <a:ext cx="976279" cy="971398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30" name="Student to register"/>
          <p:cNvSpPr/>
          <p:nvPr/>
        </p:nvSpPr>
        <p:spPr>
          <a:xfrm flipV="1">
            <a:off x="3694176" y="1952054"/>
            <a:ext cx="833224" cy="379117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31" name="Student to events"/>
          <p:cNvSpPr/>
          <p:nvPr/>
        </p:nvSpPr>
        <p:spPr>
          <a:xfrm>
            <a:off x="3694176" y="2331171"/>
            <a:ext cx="718511" cy="61073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32" name="Student to clubs"/>
          <p:cNvSpPr/>
          <p:nvPr/>
        </p:nvSpPr>
        <p:spPr>
          <a:xfrm>
            <a:off x="3694176" y="2331171"/>
            <a:ext cx="888926" cy="555579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33" name="Administrator to approve"/>
          <p:cNvSpPr/>
          <p:nvPr/>
        </p:nvSpPr>
        <p:spPr>
          <a:xfrm flipV="1">
            <a:off x="3724351" y="4022189"/>
            <a:ext cx="699376" cy="125529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34" name="Verify password to University auth"/>
          <p:cNvSpPr/>
          <p:nvPr/>
        </p:nvSpPr>
        <p:spPr>
          <a:xfrm>
            <a:off x="7079184" y="971574"/>
            <a:ext cx="1141272" cy="756093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35" name="login &lt;&lt;include&gt;&gt; verify"/>
          <p:cNvSpPr/>
          <p:nvPr/>
        </p:nvSpPr>
        <p:spPr>
          <a:xfrm flipV="1">
            <a:off x="5365444" y="857953"/>
            <a:ext cx="942343" cy="182389"/>
          </a:xfrm>
          <a:prstGeom prst="line">
            <a:avLst/>
          </a:prstGeom>
          <a:noFill/>
          <a:ln w="12700">
            <a:solidFill>
              <a:srgbClr val="1A1A1A"/>
            </a:solidFill>
            <a:prstDash val="dash"/>
            <a:tailEnd type="arrow"/>
          </a:ln>
        </p:spPr>
      </p:sp>
      <p:sp>
        <p:nvSpPr>
          <p:cNvPr id="36" name="&amp;lt;&amp;lt;include&amp;gt;&amp;gt; label"/>
          <p:cNvSpPr txBox="1"/>
          <p:nvPr/>
        </p:nvSpPr>
        <p:spPr>
          <a:xfrm>
            <a:off x="5507431" y="871423"/>
            <a:ext cx="658368" cy="155448"/>
          </a:xfrm>
          <a:prstGeom prst="rect">
            <a:avLst/>
          </a:prstGeom>
          <a:solidFill>
            <a:srgbClr val="FFFFFF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&lt;&lt;include&gt;&gt;</a:t>
            </a:r>
            <a:endParaRPr lang="en-US" sz="800" dirty="0"/>
          </a:p>
        </p:txBody>
      </p:sp>
      <p:sp>
        <p:nvSpPr>
          <p:cNvPr id="37" name="loginErr &lt;&lt;extend&gt;&gt; login"/>
          <p:cNvSpPr/>
          <p:nvPr/>
        </p:nvSpPr>
        <p:spPr>
          <a:xfrm flipH="1" flipV="1">
            <a:off x="5378121" y="1199431"/>
            <a:ext cx="916988" cy="133111"/>
          </a:xfrm>
          <a:prstGeom prst="line">
            <a:avLst/>
          </a:prstGeom>
          <a:noFill/>
          <a:ln w="12700">
            <a:solidFill>
              <a:srgbClr val="1A1A1A"/>
            </a:solidFill>
            <a:prstDash val="dash"/>
            <a:tailEnd type="arrow"/>
          </a:ln>
        </p:spPr>
      </p:sp>
      <p:sp>
        <p:nvSpPr>
          <p:cNvPr id="38" name="&amp;lt;&amp;lt;extend&amp;gt;&amp;gt; label"/>
          <p:cNvSpPr txBox="1"/>
          <p:nvPr/>
        </p:nvSpPr>
        <p:spPr>
          <a:xfrm>
            <a:off x="5525719" y="1188263"/>
            <a:ext cx="621792" cy="155448"/>
          </a:xfrm>
          <a:prstGeom prst="rect">
            <a:avLst/>
          </a:prstGeom>
          <a:solidFill>
            <a:srgbClr val="FFFFFF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&lt;&lt;extend&gt;&gt;</a:t>
            </a:r>
            <a:endParaRPr lang="en-US" sz="800" dirty="0"/>
          </a:p>
        </p:txBody>
      </p:sp>
      <p:sp>
        <p:nvSpPr>
          <p:cNvPr id="39" name="profile &lt;&lt;extend&gt;&gt; login"/>
          <p:cNvSpPr/>
          <p:nvPr/>
        </p:nvSpPr>
        <p:spPr>
          <a:xfrm flipH="1" flipV="1">
            <a:off x="5264881" y="1306181"/>
            <a:ext cx="1143468" cy="553291"/>
          </a:xfrm>
          <a:prstGeom prst="line">
            <a:avLst/>
          </a:prstGeom>
          <a:noFill/>
          <a:ln w="12700">
            <a:solidFill>
              <a:srgbClr val="1A1A1A"/>
            </a:solidFill>
            <a:prstDash val="dash"/>
            <a:tailEnd type="arrow"/>
          </a:ln>
        </p:spPr>
      </p:sp>
      <p:sp>
        <p:nvSpPr>
          <p:cNvPr id="40" name="&amp;lt;&amp;lt;extend&amp;gt;&amp;gt; label"/>
          <p:cNvSpPr txBox="1"/>
          <p:nvPr/>
        </p:nvSpPr>
        <p:spPr>
          <a:xfrm>
            <a:off x="5525719" y="1505102"/>
            <a:ext cx="621792" cy="155448"/>
          </a:xfrm>
          <a:prstGeom prst="rect">
            <a:avLst/>
          </a:prstGeom>
          <a:solidFill>
            <a:srgbClr val="FFFFFF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&lt;&lt;extend&gt;&gt;</a:t>
            </a:r>
            <a:endParaRPr lang="en-US" sz="800" dirty="0"/>
          </a:p>
        </p:txBody>
      </p:sp>
      <p:sp>
        <p:nvSpPr>
          <p:cNvPr id="41" name="delEvents &lt;&lt;extend&gt;&gt; events"/>
          <p:cNvSpPr/>
          <p:nvPr/>
        </p:nvSpPr>
        <p:spPr>
          <a:xfrm flipH="1" flipV="1">
            <a:off x="5378869" y="2501567"/>
            <a:ext cx="915493" cy="129941"/>
          </a:xfrm>
          <a:prstGeom prst="line">
            <a:avLst/>
          </a:prstGeom>
          <a:noFill/>
          <a:ln w="12700">
            <a:solidFill>
              <a:srgbClr val="1A1A1A"/>
            </a:solidFill>
            <a:prstDash val="dash"/>
            <a:tailEnd type="arrow"/>
          </a:ln>
        </p:spPr>
      </p:sp>
      <p:sp>
        <p:nvSpPr>
          <p:cNvPr id="42" name="&amp;lt;&amp;lt;extend&amp;gt;&amp;gt; label"/>
          <p:cNvSpPr txBox="1"/>
          <p:nvPr/>
        </p:nvSpPr>
        <p:spPr>
          <a:xfrm>
            <a:off x="5525719" y="2488814"/>
            <a:ext cx="621792" cy="155448"/>
          </a:xfrm>
          <a:prstGeom prst="rect">
            <a:avLst/>
          </a:prstGeom>
          <a:solidFill>
            <a:srgbClr val="FFFFFF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&lt;&lt;extend&gt;&gt;</a:t>
            </a:r>
            <a:endParaRPr lang="en-US" sz="800" dirty="0"/>
          </a:p>
        </p:txBody>
      </p:sp>
      <p:sp>
        <p:nvSpPr>
          <p:cNvPr id="43" name="addMembers &lt;&lt;extend&gt;&gt; clubs"/>
          <p:cNvSpPr/>
          <p:nvPr/>
        </p:nvSpPr>
        <p:spPr>
          <a:xfrm flipH="1" flipV="1">
            <a:off x="5377360" y="3156210"/>
            <a:ext cx="918510" cy="136295"/>
          </a:xfrm>
          <a:prstGeom prst="line">
            <a:avLst/>
          </a:prstGeom>
          <a:noFill/>
          <a:ln w="12700">
            <a:solidFill>
              <a:srgbClr val="1A1A1A"/>
            </a:solidFill>
            <a:prstDash val="dash"/>
            <a:tailEnd type="arrow"/>
          </a:ln>
        </p:spPr>
      </p:sp>
      <p:sp>
        <p:nvSpPr>
          <p:cNvPr id="44" name="&amp;lt;&amp;lt;extend&amp;gt;&amp;gt; label"/>
          <p:cNvSpPr txBox="1"/>
          <p:nvPr/>
        </p:nvSpPr>
        <p:spPr>
          <a:xfrm>
            <a:off x="5525719" y="3146633"/>
            <a:ext cx="621792" cy="155448"/>
          </a:xfrm>
          <a:prstGeom prst="rect">
            <a:avLst/>
          </a:prstGeom>
          <a:solidFill>
            <a:srgbClr val="FFFFFF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&lt;&lt;extend&gt;&gt;</a:t>
            </a:r>
            <a:endParaRPr lang="en-US" sz="800" dirty="0"/>
          </a:p>
        </p:txBody>
      </p:sp>
      <p:sp>
        <p:nvSpPr>
          <p:cNvPr id="45" name="rmMembers &lt;&lt;extend&gt;&gt; clubs"/>
          <p:cNvSpPr/>
          <p:nvPr/>
        </p:nvSpPr>
        <p:spPr>
          <a:xfrm flipH="1" flipV="1">
            <a:off x="5252796" y="3268163"/>
            <a:ext cx="1130677" cy="587223"/>
          </a:xfrm>
          <a:prstGeom prst="line">
            <a:avLst/>
          </a:prstGeom>
          <a:noFill/>
          <a:ln w="12700">
            <a:solidFill>
              <a:srgbClr val="1A1A1A"/>
            </a:solidFill>
            <a:prstDash val="dash"/>
            <a:tailEnd type="arrow"/>
          </a:ln>
        </p:spPr>
      </p:sp>
      <p:sp>
        <p:nvSpPr>
          <p:cNvPr id="46" name="&amp;lt;&amp;lt;extend&amp;gt;&amp;gt; label"/>
          <p:cNvSpPr txBox="1"/>
          <p:nvPr/>
        </p:nvSpPr>
        <p:spPr>
          <a:xfrm>
            <a:off x="5507239" y="3484050"/>
            <a:ext cx="621792" cy="155448"/>
          </a:xfrm>
          <a:prstGeom prst="rect">
            <a:avLst/>
          </a:prstGeom>
          <a:solidFill>
            <a:srgbClr val="FFFFFF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&lt;&lt;extend&gt;&gt;</a:t>
            </a:r>
            <a:endParaRPr lang="en-US" sz="800" dirty="0"/>
          </a:p>
        </p:txBody>
      </p:sp>
      <p:sp>
        <p:nvSpPr>
          <p:cNvPr id="47" name="clubs &lt;&lt;include&gt;&gt; approve"/>
          <p:cNvSpPr/>
          <p:nvPr/>
        </p:nvSpPr>
        <p:spPr>
          <a:xfrm>
            <a:off x="4901184" y="3345058"/>
            <a:ext cx="0" cy="265542"/>
          </a:xfrm>
          <a:prstGeom prst="line">
            <a:avLst/>
          </a:prstGeom>
          <a:noFill/>
          <a:ln w="12700">
            <a:solidFill>
              <a:srgbClr val="1A1A1A"/>
            </a:solidFill>
            <a:prstDash val="dash"/>
            <a:tailEnd type="arrow"/>
          </a:ln>
        </p:spPr>
      </p:sp>
      <p:sp>
        <p:nvSpPr>
          <p:cNvPr id="48" name="&amp;lt;&amp;lt;include&amp;gt;&amp;gt; label"/>
          <p:cNvSpPr txBox="1"/>
          <p:nvPr/>
        </p:nvSpPr>
        <p:spPr>
          <a:xfrm>
            <a:off x="4194536" y="3400105"/>
            <a:ext cx="658368" cy="155448"/>
          </a:xfrm>
          <a:prstGeom prst="rect">
            <a:avLst/>
          </a:prstGeom>
          <a:solidFill>
            <a:srgbClr val="FFFFFF"/>
          </a:solidFill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&lt;&lt;include&gt;&gt;</a:t>
            </a:r>
            <a:endParaRPr lang="en-US" sz="800" dirty="0"/>
          </a:p>
        </p:txBody>
      </p:sp>
      <p:sp>
        <p:nvSpPr>
          <p:cNvPr id="49" name="goClub &lt;&lt;extend&gt;&gt; list"/>
          <p:cNvSpPr/>
          <p:nvPr/>
        </p:nvSpPr>
        <p:spPr>
          <a:xfrm flipH="1">
            <a:off x="5504688" y="5807354"/>
            <a:ext cx="772485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dash"/>
            <a:tailEnd type="arrow"/>
          </a:ln>
        </p:spPr>
      </p:sp>
      <p:sp>
        <p:nvSpPr>
          <p:cNvPr id="50" name="&amp;lt;&amp;lt;extend&amp;gt;&amp;gt; label"/>
          <p:cNvSpPr txBox="1"/>
          <p:nvPr/>
        </p:nvSpPr>
        <p:spPr>
          <a:xfrm>
            <a:off x="5580035" y="5826191"/>
            <a:ext cx="621792" cy="155448"/>
          </a:xfrm>
          <a:prstGeom prst="rect">
            <a:avLst/>
          </a:prstGeom>
          <a:solidFill>
            <a:srgbClr val="FFFFFF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&lt;&lt;extend&gt;&gt;</a:t>
            </a:r>
            <a:endParaRPr lang="en-US" sz="800" dirty="0"/>
          </a:p>
        </p:txBody>
      </p:sp>
      <p:sp>
        <p:nvSpPr>
          <p:cNvPr id="51" name="Note anchor"/>
          <p:cNvSpPr/>
          <p:nvPr/>
        </p:nvSpPr>
        <p:spPr>
          <a:xfrm>
            <a:off x="5890931" y="5173675"/>
            <a:ext cx="0" cy="633679"/>
          </a:xfrm>
          <a:prstGeom prst="line">
            <a:avLst/>
          </a:prstGeom>
          <a:noFill/>
          <a:ln w="12700">
            <a:solidFill>
              <a:srgbClr val="1A1A1A"/>
            </a:solidFill>
            <a:prstDash val="dash"/>
          </a:ln>
        </p:spPr>
      </p:sp>
      <p:sp>
        <p:nvSpPr>
          <p:cNvPr id="52" name="Note"/>
          <p:cNvSpPr/>
          <p:nvPr/>
        </p:nvSpPr>
        <p:spPr>
          <a:xfrm>
            <a:off x="5438303" y="4485681"/>
            <a:ext cx="905256" cy="687995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 wrap="none" lIns="63500" tIns="63500" rIns="50800" bIns="5080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user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clicks show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clubs, display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the clubs</a:t>
            </a:r>
            <a:endParaRPr lang="en-US" sz="900" dirty="0"/>
          </a:p>
        </p:txBody>
      </p:sp>
      <p:sp>
        <p:nvSpPr>
          <p:cNvPr id="53" name="Note outline"/>
          <p:cNvSpPr/>
          <p:nvPr/>
        </p:nvSpPr>
        <p:spPr>
          <a:xfrm>
            <a:off x="5438303" y="4485681"/>
            <a:ext cx="905256" cy="687995"/>
          </a:xfrm>
          <a:custGeom>
            <a:avLst/>
            <a:gdLst/>
            <a:ahLst/>
            <a:cxnLst/>
            <a:rect l="l" t="t" r="r" b="b"/>
            <a:pathLst>
              <a:path w="905256" h="687995">
                <a:moveTo>
                  <a:pt x="808695" y="0"/>
                </a:moveTo>
                <a:lnTo>
                  <a:pt x="0" y="0"/>
                </a:lnTo>
                <a:lnTo>
                  <a:pt x="0" y="687995"/>
                </a:lnTo>
                <a:lnTo>
                  <a:pt x="905256" y="687995"/>
                </a:lnTo>
                <a:lnTo>
                  <a:pt x="905256" y="96561"/>
                </a:lnTo>
                <a:lnTo>
                  <a:pt x="808695" y="0"/>
                </a:lnTo>
                <a:moveTo>
                  <a:pt x="808695" y="0"/>
                </a:moveTo>
                <a:lnTo>
                  <a:pt x="808695" y="96561"/>
                </a:lnTo>
                <a:lnTo>
                  <a:pt x="905256" y="96561"/>
                </a:lnTo>
              </a:path>
            </a:pathLst>
          </a:custGeom>
          <a:noFill/>
          <a:ln w="12700">
            <a:solidFill>
              <a:srgbClr val="1A1A1A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 (delete if not wanted)"/>
          <p:cNvSpPr/>
          <p:nvPr/>
        </p:nvSpPr>
        <p:spPr>
          <a:xfrm>
            <a:off x="327355" y="757123"/>
            <a:ext cx="11570818" cy="5277917"/>
          </a:xfrm>
          <a:prstGeom prst="rect">
            <a:avLst/>
          </a:prstGeom>
          <a:solidFill>
            <a:srgbClr val="ECE9E7"/>
          </a:solidFill>
          <a:ln/>
        </p:spPr>
      </p:sp>
      <p:sp>
        <p:nvSpPr>
          <p:cNvPr id="3" name="Student to ClubHubUI"/>
          <p:cNvSpPr/>
          <p:nvPr/>
        </p:nvSpPr>
        <p:spPr>
          <a:xfrm>
            <a:off x="1071677" y="1853306"/>
            <a:ext cx="1793138" cy="0"/>
          </a:xfrm>
          <a:prstGeom prst="line">
            <a:avLst/>
          </a:prstGeom>
          <a:noFill/>
          <a:ln w="22225">
            <a:solidFill>
              <a:srgbClr val="303E4E"/>
            </a:solidFill>
            <a:prstDash val="solid"/>
          </a:ln>
        </p:spPr>
      </p:sp>
      <p:sp>
        <p:nvSpPr>
          <p:cNvPr id="4" name="ClubHubUI to StudentController"/>
          <p:cNvSpPr/>
          <p:nvPr/>
        </p:nvSpPr>
        <p:spPr>
          <a:xfrm>
            <a:off x="4454957" y="1853306"/>
            <a:ext cx="2314164" cy="0"/>
          </a:xfrm>
          <a:prstGeom prst="line">
            <a:avLst/>
          </a:prstGeom>
          <a:noFill/>
          <a:ln w="22225">
            <a:solidFill>
              <a:srgbClr val="303E4E"/>
            </a:solidFill>
            <a:prstDash val="solid"/>
          </a:ln>
        </p:spPr>
      </p:sp>
      <p:sp>
        <p:nvSpPr>
          <p:cNvPr id="5" name="StudentController to StudentForm"/>
          <p:cNvSpPr/>
          <p:nvPr/>
        </p:nvSpPr>
        <p:spPr>
          <a:xfrm>
            <a:off x="2560320" y="2198400"/>
            <a:ext cx="4702759" cy="1820205"/>
          </a:xfrm>
          <a:custGeom>
            <a:avLst/>
            <a:gdLst/>
            <a:ahLst/>
            <a:cxnLst/>
            <a:rect l="l" t="t" r="r" b="b"/>
            <a:pathLst>
              <a:path w="4702759" h="1820205">
                <a:moveTo>
                  <a:pt x="4702759" y="0"/>
                </a:moveTo>
                <a:lnTo>
                  <a:pt x="4702759" y="859353"/>
                </a:lnTo>
                <a:lnTo>
                  <a:pt x="0" y="859353"/>
                </a:lnTo>
                <a:lnTo>
                  <a:pt x="0" y="1820205"/>
                </a:lnTo>
              </a:path>
            </a:pathLst>
          </a:custGeom>
          <a:noFill/>
          <a:ln w="22225">
            <a:solidFill>
              <a:srgbClr val="303E4E"/>
            </a:solidFill>
            <a:prstDash val="solid"/>
          </a:ln>
        </p:spPr>
      </p:sp>
      <p:sp>
        <p:nvSpPr>
          <p:cNvPr id="6" name="StudentController to Student"/>
          <p:cNvSpPr/>
          <p:nvPr/>
        </p:nvSpPr>
        <p:spPr>
          <a:xfrm>
            <a:off x="5659404" y="2198400"/>
            <a:ext cx="2246498" cy="1617208"/>
          </a:xfrm>
          <a:custGeom>
            <a:avLst/>
            <a:gdLst/>
            <a:ahLst/>
            <a:cxnLst/>
            <a:rect l="l" t="t" r="r" b="b"/>
            <a:pathLst>
              <a:path w="2246498" h="1617208">
                <a:moveTo>
                  <a:pt x="2246498" y="0"/>
                </a:moveTo>
                <a:lnTo>
                  <a:pt x="2246498" y="1211214"/>
                </a:lnTo>
                <a:lnTo>
                  <a:pt x="0" y="1211214"/>
                </a:lnTo>
                <a:lnTo>
                  <a:pt x="0" y="1617208"/>
                </a:lnTo>
              </a:path>
            </a:pathLst>
          </a:custGeom>
          <a:noFill/>
          <a:ln w="22225">
            <a:solidFill>
              <a:srgbClr val="303E4E"/>
            </a:solidFill>
            <a:prstDash val="solid"/>
          </a:ln>
        </p:spPr>
      </p:sp>
      <p:sp>
        <p:nvSpPr>
          <p:cNvPr id="7" name="StudentController to StudentRepository"/>
          <p:cNvSpPr/>
          <p:nvPr/>
        </p:nvSpPr>
        <p:spPr>
          <a:xfrm>
            <a:off x="8569025" y="2198400"/>
            <a:ext cx="1847271" cy="1319479"/>
          </a:xfrm>
          <a:custGeom>
            <a:avLst/>
            <a:gdLst/>
            <a:ahLst/>
            <a:cxnLst/>
            <a:rect l="l" t="t" r="r" b="b"/>
            <a:pathLst>
              <a:path w="1847271" h="1319479">
                <a:moveTo>
                  <a:pt x="0" y="0"/>
                </a:moveTo>
                <a:lnTo>
                  <a:pt x="0" y="250363"/>
                </a:lnTo>
                <a:lnTo>
                  <a:pt x="1847271" y="250363"/>
                </a:lnTo>
                <a:lnTo>
                  <a:pt x="1847271" y="1319479"/>
                </a:lnTo>
              </a:path>
            </a:pathLst>
          </a:custGeom>
          <a:noFill/>
          <a:ln w="22225">
            <a:solidFill>
              <a:srgbClr val="303E4E"/>
            </a:solidFill>
            <a:prstDash val="solid"/>
          </a:ln>
        </p:spPr>
      </p:sp>
      <p:sp>
        <p:nvSpPr>
          <p:cNvPr id="8" name="StudentRepository to PostgreSQL"/>
          <p:cNvSpPr/>
          <p:nvPr/>
        </p:nvSpPr>
        <p:spPr>
          <a:xfrm>
            <a:off x="9868205" y="4194536"/>
            <a:ext cx="548091" cy="771388"/>
          </a:xfrm>
          <a:custGeom>
            <a:avLst/>
            <a:gdLst/>
            <a:ahLst/>
            <a:cxnLst/>
            <a:rect l="l" t="t" r="r" b="b"/>
            <a:pathLst>
              <a:path w="548091" h="771388">
                <a:moveTo>
                  <a:pt x="548091" y="0"/>
                </a:moveTo>
                <a:lnTo>
                  <a:pt x="548091" y="419527"/>
                </a:lnTo>
                <a:lnTo>
                  <a:pt x="0" y="419527"/>
                </a:lnTo>
                <a:lnTo>
                  <a:pt x="0" y="771388"/>
                </a:lnTo>
              </a:path>
            </a:pathLst>
          </a:custGeom>
          <a:noFill/>
          <a:ln w="22225">
            <a:solidFill>
              <a:srgbClr val="303E4E"/>
            </a:solidFill>
            <a:prstDash val="solid"/>
          </a:ln>
        </p:spPr>
      </p:sp>
      <p:sp>
        <p:nvSpPr>
          <p:cNvPr id="9" name="Student - head"/>
          <p:cNvSpPr/>
          <p:nvPr/>
        </p:nvSpPr>
        <p:spPr>
          <a:xfrm>
            <a:off x="706283" y="1244316"/>
            <a:ext cx="297729" cy="297729"/>
          </a:xfrm>
          <a:prstGeom prst="ellipse">
            <a:avLst/>
          </a:prstGeom>
          <a:noFill/>
          <a:ln w="22225">
            <a:solidFill>
              <a:srgbClr val="303E4E"/>
            </a:solidFill>
            <a:prstDash val="solid"/>
          </a:ln>
        </p:spPr>
      </p:sp>
      <p:sp>
        <p:nvSpPr>
          <p:cNvPr id="10" name="Student - body"/>
          <p:cNvSpPr/>
          <p:nvPr/>
        </p:nvSpPr>
        <p:spPr>
          <a:xfrm>
            <a:off x="631850" y="1542044"/>
            <a:ext cx="439826" cy="859353"/>
          </a:xfrm>
          <a:custGeom>
            <a:avLst/>
            <a:gdLst/>
            <a:ahLst/>
            <a:cxnLst/>
            <a:rect l="l" t="t" r="r" b="b"/>
            <a:pathLst>
              <a:path w="439826" h="859353">
                <a:moveTo>
                  <a:pt x="223296" y="0"/>
                </a:moveTo>
                <a:lnTo>
                  <a:pt x="223296" y="514259"/>
                </a:lnTo>
                <a:moveTo>
                  <a:pt x="0" y="311262"/>
                </a:moveTo>
                <a:lnTo>
                  <a:pt x="439826" y="311262"/>
                </a:lnTo>
                <a:moveTo>
                  <a:pt x="20300" y="859353"/>
                </a:moveTo>
                <a:lnTo>
                  <a:pt x="223296" y="514259"/>
                </a:lnTo>
                <a:lnTo>
                  <a:pt x="426293" y="859353"/>
                </a:lnTo>
              </a:path>
            </a:pathLst>
          </a:custGeom>
          <a:noFill/>
          <a:ln w="22225">
            <a:solidFill>
              <a:srgbClr val="303E4E"/>
            </a:solidFill>
            <a:prstDash val="solid"/>
          </a:ln>
        </p:spPr>
      </p:sp>
      <p:sp>
        <p:nvSpPr>
          <p:cNvPr id="11" name="Student - label"/>
          <p:cNvSpPr txBox="1"/>
          <p:nvPr/>
        </p:nvSpPr>
        <p:spPr>
          <a:xfrm>
            <a:off x="306507" y="252996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4550"/>
                </a:solidFill>
                <a:latin typeface="Goudy Old Style" pitchFamily="34" charset="0"/>
                <a:ea typeface="Goudy Old Style" pitchFamily="34" charset="-122"/>
                <a:cs typeface="Goudy Old Style" pitchFamily="34" charset="-120"/>
              </a:rPr>
              <a:t>Student</a:t>
            </a:r>
            <a:endParaRPr lang="en-US" sz="1200" dirty="0"/>
          </a:p>
        </p:txBody>
      </p:sp>
      <p:sp>
        <p:nvSpPr>
          <p:cNvPr id="12" name="ClubHubUI"/>
          <p:cNvSpPr/>
          <p:nvPr/>
        </p:nvSpPr>
        <p:spPr>
          <a:xfrm>
            <a:off x="2864815" y="1514978"/>
            <a:ext cx="1590142" cy="683423"/>
          </a:xfrm>
          <a:prstGeom prst="roundRect">
            <a:avLst>
              <a:gd name="adj" fmla="val 13380"/>
            </a:avLst>
          </a:prstGeom>
          <a:solidFill>
            <a:srgbClr val="A0A59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oudy Old Style" pitchFamily="34" charset="0"/>
                <a:ea typeface="Goudy Old Style" pitchFamily="34" charset="-122"/>
                <a:cs typeface="Goudy Old Style" pitchFamily="34" charset="-120"/>
              </a:rPr>
              <a:t>ClubHubUI</a:t>
            </a:r>
            <a:endParaRPr lang="en-US" sz="1400" dirty="0"/>
          </a:p>
        </p:txBody>
      </p:sp>
      <p:sp>
        <p:nvSpPr>
          <p:cNvPr id="13" name=":StudentController"/>
          <p:cNvSpPr/>
          <p:nvPr/>
        </p:nvSpPr>
        <p:spPr>
          <a:xfrm>
            <a:off x="6769120" y="1514978"/>
            <a:ext cx="2293864" cy="683423"/>
          </a:xfrm>
          <a:prstGeom prst="roundRect">
            <a:avLst>
              <a:gd name="adj" fmla="val 13380"/>
            </a:avLst>
          </a:prstGeom>
          <a:solidFill>
            <a:srgbClr val="A0A59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rgbClr val="FFFFFF"/>
                </a:solidFill>
                <a:latin typeface="Goudy Old Style" pitchFamily="34" charset="0"/>
                <a:ea typeface="Goudy Old Style" pitchFamily="34" charset="-122"/>
                <a:cs typeface="Goudy Old Style" pitchFamily="34" charset="-120"/>
              </a:rPr>
              <a:t>:StudentController</a:t>
            </a:r>
            <a:endParaRPr lang="en-US" sz="1400" dirty="0"/>
          </a:p>
        </p:txBody>
      </p:sp>
      <p:sp>
        <p:nvSpPr>
          <p:cNvPr id="14" name=":StudentForm"/>
          <p:cNvSpPr/>
          <p:nvPr/>
        </p:nvSpPr>
        <p:spPr>
          <a:xfrm>
            <a:off x="1761866" y="4018605"/>
            <a:ext cx="1590142" cy="676656"/>
          </a:xfrm>
          <a:prstGeom prst="roundRect">
            <a:avLst>
              <a:gd name="adj" fmla="val 13514"/>
            </a:avLst>
          </a:prstGeom>
          <a:solidFill>
            <a:srgbClr val="A0A59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rgbClr val="FFFFFF"/>
                </a:solidFill>
                <a:latin typeface="Goudy Old Style" pitchFamily="34" charset="0"/>
                <a:ea typeface="Goudy Old Style" pitchFamily="34" charset="-122"/>
                <a:cs typeface="Goudy Old Style" pitchFamily="34" charset="-120"/>
              </a:rPr>
              <a:t>:StudentForm</a:t>
            </a:r>
            <a:endParaRPr lang="en-US" sz="1400" dirty="0"/>
          </a:p>
        </p:txBody>
      </p:sp>
      <p:sp>
        <p:nvSpPr>
          <p:cNvPr id="15" name=":Student"/>
          <p:cNvSpPr/>
          <p:nvPr/>
        </p:nvSpPr>
        <p:spPr>
          <a:xfrm>
            <a:off x="4860950" y="3815608"/>
            <a:ext cx="1596908" cy="690189"/>
          </a:xfrm>
          <a:prstGeom prst="roundRect">
            <a:avLst>
              <a:gd name="adj" fmla="val 13249"/>
            </a:avLst>
          </a:prstGeom>
          <a:solidFill>
            <a:srgbClr val="A0A59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rgbClr val="FFFFFF"/>
                </a:solidFill>
                <a:latin typeface="Goudy Old Style" pitchFamily="34" charset="0"/>
                <a:ea typeface="Goudy Old Style" pitchFamily="34" charset="-122"/>
                <a:cs typeface="Goudy Old Style" pitchFamily="34" charset="-120"/>
              </a:rPr>
              <a:t>:Student</a:t>
            </a:r>
            <a:endParaRPr lang="en-US" sz="1400" dirty="0"/>
          </a:p>
        </p:txBody>
      </p:sp>
      <p:sp>
        <p:nvSpPr>
          <p:cNvPr id="16" name=":StudentRepository"/>
          <p:cNvSpPr/>
          <p:nvPr/>
        </p:nvSpPr>
        <p:spPr>
          <a:xfrm>
            <a:off x="9272748" y="3517880"/>
            <a:ext cx="2287097" cy="676656"/>
          </a:xfrm>
          <a:prstGeom prst="roundRect">
            <a:avLst>
              <a:gd name="adj" fmla="val 13514"/>
            </a:avLst>
          </a:prstGeom>
          <a:solidFill>
            <a:srgbClr val="A0A59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rgbClr val="FFFFFF"/>
                </a:solidFill>
                <a:latin typeface="Goudy Old Style" pitchFamily="34" charset="0"/>
                <a:ea typeface="Goudy Old Style" pitchFamily="34" charset="-122"/>
                <a:cs typeface="Goudy Old Style" pitchFamily="34" charset="-120"/>
              </a:rPr>
              <a:t>:StudentRepository</a:t>
            </a:r>
            <a:endParaRPr lang="en-US" sz="1400" dirty="0"/>
          </a:p>
        </p:txBody>
      </p:sp>
      <p:sp>
        <p:nvSpPr>
          <p:cNvPr id="17" name=": PostgreSQL"/>
          <p:cNvSpPr/>
          <p:nvPr/>
        </p:nvSpPr>
        <p:spPr>
          <a:xfrm>
            <a:off x="8169798" y="4965924"/>
            <a:ext cx="3390047" cy="784921"/>
          </a:xfrm>
          <a:prstGeom prst="roundRect">
            <a:avLst>
              <a:gd name="adj" fmla="val 11650"/>
            </a:avLst>
          </a:prstGeom>
          <a:solidFill>
            <a:srgbClr val="A0A59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rgbClr val="FFFFFF"/>
                </a:solidFill>
                <a:latin typeface="Goudy Old Style" pitchFamily="34" charset="0"/>
                <a:ea typeface="Goudy Old Style" pitchFamily="34" charset="-122"/>
                <a:cs typeface="Goudy Old Style" pitchFamily="34" charset="-120"/>
              </a:rPr>
              <a:t>: PostgreSQL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Goudy Old Style" pitchFamily="34" charset="0"/>
                <a:ea typeface="Goudy Old Style" pitchFamily="34" charset="-122"/>
                <a:cs typeface="Goudy Old Style" pitchFamily="34" charset="-120"/>
              </a:rPr>
              <a:t>via Spring Data JPA</a:t>
            </a:r>
            <a:endParaRPr lang="en-US" sz="1400" dirty="0"/>
          </a:p>
        </p:txBody>
      </p:sp>
      <p:sp>
        <p:nvSpPr>
          <p:cNvPr id="18" name="Message POST studentForm →"/>
          <p:cNvSpPr txBox="1"/>
          <p:nvPr/>
        </p:nvSpPr>
        <p:spPr>
          <a:xfrm>
            <a:off x="776143" y="1324051"/>
            <a:ext cx="237744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4550"/>
                </a:solidFill>
                <a:latin typeface="Goudy Old Style" pitchFamily="34" charset="0"/>
                <a:ea typeface="Goudy Old Style" pitchFamily="34" charset="-122"/>
                <a:cs typeface="Goudy Old Style" pitchFamily="34" charset="-120"/>
              </a:rPr>
              <a:t>POST studentForm →</a:t>
            </a:r>
            <a:endParaRPr lang="en-US" sz="1200" dirty="0"/>
          </a:p>
        </p:txBody>
      </p:sp>
      <p:sp>
        <p:nvSpPr>
          <p:cNvPr id="19" name="Message 1: CreateProfile() →"/>
          <p:cNvSpPr txBox="1"/>
          <p:nvPr/>
        </p:nvSpPr>
        <p:spPr>
          <a:xfrm>
            <a:off x="776143" y="1574414"/>
            <a:ext cx="237744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4550"/>
                </a:solidFill>
                <a:latin typeface="Goudy Old Style" pitchFamily="34" charset="0"/>
                <a:ea typeface="Goudy Old Style" pitchFamily="34" charset="-122"/>
                <a:cs typeface="Goudy Old Style" pitchFamily="34" charset="-120"/>
              </a:rPr>
              <a:t>1: CreateProfile() →</a:t>
            </a:r>
            <a:endParaRPr lang="en-US" sz="1200" dirty="0"/>
          </a:p>
        </p:txBody>
      </p:sp>
      <p:sp>
        <p:nvSpPr>
          <p:cNvPr id="20" name="Message ← displayProfile()"/>
          <p:cNvSpPr txBox="1"/>
          <p:nvPr/>
        </p:nvSpPr>
        <p:spPr>
          <a:xfrm>
            <a:off x="4423319" y="1073688"/>
            <a:ext cx="237744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4550"/>
                </a:solidFill>
                <a:latin typeface="Goudy Old Style" pitchFamily="34" charset="0"/>
                <a:ea typeface="Goudy Old Style" pitchFamily="34" charset="-122"/>
                <a:cs typeface="Goudy Old Style" pitchFamily="34" charset="-120"/>
              </a:rPr>
              <a:t>← displayProfile()</a:t>
            </a:r>
            <a:endParaRPr lang="en-US" sz="1200" dirty="0"/>
          </a:p>
        </p:txBody>
      </p:sp>
      <p:sp>
        <p:nvSpPr>
          <p:cNvPr id="21" name="Message POST /studentFormSubmit() →"/>
          <p:cNvSpPr txBox="1"/>
          <p:nvPr/>
        </p:nvSpPr>
        <p:spPr>
          <a:xfrm>
            <a:off x="4423319" y="1324051"/>
            <a:ext cx="237744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4550"/>
                </a:solidFill>
                <a:latin typeface="Goudy Old Style" pitchFamily="34" charset="0"/>
                <a:ea typeface="Goudy Old Style" pitchFamily="34" charset="-122"/>
                <a:cs typeface="Goudy Old Style" pitchFamily="34" charset="-120"/>
              </a:rPr>
              <a:t>POST /studentFormSubmit() →</a:t>
            </a:r>
            <a:endParaRPr lang="en-US" sz="1200" dirty="0"/>
          </a:p>
        </p:txBody>
      </p:sp>
      <p:sp>
        <p:nvSpPr>
          <p:cNvPr id="22" name="Message 1.1: Get /StudentForm() →"/>
          <p:cNvSpPr txBox="1"/>
          <p:nvPr/>
        </p:nvSpPr>
        <p:spPr>
          <a:xfrm>
            <a:off x="4423319" y="1574414"/>
            <a:ext cx="237744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4550"/>
                </a:solidFill>
                <a:latin typeface="Goudy Old Style" pitchFamily="34" charset="0"/>
                <a:ea typeface="Goudy Old Style" pitchFamily="34" charset="-122"/>
                <a:cs typeface="Goudy Old Style" pitchFamily="34" charset="-120"/>
              </a:rPr>
              <a:t>1.1: Get /StudentForm() →</a:t>
            </a:r>
            <a:endParaRPr lang="en-US" sz="1200" dirty="0"/>
          </a:p>
        </p:txBody>
      </p:sp>
      <p:sp>
        <p:nvSpPr>
          <p:cNvPr id="23" name="Message ← 2.1: DisplayForm()"/>
          <p:cNvSpPr txBox="1"/>
          <p:nvPr/>
        </p:nvSpPr>
        <p:spPr>
          <a:xfrm>
            <a:off x="4423319" y="1980408"/>
            <a:ext cx="237744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4550"/>
                </a:solidFill>
                <a:latin typeface="Goudy Old Style" pitchFamily="34" charset="0"/>
                <a:ea typeface="Goudy Old Style" pitchFamily="34" charset="-122"/>
                <a:cs typeface="Goudy Old Style" pitchFamily="34" charset="-120"/>
              </a:rPr>
              <a:t>← 2.1: DisplayForm()</a:t>
            </a:r>
            <a:endParaRPr lang="en-US" sz="1200" dirty="0"/>
          </a:p>
        </p:txBody>
      </p:sp>
      <p:sp>
        <p:nvSpPr>
          <p:cNvPr id="24" name="Message 2: StudentForm()"/>
          <p:cNvSpPr txBox="1"/>
          <p:nvPr/>
        </p:nvSpPr>
        <p:spPr>
          <a:xfrm>
            <a:off x="2230953" y="2805928"/>
            <a:ext cx="237744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4550"/>
                </a:solidFill>
                <a:latin typeface="Goudy Old Style" pitchFamily="34" charset="0"/>
                <a:ea typeface="Goudy Old Style" pitchFamily="34" charset="-122"/>
                <a:cs typeface="Goudy Old Style" pitchFamily="34" charset="-120"/>
              </a:rPr>
              <a:t>2: StudentForm()</a:t>
            </a:r>
            <a:endParaRPr lang="en-US" sz="1200" dirty="0"/>
          </a:p>
        </p:txBody>
      </p:sp>
      <p:sp>
        <p:nvSpPr>
          <p:cNvPr id="25" name="Message save(student)"/>
          <p:cNvSpPr txBox="1"/>
          <p:nvPr/>
        </p:nvSpPr>
        <p:spPr>
          <a:xfrm>
            <a:off x="9748601" y="2860060"/>
            <a:ext cx="237744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4550"/>
                </a:solidFill>
                <a:latin typeface="Goudy Old Style" pitchFamily="34" charset="0"/>
                <a:ea typeface="Goudy Old Style" pitchFamily="34" charset="-122"/>
                <a:cs typeface="Goudy Old Style" pitchFamily="34" charset="-120"/>
              </a:rPr>
              <a:t>save(student)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ClubHub Diagrams</dc:title>
  <dc:subject>PptxGenJS Presentation</dc:subject>
  <dc:creator>PptxGenJS</dc:creator>
  <cp:lastModifiedBy>PptxGenJS</cp:lastModifiedBy>
  <cp:revision>1</cp:revision>
  <dcterms:created xsi:type="dcterms:W3CDTF">2026-10-16T16:26:53Z</dcterms:created>
  <dcterms:modified xsi:type="dcterms:W3CDTF">2026-10-16T16:26:53Z</dcterms:modified>
</cp:coreProperties>
</file>