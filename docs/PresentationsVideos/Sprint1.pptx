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9" r:id="rId1"/>
  </p:sldMasterIdLst>
  <p:notesMasterIdLst>
    <p:notesMasterId r:id="rId35"/>
  </p:notesMasterIdLst>
  <p:sldIdLst>
    <p:sldId id="257" r:id="rId2"/>
    <p:sldId id="279" r:id="rId3"/>
    <p:sldId id="287" r:id="rId4"/>
    <p:sldId id="280" r:id="rId5"/>
    <p:sldId id="283" r:id="rId6"/>
    <p:sldId id="913" r:id="rId7"/>
    <p:sldId id="912" r:id="rId8"/>
    <p:sldId id="911" r:id="rId9"/>
    <p:sldId id="258" r:id="rId10"/>
    <p:sldId id="285" r:id="rId11"/>
    <p:sldId id="284" r:id="rId12"/>
    <p:sldId id="256" r:id="rId13"/>
    <p:sldId id="908" r:id="rId14"/>
    <p:sldId id="278" r:id="rId15"/>
    <p:sldId id="914" r:id="rId16"/>
    <p:sldId id="918" r:id="rId17"/>
    <p:sldId id="919" r:id="rId18"/>
    <p:sldId id="920" r:id="rId19"/>
    <p:sldId id="921" r:id="rId20"/>
    <p:sldId id="922" r:id="rId21"/>
    <p:sldId id="923" r:id="rId22"/>
    <p:sldId id="924" r:id="rId23"/>
    <p:sldId id="925" r:id="rId24"/>
    <p:sldId id="926" r:id="rId25"/>
    <p:sldId id="927" r:id="rId26"/>
    <p:sldId id="928" r:id="rId27"/>
    <p:sldId id="902" r:id="rId28"/>
    <p:sldId id="282" r:id="rId29"/>
    <p:sldId id="903" r:id="rId30"/>
    <p:sldId id="905" r:id="rId31"/>
    <p:sldId id="909" r:id="rId32"/>
    <p:sldId id="906" r:id="rId33"/>
    <p:sldId id="90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3E50"/>
    <a:srgbClr val="9FA5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6" dt="2026-10-15T22:21:55.236"/>
    <p1510:client id="{0D0494D3-1C17-FCF3-A727-27A845E4247C}" v="2720" dt="2026-10-16T04:05:09.606"/>
    <p1510:client id="{352BD639-1DF1-6CE8-5CC2-A6CD3FE75419}" v="3" dt="2026-10-16T15:20:10.201"/>
    <p1510:client id="{8A7D36D9-3FB6-2AE2-BEE9-9EAA1BA51B5C}" v="698" dt="2026-10-15T23:33:21.722"/>
    <p1510:client id="{8E61D8E8-B5C9-44D3-9B90-C4CFD4C4D15D}" v="3382" dt="2026-10-15T22:56:31.991"/>
    <p1510:client id="{AD6BC73F-DB32-D68E-AC7B-6E3CF1A05A0B}" v="861" dt="2026-10-16T00:10:01.858"/>
    <p1510:client id="{B6E21B48-5C26-0A27-8507-D97C8A178E23}" v="1005" dt="2026-10-15T22:04:17.464"/>
    <p1510:client id="{DD7C2A60-107A-0A40-983F-39227B8F2E54}" v="128" dt="2026-10-17T20:44:09.3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7">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8">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D6F76D5-60AB-48B2-ADD5-A102CB1F38D5}" type="doc">
      <dgm:prSet loTypeId="urn:microsoft.com/office/officeart/2005/8/layout/cycle8" loCatId="cycle" qsTypeId="urn:microsoft.com/office/officeart/2005/8/quickstyle/simple1#11" qsCatId="simple" csTypeId="urn:microsoft.com/office/officeart/2005/8/colors/accent1_2#7" csCatId="accent1" phldr="1"/>
      <dgm:spPr/>
      <dgm:t>
        <a:bodyPr/>
        <a:lstStyle/>
        <a:p>
          <a:endParaRPr lang="en-US"/>
        </a:p>
      </dgm:t>
    </dgm:pt>
    <dgm:pt modelId="{1ADA3494-F578-4BC3-B4D2-3A3DEE9642DF}">
      <dgm:prSet phldrT="[Text]" phldr="0"/>
      <dgm:spPr>
        <a:solidFill>
          <a:schemeClr val="accent5">
            <a:lumMod val="60000"/>
            <a:lumOff val="40000"/>
          </a:schemeClr>
        </a:solidFill>
        <a:ln>
          <a:noFill/>
        </a:ln>
      </dgm:spPr>
      <dgm:t>
        <a:bodyPr/>
        <a:lstStyle/>
        <a:p>
          <a:r>
            <a:rPr lang="en-US"/>
            <a:t>Entity</a:t>
          </a:r>
        </a:p>
      </dgm:t>
    </dgm:pt>
    <dgm:pt modelId="{87837267-9562-4887-8E08-14C8A0C0FB3F}" type="parTrans" cxnId="{94D7B96D-E501-4D18-8A44-989400DAFA41}">
      <dgm:prSet/>
      <dgm:spPr/>
      <dgm:t>
        <a:bodyPr/>
        <a:lstStyle/>
        <a:p>
          <a:endParaRPr lang="en-US"/>
        </a:p>
      </dgm:t>
    </dgm:pt>
    <dgm:pt modelId="{DC3642E4-5C7A-4F53-BEBA-609F6DCFE779}" type="sibTrans" cxnId="{94D7B96D-E501-4D18-8A44-989400DAFA41}">
      <dgm:prSet/>
      <dgm:spPr/>
      <dgm:t>
        <a:bodyPr/>
        <a:lstStyle/>
        <a:p>
          <a:endParaRPr lang="en-US"/>
        </a:p>
      </dgm:t>
    </dgm:pt>
    <dgm:pt modelId="{352B3EBE-3B8C-4425-A263-10D7B3D58A65}">
      <dgm:prSet phldrT="[Text]" phldr="0"/>
      <dgm:spPr>
        <a:solidFill>
          <a:schemeClr val="accent5">
            <a:lumMod val="60000"/>
            <a:lumOff val="40000"/>
          </a:schemeClr>
        </a:solidFill>
        <a:ln>
          <a:noFill/>
        </a:ln>
      </dgm:spPr>
      <dgm:t>
        <a:bodyPr/>
        <a:lstStyle/>
        <a:p>
          <a:r>
            <a:rPr lang="en-US"/>
            <a:t>Controller</a:t>
          </a:r>
        </a:p>
      </dgm:t>
    </dgm:pt>
    <dgm:pt modelId="{06AB8A4D-E25E-49E6-8398-E6694A18CA01}" type="parTrans" cxnId="{00EE00A9-834D-4229-A718-68CF4A883A4A}">
      <dgm:prSet/>
      <dgm:spPr/>
      <dgm:t>
        <a:bodyPr/>
        <a:lstStyle/>
        <a:p>
          <a:endParaRPr lang="en-US"/>
        </a:p>
      </dgm:t>
    </dgm:pt>
    <dgm:pt modelId="{AC562D60-9808-4C21-A754-B1C0FC683907}" type="sibTrans" cxnId="{00EE00A9-834D-4229-A718-68CF4A883A4A}">
      <dgm:prSet/>
      <dgm:spPr/>
      <dgm:t>
        <a:bodyPr/>
        <a:lstStyle/>
        <a:p>
          <a:endParaRPr lang="en-US"/>
        </a:p>
      </dgm:t>
    </dgm:pt>
    <dgm:pt modelId="{F7D5A3AA-3807-437B-968B-5CAC8126C7E8}">
      <dgm:prSet phldrT="[Text]" phldr="0"/>
      <dgm:spPr>
        <a:solidFill>
          <a:schemeClr val="accent5">
            <a:lumMod val="60000"/>
            <a:lumOff val="40000"/>
          </a:schemeClr>
        </a:solidFill>
        <a:ln>
          <a:noFill/>
        </a:ln>
      </dgm:spPr>
      <dgm:t>
        <a:bodyPr/>
        <a:lstStyle/>
        <a:p>
          <a:r>
            <a:rPr lang="en-US">
              <a:solidFill>
                <a:schemeClr val="bg1"/>
              </a:solidFill>
            </a:rPr>
            <a:t>Post/GET</a:t>
          </a:r>
        </a:p>
      </dgm:t>
    </dgm:pt>
    <dgm:pt modelId="{95494F29-1DF2-4AF2-BDF7-AD005952AE41}" type="parTrans" cxnId="{09A42C49-86EC-4931-86E2-0C5931D98BF5}">
      <dgm:prSet/>
      <dgm:spPr/>
      <dgm:t>
        <a:bodyPr/>
        <a:lstStyle/>
        <a:p>
          <a:endParaRPr lang="en-US"/>
        </a:p>
      </dgm:t>
    </dgm:pt>
    <dgm:pt modelId="{A2678BBD-0B8B-4D83-882C-7497E43811FC}" type="sibTrans" cxnId="{09A42C49-86EC-4931-86E2-0C5931D98BF5}">
      <dgm:prSet/>
      <dgm:spPr/>
      <dgm:t>
        <a:bodyPr/>
        <a:lstStyle/>
        <a:p>
          <a:endParaRPr lang="en-US"/>
        </a:p>
      </dgm:t>
    </dgm:pt>
    <dgm:pt modelId="{561EB8F7-0759-443E-AAA3-0CFF371FDC9E}">
      <dgm:prSet phldrT="[Text]" phldr="0"/>
      <dgm:spPr>
        <a:solidFill>
          <a:schemeClr val="accent5">
            <a:lumMod val="60000"/>
            <a:lumOff val="40000"/>
          </a:schemeClr>
        </a:solidFill>
        <a:ln>
          <a:solidFill>
            <a:schemeClr val="accent5">
              <a:lumMod val="60000"/>
              <a:lumOff val="40000"/>
            </a:schemeClr>
          </a:solidFill>
        </a:ln>
      </dgm:spPr>
      <dgm:t>
        <a:bodyPr/>
        <a:lstStyle/>
        <a:p>
          <a:r>
            <a:rPr lang="en-US"/>
            <a:t>Repository</a:t>
          </a:r>
        </a:p>
      </dgm:t>
    </dgm:pt>
    <dgm:pt modelId="{8255429E-43EC-4DC4-95DD-EE2EF809F3D6}" type="parTrans" cxnId="{4E18A588-9770-413E-94D8-0396A4205F62}">
      <dgm:prSet/>
      <dgm:spPr/>
      <dgm:t>
        <a:bodyPr/>
        <a:lstStyle/>
        <a:p>
          <a:endParaRPr lang="en-US"/>
        </a:p>
      </dgm:t>
    </dgm:pt>
    <dgm:pt modelId="{568B7E29-4A75-4FC0-AB57-E24BAFCCAEAC}" type="sibTrans" cxnId="{4E18A588-9770-413E-94D8-0396A4205F62}">
      <dgm:prSet/>
      <dgm:spPr/>
      <dgm:t>
        <a:bodyPr/>
        <a:lstStyle/>
        <a:p>
          <a:endParaRPr lang="en-US"/>
        </a:p>
      </dgm:t>
    </dgm:pt>
    <dgm:pt modelId="{12F92909-E10D-4BF0-8C07-442C31B475BC}" type="pres">
      <dgm:prSet presAssocID="{DD6F76D5-60AB-48B2-ADD5-A102CB1F38D5}" presName="compositeShape" presStyleCnt="0">
        <dgm:presLayoutVars>
          <dgm:chMax val="7"/>
          <dgm:dir/>
          <dgm:resizeHandles val="exact"/>
        </dgm:presLayoutVars>
      </dgm:prSet>
      <dgm:spPr/>
    </dgm:pt>
    <dgm:pt modelId="{8DB095E3-B149-4B67-89C9-9001ADDBB41C}" type="pres">
      <dgm:prSet presAssocID="{DD6F76D5-60AB-48B2-ADD5-A102CB1F38D5}" presName="wedge1" presStyleLbl="node1" presStyleIdx="0" presStyleCnt="4"/>
      <dgm:spPr/>
    </dgm:pt>
    <dgm:pt modelId="{320AE54D-FBAA-4D60-A039-1724A48CB283}" type="pres">
      <dgm:prSet presAssocID="{DD6F76D5-60AB-48B2-ADD5-A102CB1F38D5}" presName="dummy1a" presStyleCnt="0"/>
      <dgm:spPr/>
    </dgm:pt>
    <dgm:pt modelId="{3029BC2C-FF37-40B3-BB95-5BC7516B15BC}" type="pres">
      <dgm:prSet presAssocID="{DD6F76D5-60AB-48B2-ADD5-A102CB1F38D5}" presName="dummy1b" presStyleCnt="0"/>
      <dgm:spPr/>
    </dgm:pt>
    <dgm:pt modelId="{D6CAEB5C-D5E6-487D-A3AD-03F27E75159B}" type="pres">
      <dgm:prSet presAssocID="{DD6F76D5-60AB-48B2-ADD5-A102CB1F38D5}" presName="wedge1Tx" presStyleLbl="node1" presStyleIdx="0" presStyleCnt="4">
        <dgm:presLayoutVars>
          <dgm:chMax val="0"/>
          <dgm:chPref val="0"/>
          <dgm:bulletEnabled val="1"/>
        </dgm:presLayoutVars>
      </dgm:prSet>
      <dgm:spPr/>
    </dgm:pt>
    <dgm:pt modelId="{32D3BE4D-1D2D-419A-A998-4E9426F31976}" type="pres">
      <dgm:prSet presAssocID="{DD6F76D5-60AB-48B2-ADD5-A102CB1F38D5}" presName="wedge2" presStyleLbl="node1" presStyleIdx="1" presStyleCnt="4"/>
      <dgm:spPr/>
    </dgm:pt>
    <dgm:pt modelId="{0FF0B438-6773-430B-B998-AE72CA13D064}" type="pres">
      <dgm:prSet presAssocID="{DD6F76D5-60AB-48B2-ADD5-A102CB1F38D5}" presName="dummy2a" presStyleCnt="0"/>
      <dgm:spPr/>
    </dgm:pt>
    <dgm:pt modelId="{F6D2A23E-C84C-4F00-8E4B-E032A1F69F4B}" type="pres">
      <dgm:prSet presAssocID="{DD6F76D5-60AB-48B2-ADD5-A102CB1F38D5}" presName="dummy2b" presStyleCnt="0"/>
      <dgm:spPr/>
    </dgm:pt>
    <dgm:pt modelId="{2EFE6CF1-1BE2-4D3E-843C-74E19A830657}" type="pres">
      <dgm:prSet presAssocID="{DD6F76D5-60AB-48B2-ADD5-A102CB1F38D5}" presName="wedge2Tx" presStyleLbl="node1" presStyleIdx="1" presStyleCnt="4">
        <dgm:presLayoutVars>
          <dgm:chMax val="0"/>
          <dgm:chPref val="0"/>
          <dgm:bulletEnabled val="1"/>
        </dgm:presLayoutVars>
      </dgm:prSet>
      <dgm:spPr/>
    </dgm:pt>
    <dgm:pt modelId="{A15EF244-BB69-47E9-89BD-C0EDFE16F313}" type="pres">
      <dgm:prSet presAssocID="{DD6F76D5-60AB-48B2-ADD5-A102CB1F38D5}" presName="wedge3" presStyleLbl="node1" presStyleIdx="2" presStyleCnt="4"/>
      <dgm:spPr/>
    </dgm:pt>
    <dgm:pt modelId="{F71CC03F-2569-47F3-BC97-869F255BDA99}" type="pres">
      <dgm:prSet presAssocID="{DD6F76D5-60AB-48B2-ADD5-A102CB1F38D5}" presName="dummy3a" presStyleCnt="0"/>
      <dgm:spPr/>
    </dgm:pt>
    <dgm:pt modelId="{7418F7FA-4FB9-4301-A0FB-73481C4DF6AA}" type="pres">
      <dgm:prSet presAssocID="{DD6F76D5-60AB-48B2-ADD5-A102CB1F38D5}" presName="dummy3b" presStyleCnt="0"/>
      <dgm:spPr/>
    </dgm:pt>
    <dgm:pt modelId="{0608315E-65BB-4AEE-8FBF-045C66A244E7}" type="pres">
      <dgm:prSet presAssocID="{DD6F76D5-60AB-48B2-ADD5-A102CB1F38D5}" presName="wedge3Tx" presStyleLbl="node1" presStyleIdx="2" presStyleCnt="4">
        <dgm:presLayoutVars>
          <dgm:chMax val="0"/>
          <dgm:chPref val="0"/>
          <dgm:bulletEnabled val="1"/>
        </dgm:presLayoutVars>
      </dgm:prSet>
      <dgm:spPr/>
    </dgm:pt>
    <dgm:pt modelId="{1CEEB211-E081-45DE-B60D-D8FA700A770C}" type="pres">
      <dgm:prSet presAssocID="{DD6F76D5-60AB-48B2-ADD5-A102CB1F38D5}" presName="wedge4" presStyleLbl="node1" presStyleIdx="3" presStyleCnt="4"/>
      <dgm:spPr/>
    </dgm:pt>
    <dgm:pt modelId="{97BC681F-FDCF-4DCD-8AB4-60A770FAC2BB}" type="pres">
      <dgm:prSet presAssocID="{DD6F76D5-60AB-48B2-ADD5-A102CB1F38D5}" presName="dummy4a" presStyleCnt="0"/>
      <dgm:spPr/>
    </dgm:pt>
    <dgm:pt modelId="{81AAA093-EBD9-4C16-A115-894CD5BDA4B2}" type="pres">
      <dgm:prSet presAssocID="{DD6F76D5-60AB-48B2-ADD5-A102CB1F38D5}" presName="dummy4b" presStyleCnt="0"/>
      <dgm:spPr/>
    </dgm:pt>
    <dgm:pt modelId="{52A86712-BA5F-473B-B6AF-85650D00EFEE}" type="pres">
      <dgm:prSet presAssocID="{DD6F76D5-60AB-48B2-ADD5-A102CB1F38D5}" presName="wedge4Tx" presStyleLbl="node1" presStyleIdx="3" presStyleCnt="4">
        <dgm:presLayoutVars>
          <dgm:chMax val="0"/>
          <dgm:chPref val="0"/>
          <dgm:bulletEnabled val="1"/>
        </dgm:presLayoutVars>
      </dgm:prSet>
      <dgm:spPr/>
    </dgm:pt>
    <dgm:pt modelId="{C648A473-51F6-4538-952F-EA08BE8B9FA9}" type="pres">
      <dgm:prSet presAssocID="{DC3642E4-5C7A-4F53-BEBA-609F6DCFE779}" presName="arrowWedge1" presStyleLbl="fgSibTrans2D1" presStyleIdx="0" presStyleCnt="4"/>
      <dgm:spPr>
        <a:solidFill>
          <a:schemeClr val="tx2">
            <a:lumMod val="20000"/>
            <a:lumOff val="80000"/>
          </a:schemeClr>
        </a:solidFill>
      </dgm:spPr>
    </dgm:pt>
    <dgm:pt modelId="{90A86ED3-7587-4009-B31C-9AC860DE7ED5}" type="pres">
      <dgm:prSet presAssocID="{AC562D60-9808-4C21-A754-B1C0FC683907}" presName="arrowWedge2" presStyleLbl="fgSibTrans2D1" presStyleIdx="1" presStyleCnt="4"/>
      <dgm:spPr>
        <a:solidFill>
          <a:schemeClr val="tx2">
            <a:lumMod val="20000"/>
            <a:lumOff val="80000"/>
          </a:schemeClr>
        </a:solidFill>
      </dgm:spPr>
    </dgm:pt>
    <dgm:pt modelId="{3995D178-6B76-4948-B393-B430ECE75F17}" type="pres">
      <dgm:prSet presAssocID="{A2678BBD-0B8B-4D83-882C-7497E43811FC}" presName="arrowWedge3" presStyleLbl="fgSibTrans2D1" presStyleIdx="2" presStyleCnt="4"/>
      <dgm:spPr>
        <a:solidFill>
          <a:schemeClr val="accent5">
            <a:lumMod val="40000"/>
            <a:lumOff val="60000"/>
          </a:schemeClr>
        </a:solidFill>
      </dgm:spPr>
    </dgm:pt>
    <dgm:pt modelId="{D53B3636-607C-4993-8E14-C31035A3D3EF}" type="pres">
      <dgm:prSet presAssocID="{568B7E29-4A75-4FC0-AB57-E24BAFCCAEAC}" presName="arrowWedge4" presStyleLbl="fgSibTrans2D1" presStyleIdx="3" presStyleCnt="4"/>
      <dgm:spPr>
        <a:solidFill>
          <a:schemeClr val="accent5">
            <a:lumMod val="40000"/>
            <a:lumOff val="60000"/>
          </a:schemeClr>
        </a:solidFill>
      </dgm:spPr>
    </dgm:pt>
  </dgm:ptLst>
  <dgm:cxnLst>
    <dgm:cxn modelId="{26FAD716-6840-4534-8DA6-E3423002D82E}" type="presOf" srcId="{352B3EBE-3B8C-4425-A263-10D7B3D58A65}" destId="{32D3BE4D-1D2D-419A-A998-4E9426F31976}" srcOrd="0" destOrd="0" presId="urn:microsoft.com/office/officeart/2005/8/layout/cycle8"/>
    <dgm:cxn modelId="{09A42C49-86EC-4931-86E2-0C5931D98BF5}" srcId="{DD6F76D5-60AB-48B2-ADD5-A102CB1F38D5}" destId="{F7D5A3AA-3807-437B-968B-5CAC8126C7E8}" srcOrd="2" destOrd="0" parTransId="{95494F29-1DF2-4AF2-BDF7-AD005952AE41}" sibTransId="{A2678BBD-0B8B-4D83-882C-7497E43811FC}"/>
    <dgm:cxn modelId="{9424FB5C-26C5-4F1A-A00F-CBB19D347B06}" type="presOf" srcId="{1ADA3494-F578-4BC3-B4D2-3A3DEE9642DF}" destId="{D6CAEB5C-D5E6-487D-A3AD-03F27E75159B}" srcOrd="1" destOrd="0" presId="urn:microsoft.com/office/officeart/2005/8/layout/cycle8"/>
    <dgm:cxn modelId="{07ECE065-596F-4EFA-B583-9E782ECABCCF}" type="presOf" srcId="{F7D5A3AA-3807-437B-968B-5CAC8126C7E8}" destId="{A15EF244-BB69-47E9-89BD-C0EDFE16F313}" srcOrd="0" destOrd="0" presId="urn:microsoft.com/office/officeart/2005/8/layout/cycle8"/>
    <dgm:cxn modelId="{94D7B96D-E501-4D18-8A44-989400DAFA41}" srcId="{DD6F76D5-60AB-48B2-ADD5-A102CB1F38D5}" destId="{1ADA3494-F578-4BC3-B4D2-3A3DEE9642DF}" srcOrd="0" destOrd="0" parTransId="{87837267-9562-4887-8E08-14C8A0C0FB3F}" sibTransId="{DC3642E4-5C7A-4F53-BEBA-609F6DCFE779}"/>
    <dgm:cxn modelId="{B77A8A7B-D27C-45FC-8A82-5384F2CC2956}" type="presOf" srcId="{352B3EBE-3B8C-4425-A263-10D7B3D58A65}" destId="{2EFE6CF1-1BE2-4D3E-843C-74E19A830657}" srcOrd="1" destOrd="0" presId="urn:microsoft.com/office/officeart/2005/8/layout/cycle8"/>
    <dgm:cxn modelId="{A5ED217C-B60C-468F-B1CB-26460FF13A7D}" type="presOf" srcId="{1ADA3494-F578-4BC3-B4D2-3A3DEE9642DF}" destId="{8DB095E3-B149-4B67-89C9-9001ADDBB41C}" srcOrd="0" destOrd="0" presId="urn:microsoft.com/office/officeart/2005/8/layout/cycle8"/>
    <dgm:cxn modelId="{4E18A588-9770-413E-94D8-0396A4205F62}" srcId="{DD6F76D5-60AB-48B2-ADD5-A102CB1F38D5}" destId="{561EB8F7-0759-443E-AAA3-0CFF371FDC9E}" srcOrd="3" destOrd="0" parTransId="{8255429E-43EC-4DC4-95DD-EE2EF809F3D6}" sibTransId="{568B7E29-4A75-4FC0-AB57-E24BAFCCAEAC}"/>
    <dgm:cxn modelId="{3F88EFA2-9577-4048-BD6F-CF99201261F6}" type="presOf" srcId="{F7D5A3AA-3807-437B-968B-5CAC8126C7E8}" destId="{0608315E-65BB-4AEE-8FBF-045C66A244E7}" srcOrd="1" destOrd="0" presId="urn:microsoft.com/office/officeart/2005/8/layout/cycle8"/>
    <dgm:cxn modelId="{00EE00A9-834D-4229-A718-68CF4A883A4A}" srcId="{DD6F76D5-60AB-48B2-ADD5-A102CB1F38D5}" destId="{352B3EBE-3B8C-4425-A263-10D7B3D58A65}" srcOrd="1" destOrd="0" parTransId="{06AB8A4D-E25E-49E6-8398-E6694A18CA01}" sibTransId="{AC562D60-9808-4C21-A754-B1C0FC683907}"/>
    <dgm:cxn modelId="{496261C9-0B23-4E8F-A89B-A0EFB87064C3}" type="presOf" srcId="{561EB8F7-0759-443E-AAA3-0CFF371FDC9E}" destId="{1CEEB211-E081-45DE-B60D-D8FA700A770C}" srcOrd="0" destOrd="0" presId="urn:microsoft.com/office/officeart/2005/8/layout/cycle8"/>
    <dgm:cxn modelId="{1CAD78CA-981B-4B3E-9501-FE73E72797A1}" type="presOf" srcId="{DD6F76D5-60AB-48B2-ADD5-A102CB1F38D5}" destId="{12F92909-E10D-4BF0-8C07-442C31B475BC}" srcOrd="0" destOrd="0" presId="urn:microsoft.com/office/officeart/2005/8/layout/cycle8"/>
    <dgm:cxn modelId="{6B3732EE-821E-4162-ACDF-B8FFEBD7EB14}" type="presOf" srcId="{561EB8F7-0759-443E-AAA3-0CFF371FDC9E}" destId="{52A86712-BA5F-473B-B6AF-85650D00EFEE}" srcOrd="1" destOrd="0" presId="urn:microsoft.com/office/officeart/2005/8/layout/cycle8"/>
    <dgm:cxn modelId="{63A06D1D-208F-48AF-8BDA-B43E3128733C}" type="presParOf" srcId="{12F92909-E10D-4BF0-8C07-442C31B475BC}" destId="{8DB095E3-B149-4B67-89C9-9001ADDBB41C}" srcOrd="0" destOrd="0" presId="urn:microsoft.com/office/officeart/2005/8/layout/cycle8"/>
    <dgm:cxn modelId="{617AC593-C672-4AD3-8279-6BB50BBB8036}" type="presParOf" srcId="{12F92909-E10D-4BF0-8C07-442C31B475BC}" destId="{320AE54D-FBAA-4D60-A039-1724A48CB283}" srcOrd="1" destOrd="0" presId="urn:microsoft.com/office/officeart/2005/8/layout/cycle8"/>
    <dgm:cxn modelId="{0EFE3D13-6E13-4E14-A8E7-0977E4B1D83D}" type="presParOf" srcId="{12F92909-E10D-4BF0-8C07-442C31B475BC}" destId="{3029BC2C-FF37-40B3-BB95-5BC7516B15BC}" srcOrd="2" destOrd="0" presId="urn:microsoft.com/office/officeart/2005/8/layout/cycle8"/>
    <dgm:cxn modelId="{809E4BF9-76D2-4742-AC81-9DC78D6EE18A}" type="presParOf" srcId="{12F92909-E10D-4BF0-8C07-442C31B475BC}" destId="{D6CAEB5C-D5E6-487D-A3AD-03F27E75159B}" srcOrd="3" destOrd="0" presId="urn:microsoft.com/office/officeart/2005/8/layout/cycle8"/>
    <dgm:cxn modelId="{A4C120F5-70E8-4356-98D9-90562121E5FD}" type="presParOf" srcId="{12F92909-E10D-4BF0-8C07-442C31B475BC}" destId="{32D3BE4D-1D2D-419A-A998-4E9426F31976}" srcOrd="4" destOrd="0" presId="urn:microsoft.com/office/officeart/2005/8/layout/cycle8"/>
    <dgm:cxn modelId="{0EADEB8C-70F1-47CD-B686-E7767FC25B03}" type="presParOf" srcId="{12F92909-E10D-4BF0-8C07-442C31B475BC}" destId="{0FF0B438-6773-430B-B998-AE72CA13D064}" srcOrd="5" destOrd="0" presId="urn:microsoft.com/office/officeart/2005/8/layout/cycle8"/>
    <dgm:cxn modelId="{525829EE-A341-41E9-B55F-F5006244AEBF}" type="presParOf" srcId="{12F92909-E10D-4BF0-8C07-442C31B475BC}" destId="{F6D2A23E-C84C-4F00-8E4B-E032A1F69F4B}" srcOrd="6" destOrd="0" presId="urn:microsoft.com/office/officeart/2005/8/layout/cycle8"/>
    <dgm:cxn modelId="{3434CA82-DA50-431C-AEBA-B28C0F91A50A}" type="presParOf" srcId="{12F92909-E10D-4BF0-8C07-442C31B475BC}" destId="{2EFE6CF1-1BE2-4D3E-843C-74E19A830657}" srcOrd="7" destOrd="0" presId="urn:microsoft.com/office/officeart/2005/8/layout/cycle8"/>
    <dgm:cxn modelId="{3FB6C31C-FBE5-4A65-8087-7C69C42811A5}" type="presParOf" srcId="{12F92909-E10D-4BF0-8C07-442C31B475BC}" destId="{A15EF244-BB69-47E9-89BD-C0EDFE16F313}" srcOrd="8" destOrd="0" presId="urn:microsoft.com/office/officeart/2005/8/layout/cycle8"/>
    <dgm:cxn modelId="{E580DE5D-D2F6-46C2-B72B-1C0624C1D31F}" type="presParOf" srcId="{12F92909-E10D-4BF0-8C07-442C31B475BC}" destId="{F71CC03F-2569-47F3-BC97-869F255BDA99}" srcOrd="9" destOrd="0" presId="urn:microsoft.com/office/officeart/2005/8/layout/cycle8"/>
    <dgm:cxn modelId="{C1C544CE-EB39-472A-BFCE-950FEC790C91}" type="presParOf" srcId="{12F92909-E10D-4BF0-8C07-442C31B475BC}" destId="{7418F7FA-4FB9-4301-A0FB-73481C4DF6AA}" srcOrd="10" destOrd="0" presId="urn:microsoft.com/office/officeart/2005/8/layout/cycle8"/>
    <dgm:cxn modelId="{90401B15-388C-4F1C-8E67-BDB0DF16E280}" type="presParOf" srcId="{12F92909-E10D-4BF0-8C07-442C31B475BC}" destId="{0608315E-65BB-4AEE-8FBF-045C66A244E7}" srcOrd="11" destOrd="0" presId="urn:microsoft.com/office/officeart/2005/8/layout/cycle8"/>
    <dgm:cxn modelId="{49325D51-6F86-41E9-9972-74D0667CD2F2}" type="presParOf" srcId="{12F92909-E10D-4BF0-8C07-442C31B475BC}" destId="{1CEEB211-E081-45DE-B60D-D8FA700A770C}" srcOrd="12" destOrd="0" presId="urn:microsoft.com/office/officeart/2005/8/layout/cycle8"/>
    <dgm:cxn modelId="{87058DAE-70FD-4223-B2EA-78E4DB0C6D78}" type="presParOf" srcId="{12F92909-E10D-4BF0-8C07-442C31B475BC}" destId="{97BC681F-FDCF-4DCD-8AB4-60A770FAC2BB}" srcOrd="13" destOrd="0" presId="urn:microsoft.com/office/officeart/2005/8/layout/cycle8"/>
    <dgm:cxn modelId="{E6A16B5F-120A-418A-ABAE-14F2482832B0}" type="presParOf" srcId="{12F92909-E10D-4BF0-8C07-442C31B475BC}" destId="{81AAA093-EBD9-4C16-A115-894CD5BDA4B2}" srcOrd="14" destOrd="0" presId="urn:microsoft.com/office/officeart/2005/8/layout/cycle8"/>
    <dgm:cxn modelId="{03901CB7-3A83-466A-91AE-4D76DD9CA3D1}" type="presParOf" srcId="{12F92909-E10D-4BF0-8C07-442C31B475BC}" destId="{52A86712-BA5F-473B-B6AF-85650D00EFEE}" srcOrd="15" destOrd="0" presId="urn:microsoft.com/office/officeart/2005/8/layout/cycle8"/>
    <dgm:cxn modelId="{618E4DB2-1C99-4682-BB4F-E4232B01726F}" type="presParOf" srcId="{12F92909-E10D-4BF0-8C07-442C31B475BC}" destId="{C648A473-51F6-4538-952F-EA08BE8B9FA9}" srcOrd="16" destOrd="0" presId="urn:microsoft.com/office/officeart/2005/8/layout/cycle8"/>
    <dgm:cxn modelId="{A1B256AC-6425-4DD4-B859-359BB1F82421}" type="presParOf" srcId="{12F92909-E10D-4BF0-8C07-442C31B475BC}" destId="{90A86ED3-7587-4009-B31C-9AC860DE7ED5}" srcOrd="17" destOrd="0" presId="urn:microsoft.com/office/officeart/2005/8/layout/cycle8"/>
    <dgm:cxn modelId="{8DC4A9A6-B434-4B51-8582-694CFF195EAB}" type="presParOf" srcId="{12F92909-E10D-4BF0-8C07-442C31B475BC}" destId="{3995D178-6B76-4948-B393-B430ECE75F17}" srcOrd="18" destOrd="0" presId="urn:microsoft.com/office/officeart/2005/8/layout/cycle8"/>
    <dgm:cxn modelId="{7510FABB-8934-4466-B07B-81989F2A0C58}" type="presParOf" srcId="{12F92909-E10D-4BF0-8C07-442C31B475BC}" destId="{D53B3636-607C-4993-8E14-C31035A3D3EF}" srcOrd="19"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D6F76D5-60AB-48B2-ADD5-A102CB1F38D5}" type="doc">
      <dgm:prSet loTypeId="urn:microsoft.com/office/officeart/2005/8/layout/cycle8" loCatId="cycle" qsTypeId="urn:microsoft.com/office/officeart/2005/8/quickstyle/simple1#12" qsCatId="simple" csTypeId="urn:microsoft.com/office/officeart/2005/8/colors/accent1_2#8" csCatId="accent1" phldr="1"/>
      <dgm:spPr/>
      <dgm:t>
        <a:bodyPr/>
        <a:lstStyle/>
        <a:p>
          <a:endParaRPr lang="en-US"/>
        </a:p>
      </dgm:t>
    </dgm:pt>
    <dgm:pt modelId="{1ADA3494-F578-4BC3-B4D2-3A3DEE9642DF}">
      <dgm:prSet phldrT="[Text]" phldr="0"/>
      <dgm:spPr/>
      <dgm:t>
        <a:bodyPr/>
        <a:lstStyle/>
        <a:p>
          <a:r>
            <a:rPr lang="en-US"/>
            <a:t>Model</a:t>
          </a:r>
        </a:p>
      </dgm:t>
    </dgm:pt>
    <dgm:pt modelId="{87837267-9562-4887-8E08-14C8A0C0FB3F}" type="parTrans" cxnId="{94D7B96D-E501-4D18-8A44-989400DAFA41}">
      <dgm:prSet/>
      <dgm:spPr/>
      <dgm:t>
        <a:bodyPr/>
        <a:lstStyle/>
        <a:p>
          <a:endParaRPr lang="en-US"/>
        </a:p>
      </dgm:t>
    </dgm:pt>
    <dgm:pt modelId="{DC3642E4-5C7A-4F53-BEBA-609F6DCFE779}" type="sibTrans" cxnId="{94D7B96D-E501-4D18-8A44-989400DAFA41}">
      <dgm:prSet/>
      <dgm:spPr/>
      <dgm:t>
        <a:bodyPr/>
        <a:lstStyle/>
        <a:p>
          <a:endParaRPr lang="en-US"/>
        </a:p>
      </dgm:t>
    </dgm:pt>
    <dgm:pt modelId="{C70A1517-E556-4F09-AE44-48967D8B5FEA}">
      <dgm:prSet phldrT="[Text]" phldr="0"/>
      <dgm:spPr/>
      <dgm:t>
        <a:bodyPr/>
        <a:lstStyle/>
        <a:p>
          <a:r>
            <a:rPr lang="en-US"/>
            <a:t>Template</a:t>
          </a:r>
        </a:p>
      </dgm:t>
    </dgm:pt>
    <dgm:pt modelId="{314E1DB4-7094-4E48-BB1E-5CE8A3428B84}" type="parTrans" cxnId="{77F9B2D7-8360-4008-B56F-7AC37B75CBF4}">
      <dgm:prSet/>
      <dgm:spPr/>
      <dgm:t>
        <a:bodyPr/>
        <a:lstStyle/>
        <a:p>
          <a:endParaRPr lang="en-US"/>
        </a:p>
      </dgm:t>
    </dgm:pt>
    <dgm:pt modelId="{96DAA4F7-093E-4F92-9AB0-0E35D9EC5E62}" type="sibTrans" cxnId="{77F9B2D7-8360-4008-B56F-7AC37B75CBF4}">
      <dgm:prSet/>
      <dgm:spPr/>
      <dgm:t>
        <a:bodyPr/>
        <a:lstStyle/>
        <a:p>
          <a:endParaRPr lang="en-US"/>
        </a:p>
      </dgm:t>
    </dgm:pt>
    <dgm:pt modelId="{7E074A12-A7F4-4751-B471-6971E4CC9D62}">
      <dgm:prSet phldrT="[Text]" phldr="0"/>
      <dgm:spPr/>
      <dgm:t>
        <a:bodyPr/>
        <a:lstStyle/>
        <a:p>
          <a:r>
            <a:rPr lang="en-US"/>
            <a:t>HTML Page</a:t>
          </a:r>
        </a:p>
      </dgm:t>
    </dgm:pt>
    <dgm:pt modelId="{95CABAD5-3369-4BC1-BBCA-842F0EBC78D7}" type="parTrans" cxnId="{A291942D-5E5A-4C14-844D-D7E70B639FB5}">
      <dgm:prSet/>
      <dgm:spPr/>
      <dgm:t>
        <a:bodyPr/>
        <a:lstStyle/>
        <a:p>
          <a:endParaRPr lang="en-US"/>
        </a:p>
      </dgm:t>
    </dgm:pt>
    <dgm:pt modelId="{2432F3D0-2F20-4206-9431-346FF925522F}" type="sibTrans" cxnId="{A291942D-5E5A-4C14-844D-D7E70B639FB5}">
      <dgm:prSet/>
      <dgm:spPr/>
      <dgm:t>
        <a:bodyPr/>
        <a:lstStyle/>
        <a:p>
          <a:endParaRPr lang="en-US"/>
        </a:p>
      </dgm:t>
    </dgm:pt>
    <dgm:pt modelId="{71465958-F6C1-4B7E-8666-765FDA3C7625}">
      <dgm:prSet phldrT="[Text]" phldr="0"/>
      <dgm:spPr/>
      <dgm:t>
        <a:bodyPr/>
        <a:lstStyle/>
        <a:p>
          <a:r>
            <a:rPr lang="en-US"/>
            <a:t>Form/Link</a:t>
          </a:r>
        </a:p>
      </dgm:t>
    </dgm:pt>
    <dgm:pt modelId="{606082E0-C65A-4982-AAC5-BF7AEF20D80A}" type="parTrans" cxnId="{ED2DE7CD-A5F0-49FE-A912-D94DB6167CCA}">
      <dgm:prSet/>
      <dgm:spPr/>
      <dgm:t>
        <a:bodyPr/>
        <a:lstStyle/>
        <a:p>
          <a:endParaRPr lang="en-US"/>
        </a:p>
      </dgm:t>
    </dgm:pt>
    <dgm:pt modelId="{47030192-E83D-4991-A754-8C1D6EB4D555}" type="sibTrans" cxnId="{ED2DE7CD-A5F0-49FE-A912-D94DB6167CCA}">
      <dgm:prSet/>
      <dgm:spPr/>
      <dgm:t>
        <a:bodyPr/>
        <a:lstStyle/>
        <a:p>
          <a:endParaRPr lang="en-US"/>
        </a:p>
      </dgm:t>
    </dgm:pt>
    <dgm:pt modelId="{12F92909-E10D-4BF0-8C07-442C31B475BC}" type="pres">
      <dgm:prSet presAssocID="{DD6F76D5-60AB-48B2-ADD5-A102CB1F38D5}" presName="compositeShape" presStyleCnt="0">
        <dgm:presLayoutVars>
          <dgm:chMax val="7"/>
          <dgm:dir/>
          <dgm:resizeHandles val="exact"/>
        </dgm:presLayoutVars>
      </dgm:prSet>
      <dgm:spPr/>
    </dgm:pt>
    <dgm:pt modelId="{8DB095E3-B149-4B67-89C9-9001ADDBB41C}" type="pres">
      <dgm:prSet presAssocID="{DD6F76D5-60AB-48B2-ADD5-A102CB1F38D5}" presName="wedge1" presStyleLbl="node1" presStyleIdx="0" presStyleCnt="4"/>
      <dgm:spPr/>
    </dgm:pt>
    <dgm:pt modelId="{320AE54D-FBAA-4D60-A039-1724A48CB283}" type="pres">
      <dgm:prSet presAssocID="{DD6F76D5-60AB-48B2-ADD5-A102CB1F38D5}" presName="dummy1a" presStyleCnt="0"/>
      <dgm:spPr/>
    </dgm:pt>
    <dgm:pt modelId="{3029BC2C-FF37-40B3-BB95-5BC7516B15BC}" type="pres">
      <dgm:prSet presAssocID="{DD6F76D5-60AB-48B2-ADD5-A102CB1F38D5}" presName="dummy1b" presStyleCnt="0"/>
      <dgm:spPr/>
    </dgm:pt>
    <dgm:pt modelId="{D6CAEB5C-D5E6-487D-A3AD-03F27E75159B}" type="pres">
      <dgm:prSet presAssocID="{DD6F76D5-60AB-48B2-ADD5-A102CB1F38D5}" presName="wedge1Tx" presStyleLbl="node1" presStyleIdx="0" presStyleCnt="4">
        <dgm:presLayoutVars>
          <dgm:chMax val="0"/>
          <dgm:chPref val="0"/>
          <dgm:bulletEnabled val="1"/>
        </dgm:presLayoutVars>
      </dgm:prSet>
      <dgm:spPr/>
    </dgm:pt>
    <dgm:pt modelId="{32D3BE4D-1D2D-419A-A998-4E9426F31976}" type="pres">
      <dgm:prSet presAssocID="{DD6F76D5-60AB-48B2-ADD5-A102CB1F38D5}" presName="wedge2" presStyleLbl="node1" presStyleIdx="1" presStyleCnt="4"/>
      <dgm:spPr/>
    </dgm:pt>
    <dgm:pt modelId="{0FF0B438-6773-430B-B998-AE72CA13D064}" type="pres">
      <dgm:prSet presAssocID="{DD6F76D5-60AB-48B2-ADD5-A102CB1F38D5}" presName="dummy2a" presStyleCnt="0"/>
      <dgm:spPr/>
    </dgm:pt>
    <dgm:pt modelId="{F6D2A23E-C84C-4F00-8E4B-E032A1F69F4B}" type="pres">
      <dgm:prSet presAssocID="{DD6F76D5-60AB-48B2-ADD5-A102CB1F38D5}" presName="dummy2b" presStyleCnt="0"/>
      <dgm:spPr/>
    </dgm:pt>
    <dgm:pt modelId="{2EFE6CF1-1BE2-4D3E-843C-74E19A830657}" type="pres">
      <dgm:prSet presAssocID="{DD6F76D5-60AB-48B2-ADD5-A102CB1F38D5}" presName="wedge2Tx" presStyleLbl="node1" presStyleIdx="1" presStyleCnt="4">
        <dgm:presLayoutVars>
          <dgm:chMax val="0"/>
          <dgm:chPref val="0"/>
          <dgm:bulletEnabled val="1"/>
        </dgm:presLayoutVars>
      </dgm:prSet>
      <dgm:spPr/>
    </dgm:pt>
    <dgm:pt modelId="{A15EF244-BB69-47E9-89BD-C0EDFE16F313}" type="pres">
      <dgm:prSet presAssocID="{DD6F76D5-60AB-48B2-ADD5-A102CB1F38D5}" presName="wedge3" presStyleLbl="node1" presStyleIdx="2" presStyleCnt="4"/>
      <dgm:spPr/>
    </dgm:pt>
    <dgm:pt modelId="{F71CC03F-2569-47F3-BC97-869F255BDA99}" type="pres">
      <dgm:prSet presAssocID="{DD6F76D5-60AB-48B2-ADD5-A102CB1F38D5}" presName="dummy3a" presStyleCnt="0"/>
      <dgm:spPr/>
    </dgm:pt>
    <dgm:pt modelId="{7418F7FA-4FB9-4301-A0FB-73481C4DF6AA}" type="pres">
      <dgm:prSet presAssocID="{DD6F76D5-60AB-48B2-ADD5-A102CB1F38D5}" presName="dummy3b" presStyleCnt="0"/>
      <dgm:spPr/>
    </dgm:pt>
    <dgm:pt modelId="{0608315E-65BB-4AEE-8FBF-045C66A244E7}" type="pres">
      <dgm:prSet presAssocID="{DD6F76D5-60AB-48B2-ADD5-A102CB1F38D5}" presName="wedge3Tx" presStyleLbl="node1" presStyleIdx="2" presStyleCnt="4">
        <dgm:presLayoutVars>
          <dgm:chMax val="0"/>
          <dgm:chPref val="0"/>
          <dgm:bulletEnabled val="1"/>
        </dgm:presLayoutVars>
      </dgm:prSet>
      <dgm:spPr/>
    </dgm:pt>
    <dgm:pt modelId="{1CEEB211-E081-45DE-B60D-D8FA700A770C}" type="pres">
      <dgm:prSet presAssocID="{DD6F76D5-60AB-48B2-ADD5-A102CB1F38D5}" presName="wedge4" presStyleLbl="node1" presStyleIdx="3" presStyleCnt="4"/>
      <dgm:spPr/>
    </dgm:pt>
    <dgm:pt modelId="{97BC681F-FDCF-4DCD-8AB4-60A770FAC2BB}" type="pres">
      <dgm:prSet presAssocID="{DD6F76D5-60AB-48B2-ADD5-A102CB1F38D5}" presName="dummy4a" presStyleCnt="0"/>
      <dgm:spPr/>
    </dgm:pt>
    <dgm:pt modelId="{81AAA093-EBD9-4C16-A115-894CD5BDA4B2}" type="pres">
      <dgm:prSet presAssocID="{DD6F76D5-60AB-48B2-ADD5-A102CB1F38D5}" presName="dummy4b" presStyleCnt="0"/>
      <dgm:spPr/>
    </dgm:pt>
    <dgm:pt modelId="{52A86712-BA5F-473B-B6AF-85650D00EFEE}" type="pres">
      <dgm:prSet presAssocID="{DD6F76D5-60AB-48B2-ADD5-A102CB1F38D5}" presName="wedge4Tx" presStyleLbl="node1" presStyleIdx="3" presStyleCnt="4">
        <dgm:presLayoutVars>
          <dgm:chMax val="0"/>
          <dgm:chPref val="0"/>
          <dgm:bulletEnabled val="1"/>
        </dgm:presLayoutVars>
      </dgm:prSet>
      <dgm:spPr/>
    </dgm:pt>
    <dgm:pt modelId="{C648A473-51F6-4538-952F-EA08BE8B9FA9}" type="pres">
      <dgm:prSet presAssocID="{DC3642E4-5C7A-4F53-BEBA-609F6DCFE779}" presName="arrowWedge1" presStyleLbl="fgSibTrans2D1" presStyleIdx="0" presStyleCnt="4"/>
      <dgm:spPr/>
    </dgm:pt>
    <dgm:pt modelId="{50BE7951-CE43-48EF-9BFD-88DFAEA4E50B}" type="pres">
      <dgm:prSet presAssocID="{96DAA4F7-093E-4F92-9AB0-0E35D9EC5E62}" presName="arrowWedge2" presStyleLbl="fgSibTrans2D1" presStyleIdx="1" presStyleCnt="4"/>
      <dgm:spPr/>
    </dgm:pt>
    <dgm:pt modelId="{ECE28FBA-AC8F-4AF4-8F77-81589223B760}" type="pres">
      <dgm:prSet presAssocID="{2432F3D0-2F20-4206-9431-346FF925522F}" presName="arrowWedge3" presStyleLbl="fgSibTrans2D1" presStyleIdx="2" presStyleCnt="4"/>
      <dgm:spPr/>
    </dgm:pt>
    <dgm:pt modelId="{DB1A6C7D-B51A-45BA-A17D-105CFA0155B8}" type="pres">
      <dgm:prSet presAssocID="{47030192-E83D-4991-A754-8C1D6EB4D555}" presName="arrowWedge4" presStyleLbl="fgSibTrans2D1" presStyleIdx="3" presStyleCnt="4"/>
      <dgm:spPr/>
    </dgm:pt>
  </dgm:ptLst>
  <dgm:cxnLst>
    <dgm:cxn modelId="{D4979E29-ACC1-469D-AC5D-FA641E9AEE50}" type="presOf" srcId="{C70A1517-E556-4F09-AE44-48967D8B5FEA}" destId="{32D3BE4D-1D2D-419A-A998-4E9426F31976}" srcOrd="0" destOrd="0" presId="urn:microsoft.com/office/officeart/2005/8/layout/cycle8"/>
    <dgm:cxn modelId="{A291942D-5E5A-4C14-844D-D7E70B639FB5}" srcId="{DD6F76D5-60AB-48B2-ADD5-A102CB1F38D5}" destId="{7E074A12-A7F4-4751-B471-6971E4CC9D62}" srcOrd="2" destOrd="0" parTransId="{95CABAD5-3369-4BC1-BBCA-842F0EBC78D7}" sibTransId="{2432F3D0-2F20-4206-9431-346FF925522F}"/>
    <dgm:cxn modelId="{0B986F52-CF87-4029-AD7D-A451EB4764DA}" type="presOf" srcId="{7E074A12-A7F4-4751-B471-6971E4CC9D62}" destId="{A15EF244-BB69-47E9-89BD-C0EDFE16F313}" srcOrd="0" destOrd="0" presId="urn:microsoft.com/office/officeart/2005/8/layout/cycle8"/>
    <dgm:cxn modelId="{9424FB5C-26C5-4F1A-A00F-CBB19D347B06}" type="presOf" srcId="{1ADA3494-F578-4BC3-B4D2-3A3DEE9642DF}" destId="{D6CAEB5C-D5E6-487D-A3AD-03F27E75159B}" srcOrd="1" destOrd="0" presId="urn:microsoft.com/office/officeart/2005/8/layout/cycle8"/>
    <dgm:cxn modelId="{571BC660-3605-4D97-89EF-9BBC8D24EFD6}" type="presOf" srcId="{C70A1517-E556-4F09-AE44-48967D8B5FEA}" destId="{2EFE6CF1-1BE2-4D3E-843C-74E19A830657}" srcOrd="1" destOrd="0" presId="urn:microsoft.com/office/officeart/2005/8/layout/cycle8"/>
    <dgm:cxn modelId="{94D7B96D-E501-4D18-8A44-989400DAFA41}" srcId="{DD6F76D5-60AB-48B2-ADD5-A102CB1F38D5}" destId="{1ADA3494-F578-4BC3-B4D2-3A3DEE9642DF}" srcOrd="0" destOrd="0" parTransId="{87837267-9562-4887-8E08-14C8A0C0FB3F}" sibTransId="{DC3642E4-5C7A-4F53-BEBA-609F6DCFE779}"/>
    <dgm:cxn modelId="{0B96547B-7309-47E6-BD1C-66DE666AF631}" type="presOf" srcId="{7E074A12-A7F4-4751-B471-6971E4CC9D62}" destId="{0608315E-65BB-4AEE-8FBF-045C66A244E7}" srcOrd="1" destOrd="0" presId="urn:microsoft.com/office/officeart/2005/8/layout/cycle8"/>
    <dgm:cxn modelId="{A5ED217C-B60C-468F-B1CB-26460FF13A7D}" type="presOf" srcId="{1ADA3494-F578-4BC3-B4D2-3A3DEE9642DF}" destId="{8DB095E3-B149-4B67-89C9-9001ADDBB41C}" srcOrd="0" destOrd="0" presId="urn:microsoft.com/office/officeart/2005/8/layout/cycle8"/>
    <dgm:cxn modelId="{1CAD2591-A66B-4EDC-8C88-F77559E8D172}" type="presOf" srcId="{71465958-F6C1-4B7E-8666-765FDA3C7625}" destId="{52A86712-BA5F-473B-B6AF-85650D00EFEE}" srcOrd="1" destOrd="0" presId="urn:microsoft.com/office/officeart/2005/8/layout/cycle8"/>
    <dgm:cxn modelId="{FDBC1CBE-22CB-4147-AF57-59DBBF071BE3}" type="presOf" srcId="{71465958-F6C1-4B7E-8666-765FDA3C7625}" destId="{1CEEB211-E081-45DE-B60D-D8FA700A770C}" srcOrd="0" destOrd="0" presId="urn:microsoft.com/office/officeart/2005/8/layout/cycle8"/>
    <dgm:cxn modelId="{1CAD78CA-981B-4B3E-9501-FE73E72797A1}" type="presOf" srcId="{DD6F76D5-60AB-48B2-ADD5-A102CB1F38D5}" destId="{12F92909-E10D-4BF0-8C07-442C31B475BC}" srcOrd="0" destOrd="0" presId="urn:microsoft.com/office/officeart/2005/8/layout/cycle8"/>
    <dgm:cxn modelId="{ED2DE7CD-A5F0-49FE-A912-D94DB6167CCA}" srcId="{DD6F76D5-60AB-48B2-ADD5-A102CB1F38D5}" destId="{71465958-F6C1-4B7E-8666-765FDA3C7625}" srcOrd="3" destOrd="0" parTransId="{606082E0-C65A-4982-AAC5-BF7AEF20D80A}" sibTransId="{47030192-E83D-4991-A754-8C1D6EB4D555}"/>
    <dgm:cxn modelId="{77F9B2D7-8360-4008-B56F-7AC37B75CBF4}" srcId="{DD6F76D5-60AB-48B2-ADD5-A102CB1F38D5}" destId="{C70A1517-E556-4F09-AE44-48967D8B5FEA}" srcOrd="1" destOrd="0" parTransId="{314E1DB4-7094-4E48-BB1E-5CE8A3428B84}" sibTransId="{96DAA4F7-093E-4F92-9AB0-0E35D9EC5E62}"/>
    <dgm:cxn modelId="{63A06D1D-208F-48AF-8BDA-B43E3128733C}" type="presParOf" srcId="{12F92909-E10D-4BF0-8C07-442C31B475BC}" destId="{8DB095E3-B149-4B67-89C9-9001ADDBB41C}" srcOrd="0" destOrd="0" presId="urn:microsoft.com/office/officeart/2005/8/layout/cycle8"/>
    <dgm:cxn modelId="{617AC593-C672-4AD3-8279-6BB50BBB8036}" type="presParOf" srcId="{12F92909-E10D-4BF0-8C07-442C31B475BC}" destId="{320AE54D-FBAA-4D60-A039-1724A48CB283}" srcOrd="1" destOrd="0" presId="urn:microsoft.com/office/officeart/2005/8/layout/cycle8"/>
    <dgm:cxn modelId="{0EFE3D13-6E13-4E14-A8E7-0977E4B1D83D}" type="presParOf" srcId="{12F92909-E10D-4BF0-8C07-442C31B475BC}" destId="{3029BC2C-FF37-40B3-BB95-5BC7516B15BC}" srcOrd="2" destOrd="0" presId="urn:microsoft.com/office/officeart/2005/8/layout/cycle8"/>
    <dgm:cxn modelId="{809E4BF9-76D2-4742-AC81-9DC78D6EE18A}" type="presParOf" srcId="{12F92909-E10D-4BF0-8C07-442C31B475BC}" destId="{D6CAEB5C-D5E6-487D-A3AD-03F27E75159B}" srcOrd="3" destOrd="0" presId="urn:microsoft.com/office/officeart/2005/8/layout/cycle8"/>
    <dgm:cxn modelId="{A4C120F5-70E8-4356-98D9-90562121E5FD}" type="presParOf" srcId="{12F92909-E10D-4BF0-8C07-442C31B475BC}" destId="{32D3BE4D-1D2D-419A-A998-4E9426F31976}" srcOrd="4" destOrd="0" presId="urn:microsoft.com/office/officeart/2005/8/layout/cycle8"/>
    <dgm:cxn modelId="{0EADEB8C-70F1-47CD-B686-E7767FC25B03}" type="presParOf" srcId="{12F92909-E10D-4BF0-8C07-442C31B475BC}" destId="{0FF0B438-6773-430B-B998-AE72CA13D064}" srcOrd="5" destOrd="0" presId="urn:microsoft.com/office/officeart/2005/8/layout/cycle8"/>
    <dgm:cxn modelId="{525829EE-A341-41E9-B55F-F5006244AEBF}" type="presParOf" srcId="{12F92909-E10D-4BF0-8C07-442C31B475BC}" destId="{F6D2A23E-C84C-4F00-8E4B-E032A1F69F4B}" srcOrd="6" destOrd="0" presId="urn:microsoft.com/office/officeart/2005/8/layout/cycle8"/>
    <dgm:cxn modelId="{3434CA82-DA50-431C-AEBA-B28C0F91A50A}" type="presParOf" srcId="{12F92909-E10D-4BF0-8C07-442C31B475BC}" destId="{2EFE6CF1-1BE2-4D3E-843C-74E19A830657}" srcOrd="7" destOrd="0" presId="urn:microsoft.com/office/officeart/2005/8/layout/cycle8"/>
    <dgm:cxn modelId="{3FB6C31C-FBE5-4A65-8087-7C69C42811A5}" type="presParOf" srcId="{12F92909-E10D-4BF0-8C07-442C31B475BC}" destId="{A15EF244-BB69-47E9-89BD-C0EDFE16F313}" srcOrd="8" destOrd="0" presId="urn:microsoft.com/office/officeart/2005/8/layout/cycle8"/>
    <dgm:cxn modelId="{E580DE5D-D2F6-46C2-B72B-1C0624C1D31F}" type="presParOf" srcId="{12F92909-E10D-4BF0-8C07-442C31B475BC}" destId="{F71CC03F-2569-47F3-BC97-869F255BDA99}" srcOrd="9" destOrd="0" presId="urn:microsoft.com/office/officeart/2005/8/layout/cycle8"/>
    <dgm:cxn modelId="{C1C544CE-EB39-472A-BFCE-950FEC790C91}" type="presParOf" srcId="{12F92909-E10D-4BF0-8C07-442C31B475BC}" destId="{7418F7FA-4FB9-4301-A0FB-73481C4DF6AA}" srcOrd="10" destOrd="0" presId="urn:microsoft.com/office/officeart/2005/8/layout/cycle8"/>
    <dgm:cxn modelId="{90401B15-388C-4F1C-8E67-BDB0DF16E280}" type="presParOf" srcId="{12F92909-E10D-4BF0-8C07-442C31B475BC}" destId="{0608315E-65BB-4AEE-8FBF-045C66A244E7}" srcOrd="11" destOrd="0" presId="urn:microsoft.com/office/officeart/2005/8/layout/cycle8"/>
    <dgm:cxn modelId="{49325D51-6F86-41E9-9972-74D0667CD2F2}" type="presParOf" srcId="{12F92909-E10D-4BF0-8C07-442C31B475BC}" destId="{1CEEB211-E081-45DE-B60D-D8FA700A770C}" srcOrd="12" destOrd="0" presId="urn:microsoft.com/office/officeart/2005/8/layout/cycle8"/>
    <dgm:cxn modelId="{87058DAE-70FD-4223-B2EA-78E4DB0C6D78}" type="presParOf" srcId="{12F92909-E10D-4BF0-8C07-442C31B475BC}" destId="{97BC681F-FDCF-4DCD-8AB4-60A770FAC2BB}" srcOrd="13" destOrd="0" presId="urn:microsoft.com/office/officeart/2005/8/layout/cycle8"/>
    <dgm:cxn modelId="{E6A16B5F-120A-418A-ABAE-14F2482832B0}" type="presParOf" srcId="{12F92909-E10D-4BF0-8C07-442C31B475BC}" destId="{81AAA093-EBD9-4C16-A115-894CD5BDA4B2}" srcOrd="14" destOrd="0" presId="urn:microsoft.com/office/officeart/2005/8/layout/cycle8"/>
    <dgm:cxn modelId="{03901CB7-3A83-466A-91AE-4D76DD9CA3D1}" type="presParOf" srcId="{12F92909-E10D-4BF0-8C07-442C31B475BC}" destId="{52A86712-BA5F-473B-B6AF-85650D00EFEE}" srcOrd="15" destOrd="0" presId="urn:microsoft.com/office/officeart/2005/8/layout/cycle8"/>
    <dgm:cxn modelId="{618E4DB2-1C99-4682-BB4F-E4232B01726F}" type="presParOf" srcId="{12F92909-E10D-4BF0-8C07-442C31B475BC}" destId="{C648A473-51F6-4538-952F-EA08BE8B9FA9}" srcOrd="16" destOrd="0" presId="urn:microsoft.com/office/officeart/2005/8/layout/cycle8"/>
    <dgm:cxn modelId="{C3A45306-B7DC-44F2-A095-DDF7338527F3}" type="presParOf" srcId="{12F92909-E10D-4BF0-8C07-442C31B475BC}" destId="{50BE7951-CE43-48EF-9BFD-88DFAEA4E50B}" srcOrd="17" destOrd="0" presId="urn:microsoft.com/office/officeart/2005/8/layout/cycle8"/>
    <dgm:cxn modelId="{79684C27-0D8D-479D-A83E-9AA769F16B78}" type="presParOf" srcId="{12F92909-E10D-4BF0-8C07-442C31B475BC}" destId="{ECE28FBA-AC8F-4AF4-8F77-81589223B760}" srcOrd="18" destOrd="0" presId="urn:microsoft.com/office/officeart/2005/8/layout/cycle8"/>
    <dgm:cxn modelId="{B45A7E56-B33C-47B4-81A1-0CD90C099511}" type="presParOf" srcId="{12F92909-E10D-4BF0-8C07-442C31B475BC}" destId="{DB1A6C7D-B51A-45BA-A17D-105CFA0155B8}" srcOrd="19"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574ACAA-8BC6-4573-B870-515BB9958A8E}" type="doc">
      <dgm:prSet loTypeId="urn:microsoft.com/office/officeart/2016/7/layout/LinearBlockProcessNumbered" loCatId="process" qsTypeId="urn:microsoft.com/office/officeart/2005/8/quickstyle/simple1#22" qsCatId="simple" csTypeId="urn:microsoft.com/office/officeart/2005/8/colors/accent1_2#22" csCatId="accent1" phldr="1"/>
      <dgm:spPr/>
      <dgm:t>
        <a:bodyPr/>
        <a:lstStyle/>
        <a:p>
          <a:endParaRPr lang="en-US"/>
        </a:p>
      </dgm:t>
    </dgm:pt>
    <dgm:pt modelId="{668DB044-BE8B-4538-A6EC-D8E36C5921C4}">
      <dgm:prSet/>
      <dgm:spPr>
        <a:solidFill>
          <a:srgbClr val="9FA597"/>
        </a:solidFill>
        <a:ln>
          <a:noFill/>
        </a:ln>
      </dgm:spPr>
      <dgm:t>
        <a:bodyPr/>
        <a:lstStyle/>
        <a:p>
          <a:r>
            <a:rPr lang="en-US" i="1"/>
            <a:t>Change Development Approach</a:t>
          </a:r>
          <a:r>
            <a:rPr lang="en-US"/>
            <a:t> </a:t>
          </a:r>
        </a:p>
      </dgm:t>
    </dgm:pt>
    <dgm:pt modelId="{DAABBC38-D894-4044-AF0D-915886D8CB89}" type="parTrans" cxnId="{6092DDA3-163E-4A87-9B26-315ADA2446E3}">
      <dgm:prSet/>
      <dgm:spPr/>
      <dgm:t>
        <a:bodyPr/>
        <a:lstStyle/>
        <a:p>
          <a:endParaRPr lang="en-US"/>
        </a:p>
      </dgm:t>
    </dgm:pt>
    <dgm:pt modelId="{7A23D7F0-76BE-4E93-BAA7-F308AE69AB0F}" type="sibTrans" cxnId="{6092DDA3-163E-4A87-9B26-315ADA2446E3}">
      <dgm:prSet phldrT="01" phldr="0"/>
      <dgm:spPr/>
      <dgm:t>
        <a:bodyPr/>
        <a:lstStyle/>
        <a:p>
          <a:r>
            <a:rPr lang="en-US"/>
            <a:t>01</a:t>
          </a:r>
        </a:p>
      </dgm:t>
    </dgm:pt>
    <dgm:pt modelId="{7D1B616C-D57F-4A0F-AD01-9B4735706CD7}">
      <dgm:prSet/>
      <dgm:spPr>
        <a:solidFill>
          <a:schemeClr val="accent2">
            <a:lumMod val="60000"/>
            <a:lumOff val="40000"/>
          </a:schemeClr>
        </a:solidFill>
        <a:ln>
          <a:noFill/>
        </a:ln>
      </dgm:spPr>
      <dgm:t>
        <a:bodyPr/>
        <a:lstStyle/>
        <a:p>
          <a:r>
            <a:rPr lang="en-US" i="1"/>
            <a:t>Clearly Defined Deadlines</a:t>
          </a:r>
          <a:r>
            <a:rPr lang="en-US"/>
            <a:t> </a:t>
          </a:r>
        </a:p>
      </dgm:t>
    </dgm:pt>
    <dgm:pt modelId="{C5C55ACB-F62C-4646-8251-83D6E3A5E24C}" type="parTrans" cxnId="{C3FE9B2D-2325-4E4F-85B7-23AB52CB073D}">
      <dgm:prSet/>
      <dgm:spPr/>
      <dgm:t>
        <a:bodyPr/>
        <a:lstStyle/>
        <a:p>
          <a:endParaRPr lang="en-US"/>
        </a:p>
      </dgm:t>
    </dgm:pt>
    <dgm:pt modelId="{A2E13337-FC5F-47C8-9403-4B01C63FDC3C}" type="sibTrans" cxnId="{C3FE9B2D-2325-4E4F-85B7-23AB52CB073D}">
      <dgm:prSet phldrT="02" phldr="0"/>
      <dgm:spPr/>
      <dgm:t>
        <a:bodyPr/>
        <a:lstStyle/>
        <a:p>
          <a:r>
            <a:rPr lang="en-US"/>
            <a:t>02</a:t>
          </a:r>
        </a:p>
      </dgm:t>
    </dgm:pt>
    <dgm:pt modelId="{B0B4C732-4648-4E08-9BA5-0C1C05296972}">
      <dgm:prSet/>
      <dgm:spPr>
        <a:solidFill>
          <a:schemeClr val="accent3">
            <a:lumMod val="60000"/>
            <a:lumOff val="40000"/>
          </a:schemeClr>
        </a:solidFill>
        <a:ln>
          <a:noFill/>
        </a:ln>
      </dgm:spPr>
      <dgm:t>
        <a:bodyPr/>
        <a:lstStyle/>
        <a:p>
          <a:r>
            <a:rPr lang="en-US" i="1"/>
            <a:t>Stronger Communication and Increased Availability</a:t>
          </a:r>
          <a:r>
            <a:rPr lang="en-US"/>
            <a:t> </a:t>
          </a:r>
        </a:p>
      </dgm:t>
    </dgm:pt>
    <dgm:pt modelId="{0D6BE171-3D7F-4A71-A7B2-CB4D644743D3}" type="parTrans" cxnId="{CCB4B363-26BD-4B85-8B3D-4459574E9DEB}">
      <dgm:prSet/>
      <dgm:spPr/>
      <dgm:t>
        <a:bodyPr/>
        <a:lstStyle/>
        <a:p>
          <a:endParaRPr lang="en-US"/>
        </a:p>
      </dgm:t>
    </dgm:pt>
    <dgm:pt modelId="{D7525EAC-CF47-4106-B7A2-654C3679385E}" type="sibTrans" cxnId="{CCB4B363-26BD-4B85-8B3D-4459574E9DEB}">
      <dgm:prSet phldrT="03" phldr="0"/>
      <dgm:spPr/>
      <dgm:t>
        <a:bodyPr/>
        <a:lstStyle/>
        <a:p>
          <a:r>
            <a:rPr lang="en-US"/>
            <a:t>03</a:t>
          </a:r>
        </a:p>
      </dgm:t>
    </dgm:pt>
    <dgm:pt modelId="{E83DA484-8F6E-4763-BF13-FA81F762DF15}">
      <dgm:prSet/>
      <dgm:spPr>
        <a:solidFill>
          <a:schemeClr val="accent5">
            <a:lumMod val="60000"/>
            <a:lumOff val="40000"/>
          </a:schemeClr>
        </a:solidFill>
        <a:ln>
          <a:noFill/>
        </a:ln>
      </dgm:spPr>
      <dgm:t>
        <a:bodyPr/>
        <a:lstStyle/>
        <a:p>
          <a:r>
            <a:rPr lang="en-US" i="1"/>
            <a:t>Pull Requests Before Merging Into Main</a:t>
          </a:r>
          <a:r>
            <a:rPr lang="en-US"/>
            <a:t> </a:t>
          </a:r>
        </a:p>
      </dgm:t>
    </dgm:pt>
    <dgm:pt modelId="{CB847D54-368B-46C2-BFFD-34E37AAA2C3A}" type="parTrans" cxnId="{E330AF7F-145F-42B6-AC22-AC14ED448781}">
      <dgm:prSet/>
      <dgm:spPr/>
      <dgm:t>
        <a:bodyPr/>
        <a:lstStyle/>
        <a:p>
          <a:endParaRPr lang="en-US"/>
        </a:p>
      </dgm:t>
    </dgm:pt>
    <dgm:pt modelId="{191D8ECB-9F98-4833-8EBE-CF0B1D416A25}" type="sibTrans" cxnId="{E330AF7F-145F-42B6-AC22-AC14ED448781}">
      <dgm:prSet phldrT="04" phldr="0"/>
      <dgm:spPr/>
      <dgm:t>
        <a:bodyPr/>
        <a:lstStyle/>
        <a:p>
          <a:r>
            <a:rPr lang="en-US"/>
            <a:t>04</a:t>
          </a:r>
        </a:p>
      </dgm:t>
    </dgm:pt>
    <dgm:pt modelId="{D52FB3D6-8FEA-45CF-A425-5AA5D0F54095}">
      <dgm:prSet/>
      <dgm:spPr>
        <a:solidFill>
          <a:schemeClr val="accent4">
            <a:lumMod val="60000"/>
            <a:lumOff val="40000"/>
          </a:schemeClr>
        </a:solidFill>
        <a:ln>
          <a:noFill/>
        </a:ln>
      </dgm:spPr>
      <dgm:t>
        <a:bodyPr/>
        <a:lstStyle/>
        <a:p>
          <a:r>
            <a:rPr lang="en-US" i="1"/>
            <a:t>Breaking Down Functional Requirements</a:t>
          </a:r>
        </a:p>
      </dgm:t>
    </dgm:pt>
    <dgm:pt modelId="{D80350A5-2623-41E3-A329-0F8B58EAD796}" type="parTrans" cxnId="{C053122B-4FE7-2D47-A81D-5677F204A7A5}">
      <dgm:prSet/>
      <dgm:spPr/>
      <dgm:t>
        <a:bodyPr/>
        <a:lstStyle/>
        <a:p>
          <a:endParaRPr lang="en-US"/>
        </a:p>
      </dgm:t>
    </dgm:pt>
    <dgm:pt modelId="{63DC5F81-F533-4D65-B892-65271125DCCC}" type="sibTrans" cxnId="{C053122B-4FE7-2D47-A81D-5677F204A7A5}">
      <dgm:prSet phldrT="05" phldr="0"/>
      <dgm:spPr/>
      <dgm:t>
        <a:bodyPr/>
        <a:lstStyle/>
        <a:p>
          <a:r>
            <a:rPr lang="en-US"/>
            <a:t>05</a:t>
          </a:r>
        </a:p>
      </dgm:t>
    </dgm:pt>
    <dgm:pt modelId="{4B128488-BFBB-438C-A7A3-60A1EE52C454}" type="pres">
      <dgm:prSet presAssocID="{A574ACAA-8BC6-4573-B870-515BB9958A8E}" presName="Name0" presStyleCnt="0">
        <dgm:presLayoutVars>
          <dgm:animLvl val="lvl"/>
          <dgm:resizeHandles val="exact"/>
        </dgm:presLayoutVars>
      </dgm:prSet>
      <dgm:spPr/>
    </dgm:pt>
    <dgm:pt modelId="{8415E166-E5B7-4F7F-9997-F723907F05C8}" type="pres">
      <dgm:prSet presAssocID="{668DB044-BE8B-4538-A6EC-D8E36C5921C4}" presName="compositeNode" presStyleCnt="0">
        <dgm:presLayoutVars>
          <dgm:bulletEnabled val="1"/>
        </dgm:presLayoutVars>
      </dgm:prSet>
      <dgm:spPr/>
    </dgm:pt>
    <dgm:pt modelId="{B78CE825-2282-4AB8-A1E2-825C57C0C970}" type="pres">
      <dgm:prSet presAssocID="{668DB044-BE8B-4538-A6EC-D8E36C5921C4}" presName="bgRect" presStyleLbl="alignNode1" presStyleIdx="0" presStyleCnt="5"/>
      <dgm:spPr/>
    </dgm:pt>
    <dgm:pt modelId="{6D6351B7-5206-444C-B936-1ABFD2AC061D}" type="pres">
      <dgm:prSet presAssocID="{7A23D7F0-76BE-4E93-BAA7-F308AE69AB0F}" presName="sibTransNodeRect" presStyleLbl="alignNode1" presStyleIdx="0" presStyleCnt="5">
        <dgm:presLayoutVars>
          <dgm:chMax val="0"/>
          <dgm:bulletEnabled val="1"/>
        </dgm:presLayoutVars>
      </dgm:prSet>
      <dgm:spPr/>
    </dgm:pt>
    <dgm:pt modelId="{091DD8BE-E756-431A-AB21-FC29DE09BA0A}" type="pres">
      <dgm:prSet presAssocID="{668DB044-BE8B-4538-A6EC-D8E36C5921C4}" presName="nodeRect" presStyleLbl="alignNode1" presStyleIdx="0" presStyleCnt="5">
        <dgm:presLayoutVars>
          <dgm:bulletEnabled val="1"/>
        </dgm:presLayoutVars>
      </dgm:prSet>
      <dgm:spPr/>
    </dgm:pt>
    <dgm:pt modelId="{91852032-3DA5-45AD-9342-1D7E07290755}" type="pres">
      <dgm:prSet presAssocID="{7A23D7F0-76BE-4E93-BAA7-F308AE69AB0F}" presName="sibTrans" presStyleCnt="0"/>
      <dgm:spPr/>
    </dgm:pt>
    <dgm:pt modelId="{4BDD577A-3552-4D59-BF89-DD4502261633}" type="pres">
      <dgm:prSet presAssocID="{7D1B616C-D57F-4A0F-AD01-9B4735706CD7}" presName="compositeNode" presStyleCnt="0">
        <dgm:presLayoutVars>
          <dgm:bulletEnabled val="1"/>
        </dgm:presLayoutVars>
      </dgm:prSet>
      <dgm:spPr/>
    </dgm:pt>
    <dgm:pt modelId="{0813EA4F-5C26-4A24-BFF5-33E01B6D1410}" type="pres">
      <dgm:prSet presAssocID="{7D1B616C-D57F-4A0F-AD01-9B4735706CD7}" presName="bgRect" presStyleLbl="alignNode1" presStyleIdx="1" presStyleCnt="5"/>
      <dgm:spPr/>
    </dgm:pt>
    <dgm:pt modelId="{D29C5A70-9E2F-4282-AB9B-D5DE1F9729F0}" type="pres">
      <dgm:prSet presAssocID="{A2E13337-FC5F-47C8-9403-4B01C63FDC3C}" presName="sibTransNodeRect" presStyleLbl="alignNode1" presStyleIdx="1" presStyleCnt="5">
        <dgm:presLayoutVars>
          <dgm:chMax val="0"/>
          <dgm:bulletEnabled val="1"/>
        </dgm:presLayoutVars>
      </dgm:prSet>
      <dgm:spPr/>
    </dgm:pt>
    <dgm:pt modelId="{F3751D21-23E2-43B5-BEC4-C7B637A5DF82}" type="pres">
      <dgm:prSet presAssocID="{7D1B616C-D57F-4A0F-AD01-9B4735706CD7}" presName="nodeRect" presStyleLbl="alignNode1" presStyleIdx="1" presStyleCnt="5">
        <dgm:presLayoutVars>
          <dgm:bulletEnabled val="1"/>
        </dgm:presLayoutVars>
      </dgm:prSet>
      <dgm:spPr/>
    </dgm:pt>
    <dgm:pt modelId="{EB181980-0F45-4995-AC7D-30834573E556}" type="pres">
      <dgm:prSet presAssocID="{A2E13337-FC5F-47C8-9403-4B01C63FDC3C}" presName="sibTrans" presStyleCnt="0"/>
      <dgm:spPr/>
    </dgm:pt>
    <dgm:pt modelId="{9BC882A3-5391-481C-85B5-2D4F8F92D555}" type="pres">
      <dgm:prSet presAssocID="{B0B4C732-4648-4E08-9BA5-0C1C05296972}" presName="compositeNode" presStyleCnt="0">
        <dgm:presLayoutVars>
          <dgm:bulletEnabled val="1"/>
        </dgm:presLayoutVars>
      </dgm:prSet>
      <dgm:spPr/>
    </dgm:pt>
    <dgm:pt modelId="{73A5BC06-41D3-4C57-8890-5F05DBC69924}" type="pres">
      <dgm:prSet presAssocID="{B0B4C732-4648-4E08-9BA5-0C1C05296972}" presName="bgRect" presStyleLbl="alignNode1" presStyleIdx="2" presStyleCnt="5" custLinFactNeighborX="320"/>
      <dgm:spPr/>
    </dgm:pt>
    <dgm:pt modelId="{AE9F78BE-B126-4943-B3B9-4C6F47833736}" type="pres">
      <dgm:prSet presAssocID="{D7525EAC-CF47-4106-B7A2-654C3679385E}" presName="sibTransNodeRect" presStyleLbl="alignNode1" presStyleIdx="2" presStyleCnt="5">
        <dgm:presLayoutVars>
          <dgm:chMax val="0"/>
          <dgm:bulletEnabled val="1"/>
        </dgm:presLayoutVars>
      </dgm:prSet>
      <dgm:spPr/>
    </dgm:pt>
    <dgm:pt modelId="{9104885A-660E-4BF6-8311-B338D89BE41B}" type="pres">
      <dgm:prSet presAssocID="{B0B4C732-4648-4E08-9BA5-0C1C05296972}" presName="nodeRect" presStyleLbl="alignNode1" presStyleIdx="2" presStyleCnt="5">
        <dgm:presLayoutVars>
          <dgm:bulletEnabled val="1"/>
        </dgm:presLayoutVars>
      </dgm:prSet>
      <dgm:spPr/>
    </dgm:pt>
    <dgm:pt modelId="{96C82E78-1C40-4770-9DEA-E868D04B8BDE}" type="pres">
      <dgm:prSet presAssocID="{D7525EAC-CF47-4106-B7A2-654C3679385E}" presName="sibTrans" presStyleCnt="0"/>
      <dgm:spPr/>
    </dgm:pt>
    <dgm:pt modelId="{138DA09E-49A4-444C-B7DE-F239A0B63783}" type="pres">
      <dgm:prSet presAssocID="{E83DA484-8F6E-4763-BF13-FA81F762DF15}" presName="compositeNode" presStyleCnt="0">
        <dgm:presLayoutVars>
          <dgm:bulletEnabled val="1"/>
        </dgm:presLayoutVars>
      </dgm:prSet>
      <dgm:spPr/>
    </dgm:pt>
    <dgm:pt modelId="{6793BD8D-08C1-4B6B-B5B8-FE41189C347F}" type="pres">
      <dgm:prSet presAssocID="{E83DA484-8F6E-4763-BF13-FA81F762DF15}" presName="bgRect" presStyleLbl="alignNode1" presStyleIdx="3" presStyleCnt="5" custLinFactNeighborX="320" custLinFactNeighborY="787"/>
      <dgm:spPr/>
    </dgm:pt>
    <dgm:pt modelId="{B4E64A0D-B142-49A3-B040-9C42AC8BFAEE}" type="pres">
      <dgm:prSet presAssocID="{191D8ECB-9F98-4833-8EBE-CF0B1D416A25}" presName="sibTransNodeRect" presStyleLbl="alignNode1" presStyleIdx="3" presStyleCnt="5">
        <dgm:presLayoutVars>
          <dgm:chMax val="0"/>
          <dgm:bulletEnabled val="1"/>
        </dgm:presLayoutVars>
      </dgm:prSet>
      <dgm:spPr/>
    </dgm:pt>
    <dgm:pt modelId="{4E691CCB-E8F3-440C-9C41-5B73968921AD}" type="pres">
      <dgm:prSet presAssocID="{E83DA484-8F6E-4763-BF13-FA81F762DF15}" presName="nodeRect" presStyleLbl="alignNode1" presStyleIdx="3" presStyleCnt="5">
        <dgm:presLayoutVars>
          <dgm:bulletEnabled val="1"/>
        </dgm:presLayoutVars>
      </dgm:prSet>
      <dgm:spPr/>
    </dgm:pt>
    <dgm:pt modelId="{3BE4A4C6-5DCC-4BF2-BB92-766075FF6089}" type="pres">
      <dgm:prSet presAssocID="{191D8ECB-9F98-4833-8EBE-CF0B1D416A25}" presName="sibTrans" presStyleCnt="0"/>
      <dgm:spPr/>
    </dgm:pt>
    <dgm:pt modelId="{AAD2A7AC-CBB8-45A6-B7DF-82A555D85E1C}" type="pres">
      <dgm:prSet presAssocID="{D52FB3D6-8FEA-45CF-A425-5AA5D0F54095}" presName="compositeNode" presStyleCnt="0">
        <dgm:presLayoutVars>
          <dgm:bulletEnabled val="1"/>
        </dgm:presLayoutVars>
      </dgm:prSet>
      <dgm:spPr/>
    </dgm:pt>
    <dgm:pt modelId="{1C106089-4B61-4141-817C-ADBFD627C234}" type="pres">
      <dgm:prSet presAssocID="{D52FB3D6-8FEA-45CF-A425-5AA5D0F54095}" presName="bgRect" presStyleLbl="alignNode1" presStyleIdx="4" presStyleCnt="5" custLinFactNeighborX="320"/>
      <dgm:spPr/>
    </dgm:pt>
    <dgm:pt modelId="{DA895323-D0F4-4842-84C8-93814622C305}" type="pres">
      <dgm:prSet presAssocID="{63DC5F81-F533-4D65-B892-65271125DCCC}" presName="sibTransNodeRect" presStyleLbl="alignNode1" presStyleIdx="4" presStyleCnt="5">
        <dgm:presLayoutVars>
          <dgm:chMax val="0"/>
          <dgm:bulletEnabled val="1"/>
        </dgm:presLayoutVars>
      </dgm:prSet>
      <dgm:spPr/>
    </dgm:pt>
    <dgm:pt modelId="{93A5A718-2ECE-485E-BA54-C99A3BEEF4DC}" type="pres">
      <dgm:prSet presAssocID="{D52FB3D6-8FEA-45CF-A425-5AA5D0F54095}" presName="nodeRect" presStyleLbl="alignNode1" presStyleIdx="4" presStyleCnt="5">
        <dgm:presLayoutVars>
          <dgm:bulletEnabled val="1"/>
        </dgm:presLayoutVars>
      </dgm:prSet>
      <dgm:spPr/>
    </dgm:pt>
  </dgm:ptLst>
  <dgm:cxnLst>
    <dgm:cxn modelId="{70E7F200-8492-429F-A129-F5B7D4BA2D41}" type="presOf" srcId="{668DB044-BE8B-4538-A6EC-D8E36C5921C4}" destId="{B78CE825-2282-4AB8-A1E2-825C57C0C970}" srcOrd="0" destOrd="0" presId="urn:microsoft.com/office/officeart/2016/7/layout/LinearBlockProcessNumbered"/>
    <dgm:cxn modelId="{D114FA12-87B8-46B4-B757-ABAE40312638}" type="presOf" srcId="{E83DA484-8F6E-4763-BF13-FA81F762DF15}" destId="{6793BD8D-08C1-4B6B-B5B8-FE41189C347F}" srcOrd="0" destOrd="0" presId="urn:microsoft.com/office/officeart/2016/7/layout/LinearBlockProcessNumbered"/>
    <dgm:cxn modelId="{C053122B-4FE7-2D47-A81D-5677F204A7A5}" srcId="{A574ACAA-8BC6-4573-B870-515BB9958A8E}" destId="{D52FB3D6-8FEA-45CF-A425-5AA5D0F54095}" srcOrd="4" destOrd="0" parTransId="{D80350A5-2623-41E3-A329-0F8B58EAD796}" sibTransId="{63DC5F81-F533-4D65-B892-65271125DCCC}"/>
    <dgm:cxn modelId="{FC62272D-7721-4CCC-BCA2-F8B2765232A8}" type="presOf" srcId="{A2E13337-FC5F-47C8-9403-4B01C63FDC3C}" destId="{D29C5A70-9E2F-4282-AB9B-D5DE1F9729F0}" srcOrd="0" destOrd="0" presId="urn:microsoft.com/office/officeart/2016/7/layout/LinearBlockProcessNumbered"/>
    <dgm:cxn modelId="{C3FE9B2D-2325-4E4F-85B7-23AB52CB073D}" srcId="{A574ACAA-8BC6-4573-B870-515BB9958A8E}" destId="{7D1B616C-D57F-4A0F-AD01-9B4735706CD7}" srcOrd="1" destOrd="0" parTransId="{C5C55ACB-F62C-4646-8251-83D6E3A5E24C}" sibTransId="{A2E13337-FC5F-47C8-9403-4B01C63FDC3C}"/>
    <dgm:cxn modelId="{2B04D549-966E-41D5-964D-5776B9C31886}" type="presOf" srcId="{7D1B616C-D57F-4A0F-AD01-9B4735706CD7}" destId="{F3751D21-23E2-43B5-BEC4-C7B637A5DF82}" srcOrd="1" destOrd="0" presId="urn:microsoft.com/office/officeart/2016/7/layout/LinearBlockProcessNumbered"/>
    <dgm:cxn modelId="{6CB71853-FA2D-4293-9D91-B2332E0BC603}" type="presOf" srcId="{E83DA484-8F6E-4763-BF13-FA81F762DF15}" destId="{4E691CCB-E8F3-440C-9C41-5B73968921AD}" srcOrd="1" destOrd="0" presId="urn:microsoft.com/office/officeart/2016/7/layout/LinearBlockProcessNumbered"/>
    <dgm:cxn modelId="{CCB4B363-26BD-4B85-8B3D-4459574E9DEB}" srcId="{A574ACAA-8BC6-4573-B870-515BB9958A8E}" destId="{B0B4C732-4648-4E08-9BA5-0C1C05296972}" srcOrd="2" destOrd="0" parTransId="{0D6BE171-3D7F-4A71-A7B2-CB4D644743D3}" sibTransId="{D7525EAC-CF47-4106-B7A2-654C3679385E}"/>
    <dgm:cxn modelId="{3CB7636B-0C91-4237-B406-BB0EC2560D78}" type="presOf" srcId="{668DB044-BE8B-4538-A6EC-D8E36C5921C4}" destId="{091DD8BE-E756-431A-AB21-FC29DE09BA0A}" srcOrd="1" destOrd="0" presId="urn:microsoft.com/office/officeart/2016/7/layout/LinearBlockProcessNumbered"/>
    <dgm:cxn modelId="{E330AF7F-145F-42B6-AC22-AC14ED448781}" srcId="{A574ACAA-8BC6-4573-B870-515BB9958A8E}" destId="{E83DA484-8F6E-4763-BF13-FA81F762DF15}" srcOrd="3" destOrd="0" parTransId="{CB847D54-368B-46C2-BFFD-34E37AAA2C3A}" sibTransId="{191D8ECB-9F98-4833-8EBE-CF0B1D416A25}"/>
    <dgm:cxn modelId="{FFDA818E-2C60-43E7-A5B7-58B05EB76D4D}" type="presOf" srcId="{B0B4C732-4648-4E08-9BA5-0C1C05296972}" destId="{73A5BC06-41D3-4C57-8890-5F05DBC69924}" srcOrd="0" destOrd="0" presId="urn:microsoft.com/office/officeart/2016/7/layout/LinearBlockProcessNumbered"/>
    <dgm:cxn modelId="{CE66BB96-D6CB-4E3A-8192-9ED9071F9F98}" type="presOf" srcId="{A574ACAA-8BC6-4573-B870-515BB9958A8E}" destId="{4B128488-BFBB-438C-A7A3-60A1EE52C454}" srcOrd="0" destOrd="0" presId="urn:microsoft.com/office/officeart/2016/7/layout/LinearBlockProcessNumbered"/>
    <dgm:cxn modelId="{C9E4519F-74DB-074C-83A3-C091AF1AAE2E}" type="presOf" srcId="{D52FB3D6-8FEA-45CF-A425-5AA5D0F54095}" destId="{93A5A718-2ECE-485E-BA54-C99A3BEEF4DC}" srcOrd="1" destOrd="0" presId="urn:microsoft.com/office/officeart/2016/7/layout/LinearBlockProcessNumbered"/>
    <dgm:cxn modelId="{6092DDA3-163E-4A87-9B26-315ADA2446E3}" srcId="{A574ACAA-8BC6-4573-B870-515BB9958A8E}" destId="{668DB044-BE8B-4538-A6EC-D8E36C5921C4}" srcOrd="0" destOrd="0" parTransId="{DAABBC38-D894-4044-AF0D-915886D8CB89}" sibTransId="{7A23D7F0-76BE-4E93-BAA7-F308AE69AB0F}"/>
    <dgm:cxn modelId="{277BFDA8-4EA0-4E4E-BFDB-AE6DFD6D43DE}" type="presOf" srcId="{D52FB3D6-8FEA-45CF-A425-5AA5D0F54095}" destId="{1C106089-4B61-4141-817C-ADBFD627C234}" srcOrd="0" destOrd="0" presId="urn:microsoft.com/office/officeart/2016/7/layout/LinearBlockProcessNumbered"/>
    <dgm:cxn modelId="{66C9E6B0-A106-47D3-8606-B2B1BF4BFADD}" type="presOf" srcId="{D7525EAC-CF47-4106-B7A2-654C3679385E}" destId="{AE9F78BE-B126-4943-B3B9-4C6F47833736}" srcOrd="0" destOrd="0" presId="urn:microsoft.com/office/officeart/2016/7/layout/LinearBlockProcessNumbered"/>
    <dgm:cxn modelId="{557AEBB9-3668-4CA7-A1B6-D2E058776A27}" type="presOf" srcId="{7D1B616C-D57F-4A0F-AD01-9B4735706CD7}" destId="{0813EA4F-5C26-4A24-BFF5-33E01B6D1410}" srcOrd="0" destOrd="0" presId="urn:microsoft.com/office/officeart/2016/7/layout/LinearBlockProcessNumbered"/>
    <dgm:cxn modelId="{532D3BBB-9060-4B7B-AF32-779C0CE8E2C8}" type="presOf" srcId="{7A23D7F0-76BE-4E93-BAA7-F308AE69AB0F}" destId="{6D6351B7-5206-444C-B936-1ABFD2AC061D}" srcOrd="0" destOrd="0" presId="urn:microsoft.com/office/officeart/2016/7/layout/LinearBlockProcessNumbered"/>
    <dgm:cxn modelId="{2931EED1-B28D-41B1-BEB5-86CD2200B345}" type="presOf" srcId="{B0B4C732-4648-4E08-9BA5-0C1C05296972}" destId="{9104885A-660E-4BF6-8311-B338D89BE41B}" srcOrd="1" destOrd="0" presId="urn:microsoft.com/office/officeart/2016/7/layout/LinearBlockProcessNumbered"/>
    <dgm:cxn modelId="{975C00D7-6DB5-499A-A84A-D4226353B0A0}" type="presOf" srcId="{191D8ECB-9F98-4833-8EBE-CF0B1D416A25}" destId="{B4E64A0D-B142-49A3-B040-9C42AC8BFAEE}" srcOrd="0" destOrd="0" presId="urn:microsoft.com/office/officeart/2016/7/layout/LinearBlockProcessNumbered"/>
    <dgm:cxn modelId="{586AB1F7-F118-7441-9648-9C42425049D0}" type="presOf" srcId="{63DC5F81-F533-4D65-B892-65271125DCCC}" destId="{DA895323-D0F4-4842-84C8-93814622C305}" srcOrd="0" destOrd="0" presId="urn:microsoft.com/office/officeart/2016/7/layout/LinearBlockProcessNumbered"/>
    <dgm:cxn modelId="{0DA7F01A-1BCC-460C-AD16-80577C9256A3}" type="presParOf" srcId="{4B128488-BFBB-438C-A7A3-60A1EE52C454}" destId="{8415E166-E5B7-4F7F-9997-F723907F05C8}" srcOrd="0" destOrd="0" presId="urn:microsoft.com/office/officeart/2016/7/layout/LinearBlockProcessNumbered"/>
    <dgm:cxn modelId="{B9C7A856-7285-4927-BC5F-7852E7451E2F}" type="presParOf" srcId="{8415E166-E5B7-4F7F-9997-F723907F05C8}" destId="{B78CE825-2282-4AB8-A1E2-825C57C0C970}" srcOrd="0" destOrd="0" presId="urn:microsoft.com/office/officeart/2016/7/layout/LinearBlockProcessNumbered"/>
    <dgm:cxn modelId="{221288EF-16D5-4641-A98C-A7FCCE818342}" type="presParOf" srcId="{8415E166-E5B7-4F7F-9997-F723907F05C8}" destId="{6D6351B7-5206-444C-B936-1ABFD2AC061D}" srcOrd="1" destOrd="0" presId="urn:microsoft.com/office/officeart/2016/7/layout/LinearBlockProcessNumbered"/>
    <dgm:cxn modelId="{32B6826F-6C3F-4610-8B90-F4173DC5B5A4}" type="presParOf" srcId="{8415E166-E5B7-4F7F-9997-F723907F05C8}" destId="{091DD8BE-E756-431A-AB21-FC29DE09BA0A}" srcOrd="2" destOrd="0" presId="urn:microsoft.com/office/officeart/2016/7/layout/LinearBlockProcessNumbered"/>
    <dgm:cxn modelId="{64EE8CE4-19F5-440C-87D6-4C2F7A3E6F20}" type="presParOf" srcId="{4B128488-BFBB-438C-A7A3-60A1EE52C454}" destId="{91852032-3DA5-45AD-9342-1D7E07290755}" srcOrd="1" destOrd="0" presId="urn:microsoft.com/office/officeart/2016/7/layout/LinearBlockProcessNumbered"/>
    <dgm:cxn modelId="{D8738A31-35AC-4846-9753-A53D0B985603}" type="presParOf" srcId="{4B128488-BFBB-438C-A7A3-60A1EE52C454}" destId="{4BDD577A-3552-4D59-BF89-DD4502261633}" srcOrd="2" destOrd="0" presId="urn:microsoft.com/office/officeart/2016/7/layout/LinearBlockProcessNumbered"/>
    <dgm:cxn modelId="{434FD1FD-6921-4787-8004-35577363DC5B}" type="presParOf" srcId="{4BDD577A-3552-4D59-BF89-DD4502261633}" destId="{0813EA4F-5C26-4A24-BFF5-33E01B6D1410}" srcOrd="0" destOrd="0" presId="urn:microsoft.com/office/officeart/2016/7/layout/LinearBlockProcessNumbered"/>
    <dgm:cxn modelId="{A99FC40D-89BB-4DE8-8051-6BE3244892B5}" type="presParOf" srcId="{4BDD577A-3552-4D59-BF89-DD4502261633}" destId="{D29C5A70-9E2F-4282-AB9B-D5DE1F9729F0}" srcOrd="1" destOrd="0" presId="urn:microsoft.com/office/officeart/2016/7/layout/LinearBlockProcessNumbered"/>
    <dgm:cxn modelId="{46A39445-2E28-4557-BF4B-6A2B9C49421E}" type="presParOf" srcId="{4BDD577A-3552-4D59-BF89-DD4502261633}" destId="{F3751D21-23E2-43B5-BEC4-C7B637A5DF82}" srcOrd="2" destOrd="0" presId="urn:microsoft.com/office/officeart/2016/7/layout/LinearBlockProcessNumbered"/>
    <dgm:cxn modelId="{C16A9CE1-08F6-42DE-A034-9218CB830C5C}" type="presParOf" srcId="{4B128488-BFBB-438C-A7A3-60A1EE52C454}" destId="{EB181980-0F45-4995-AC7D-30834573E556}" srcOrd="3" destOrd="0" presId="urn:microsoft.com/office/officeart/2016/7/layout/LinearBlockProcessNumbered"/>
    <dgm:cxn modelId="{EBC165C5-D901-43EB-8A54-4DA836A3D92E}" type="presParOf" srcId="{4B128488-BFBB-438C-A7A3-60A1EE52C454}" destId="{9BC882A3-5391-481C-85B5-2D4F8F92D555}" srcOrd="4" destOrd="0" presId="urn:microsoft.com/office/officeart/2016/7/layout/LinearBlockProcessNumbered"/>
    <dgm:cxn modelId="{F8BEA1FD-7AF8-40DF-BDAB-B358C77035C5}" type="presParOf" srcId="{9BC882A3-5391-481C-85B5-2D4F8F92D555}" destId="{73A5BC06-41D3-4C57-8890-5F05DBC69924}" srcOrd="0" destOrd="0" presId="urn:microsoft.com/office/officeart/2016/7/layout/LinearBlockProcessNumbered"/>
    <dgm:cxn modelId="{F4B830C8-AF7D-4945-8D17-36887F8E65B7}" type="presParOf" srcId="{9BC882A3-5391-481C-85B5-2D4F8F92D555}" destId="{AE9F78BE-B126-4943-B3B9-4C6F47833736}" srcOrd="1" destOrd="0" presId="urn:microsoft.com/office/officeart/2016/7/layout/LinearBlockProcessNumbered"/>
    <dgm:cxn modelId="{E2EECD1C-4100-45C2-BAA4-27DCDAF2A000}" type="presParOf" srcId="{9BC882A3-5391-481C-85B5-2D4F8F92D555}" destId="{9104885A-660E-4BF6-8311-B338D89BE41B}" srcOrd="2" destOrd="0" presId="urn:microsoft.com/office/officeart/2016/7/layout/LinearBlockProcessNumbered"/>
    <dgm:cxn modelId="{432D8678-6A08-4B71-A82C-5AA79A737C9F}" type="presParOf" srcId="{4B128488-BFBB-438C-A7A3-60A1EE52C454}" destId="{96C82E78-1C40-4770-9DEA-E868D04B8BDE}" srcOrd="5" destOrd="0" presId="urn:microsoft.com/office/officeart/2016/7/layout/LinearBlockProcessNumbered"/>
    <dgm:cxn modelId="{CBE1D1CB-951C-4C68-A9C6-D1907F21A7B0}" type="presParOf" srcId="{4B128488-BFBB-438C-A7A3-60A1EE52C454}" destId="{138DA09E-49A4-444C-B7DE-F239A0B63783}" srcOrd="6" destOrd="0" presId="urn:microsoft.com/office/officeart/2016/7/layout/LinearBlockProcessNumbered"/>
    <dgm:cxn modelId="{A88F4903-C9A3-48AB-984B-E66E21B70D87}" type="presParOf" srcId="{138DA09E-49A4-444C-B7DE-F239A0B63783}" destId="{6793BD8D-08C1-4B6B-B5B8-FE41189C347F}" srcOrd="0" destOrd="0" presId="urn:microsoft.com/office/officeart/2016/7/layout/LinearBlockProcessNumbered"/>
    <dgm:cxn modelId="{F9646742-571F-40A9-B311-048411752509}" type="presParOf" srcId="{138DA09E-49A4-444C-B7DE-F239A0B63783}" destId="{B4E64A0D-B142-49A3-B040-9C42AC8BFAEE}" srcOrd="1" destOrd="0" presId="urn:microsoft.com/office/officeart/2016/7/layout/LinearBlockProcessNumbered"/>
    <dgm:cxn modelId="{6D5255E6-E4AF-4D7D-9893-85C25DD25956}" type="presParOf" srcId="{138DA09E-49A4-444C-B7DE-F239A0B63783}" destId="{4E691CCB-E8F3-440C-9C41-5B73968921AD}" srcOrd="2" destOrd="0" presId="urn:microsoft.com/office/officeart/2016/7/layout/LinearBlockProcessNumbered"/>
    <dgm:cxn modelId="{2BC83AD5-D3F4-F643-A32F-BAABA1C85536}" type="presParOf" srcId="{4B128488-BFBB-438C-A7A3-60A1EE52C454}" destId="{3BE4A4C6-5DCC-4BF2-BB92-766075FF6089}" srcOrd="7" destOrd="0" presId="urn:microsoft.com/office/officeart/2016/7/layout/LinearBlockProcessNumbered"/>
    <dgm:cxn modelId="{3FDD9039-72E0-554B-84A5-8757C9323BEC}" type="presParOf" srcId="{4B128488-BFBB-438C-A7A3-60A1EE52C454}" destId="{AAD2A7AC-CBB8-45A6-B7DF-82A555D85E1C}" srcOrd="8" destOrd="0" presId="urn:microsoft.com/office/officeart/2016/7/layout/LinearBlockProcessNumbered"/>
    <dgm:cxn modelId="{ED944BD9-249B-3349-9754-ABDB9B64F8B4}" type="presParOf" srcId="{AAD2A7AC-CBB8-45A6-B7DF-82A555D85E1C}" destId="{1C106089-4B61-4141-817C-ADBFD627C234}" srcOrd="0" destOrd="0" presId="urn:microsoft.com/office/officeart/2016/7/layout/LinearBlockProcessNumbered"/>
    <dgm:cxn modelId="{3A410698-D9D3-0140-9C96-1067B88C1BF8}" type="presParOf" srcId="{AAD2A7AC-CBB8-45A6-B7DF-82A555D85E1C}" destId="{DA895323-D0F4-4842-84C8-93814622C305}" srcOrd="1" destOrd="0" presId="urn:microsoft.com/office/officeart/2016/7/layout/LinearBlockProcessNumbered"/>
    <dgm:cxn modelId="{627F899F-466F-914B-ACB4-CA5659DC1495}" type="presParOf" srcId="{AAD2A7AC-CBB8-45A6-B7DF-82A555D85E1C}" destId="{93A5A718-2ECE-485E-BA54-C99A3BEEF4DC}"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B095E3-B149-4B67-89C9-9001ADDBB41C}">
      <dsp:nvSpPr>
        <dsp:cNvPr id="0" name=""/>
        <dsp:cNvSpPr/>
      </dsp:nvSpPr>
      <dsp:spPr>
        <a:xfrm>
          <a:off x="355493" y="721219"/>
          <a:ext cx="3334057" cy="3334057"/>
        </a:xfrm>
        <a:prstGeom prst="pie">
          <a:avLst>
            <a:gd name="adj1" fmla="val 16200000"/>
            <a:gd name="adj2" fmla="val 0"/>
          </a:avLst>
        </a:prstGeom>
        <a:solidFill>
          <a:schemeClr val="accent5">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a:t>Entity</a:t>
          </a:r>
        </a:p>
      </dsp:txBody>
      <dsp:txXfrm>
        <a:off x="2125322" y="1412242"/>
        <a:ext cx="1230425" cy="912896"/>
      </dsp:txXfrm>
    </dsp:sp>
    <dsp:sp modelId="{32D3BE4D-1D2D-419A-A998-4E9426F31976}">
      <dsp:nvSpPr>
        <dsp:cNvPr id="0" name=""/>
        <dsp:cNvSpPr/>
      </dsp:nvSpPr>
      <dsp:spPr>
        <a:xfrm>
          <a:off x="355493" y="833148"/>
          <a:ext cx="3334057" cy="3334057"/>
        </a:xfrm>
        <a:prstGeom prst="pie">
          <a:avLst>
            <a:gd name="adj1" fmla="val 0"/>
            <a:gd name="adj2" fmla="val 5400000"/>
          </a:avLst>
        </a:prstGeom>
        <a:solidFill>
          <a:schemeClr val="accent5">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a:t>Controller</a:t>
          </a:r>
        </a:p>
      </dsp:txBody>
      <dsp:txXfrm>
        <a:off x="2125322" y="2563285"/>
        <a:ext cx="1230425" cy="912896"/>
      </dsp:txXfrm>
    </dsp:sp>
    <dsp:sp modelId="{A15EF244-BB69-47E9-89BD-C0EDFE16F313}">
      <dsp:nvSpPr>
        <dsp:cNvPr id="0" name=""/>
        <dsp:cNvSpPr/>
      </dsp:nvSpPr>
      <dsp:spPr>
        <a:xfrm>
          <a:off x="243564" y="833148"/>
          <a:ext cx="3334057" cy="3334057"/>
        </a:xfrm>
        <a:prstGeom prst="pie">
          <a:avLst>
            <a:gd name="adj1" fmla="val 5400000"/>
            <a:gd name="adj2" fmla="val 10800000"/>
          </a:avLst>
        </a:prstGeom>
        <a:solidFill>
          <a:schemeClr val="accent5">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a:solidFill>
                <a:schemeClr val="bg1"/>
              </a:solidFill>
            </a:rPr>
            <a:t>Post/GET</a:t>
          </a:r>
        </a:p>
      </dsp:txBody>
      <dsp:txXfrm>
        <a:off x="577367" y="2563285"/>
        <a:ext cx="1230425" cy="912896"/>
      </dsp:txXfrm>
    </dsp:sp>
    <dsp:sp modelId="{1CEEB211-E081-45DE-B60D-D8FA700A770C}">
      <dsp:nvSpPr>
        <dsp:cNvPr id="0" name=""/>
        <dsp:cNvSpPr/>
      </dsp:nvSpPr>
      <dsp:spPr>
        <a:xfrm>
          <a:off x="243564" y="721219"/>
          <a:ext cx="3334057" cy="3334057"/>
        </a:xfrm>
        <a:prstGeom prst="pie">
          <a:avLst>
            <a:gd name="adj1" fmla="val 10800000"/>
            <a:gd name="adj2" fmla="val 16200000"/>
          </a:avLst>
        </a:prstGeom>
        <a:solidFill>
          <a:schemeClr val="accent5">
            <a:lumMod val="60000"/>
            <a:lumOff val="40000"/>
          </a:schemeClr>
        </a:solidFill>
        <a:ln w="12700" cap="flat" cmpd="sng" algn="ctr">
          <a:solidFill>
            <a:schemeClr val="accent5">
              <a:lumMod val="60000"/>
              <a:lumOff val="4000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933450">
            <a:lnSpc>
              <a:spcPct val="90000"/>
            </a:lnSpc>
            <a:spcBef>
              <a:spcPct val="0"/>
            </a:spcBef>
            <a:spcAft>
              <a:spcPct val="35000"/>
            </a:spcAft>
            <a:buNone/>
          </a:pPr>
          <a:r>
            <a:rPr lang="en-US" sz="2100" kern="1200"/>
            <a:t>Repository</a:t>
          </a:r>
        </a:p>
      </dsp:txBody>
      <dsp:txXfrm>
        <a:off x="577367" y="1412242"/>
        <a:ext cx="1230425" cy="912896"/>
      </dsp:txXfrm>
    </dsp:sp>
    <dsp:sp modelId="{C648A473-51F6-4538-952F-EA08BE8B9FA9}">
      <dsp:nvSpPr>
        <dsp:cNvPr id="0" name=""/>
        <dsp:cNvSpPr/>
      </dsp:nvSpPr>
      <dsp:spPr>
        <a:xfrm>
          <a:off x="149099" y="514825"/>
          <a:ext cx="3746845" cy="3746845"/>
        </a:xfrm>
        <a:prstGeom prst="circularArrow">
          <a:avLst>
            <a:gd name="adj1" fmla="val 5085"/>
            <a:gd name="adj2" fmla="val 327528"/>
            <a:gd name="adj3" fmla="val 21272472"/>
            <a:gd name="adj4" fmla="val 16200000"/>
            <a:gd name="adj5" fmla="val 5932"/>
          </a:avLst>
        </a:prstGeom>
        <a:solidFill>
          <a:schemeClr val="tx2">
            <a:lumMod val="20000"/>
            <a:lumOff val="80000"/>
          </a:schemeClr>
        </a:solidFill>
        <a:ln>
          <a:noFill/>
        </a:ln>
        <a:effectLst/>
      </dsp:spPr>
      <dsp:style>
        <a:lnRef idx="0">
          <a:scrgbClr r="0" g="0" b="0"/>
        </a:lnRef>
        <a:fillRef idx="1">
          <a:scrgbClr r="0" g="0" b="0"/>
        </a:fillRef>
        <a:effectRef idx="0">
          <a:scrgbClr r="0" g="0" b="0"/>
        </a:effectRef>
        <a:fontRef idx="minor">
          <a:schemeClr val="lt1"/>
        </a:fontRef>
      </dsp:style>
    </dsp:sp>
    <dsp:sp modelId="{90A86ED3-7587-4009-B31C-9AC860DE7ED5}">
      <dsp:nvSpPr>
        <dsp:cNvPr id="0" name=""/>
        <dsp:cNvSpPr/>
      </dsp:nvSpPr>
      <dsp:spPr>
        <a:xfrm>
          <a:off x="149099" y="626754"/>
          <a:ext cx="3746845" cy="3746845"/>
        </a:xfrm>
        <a:prstGeom prst="circularArrow">
          <a:avLst>
            <a:gd name="adj1" fmla="val 5085"/>
            <a:gd name="adj2" fmla="val 327528"/>
            <a:gd name="adj3" fmla="val 5072472"/>
            <a:gd name="adj4" fmla="val 0"/>
            <a:gd name="adj5" fmla="val 5932"/>
          </a:avLst>
        </a:prstGeom>
        <a:solidFill>
          <a:schemeClr val="tx2">
            <a:lumMod val="20000"/>
            <a:lumOff val="80000"/>
          </a:schemeClr>
        </a:solidFill>
        <a:ln>
          <a:noFill/>
        </a:ln>
        <a:effectLst/>
      </dsp:spPr>
      <dsp:style>
        <a:lnRef idx="0">
          <a:scrgbClr r="0" g="0" b="0"/>
        </a:lnRef>
        <a:fillRef idx="1">
          <a:scrgbClr r="0" g="0" b="0"/>
        </a:fillRef>
        <a:effectRef idx="0">
          <a:scrgbClr r="0" g="0" b="0"/>
        </a:effectRef>
        <a:fontRef idx="minor">
          <a:schemeClr val="lt1"/>
        </a:fontRef>
      </dsp:style>
    </dsp:sp>
    <dsp:sp modelId="{3995D178-6B76-4948-B393-B430ECE75F17}">
      <dsp:nvSpPr>
        <dsp:cNvPr id="0" name=""/>
        <dsp:cNvSpPr/>
      </dsp:nvSpPr>
      <dsp:spPr>
        <a:xfrm>
          <a:off x="37170" y="626754"/>
          <a:ext cx="3746845" cy="3746845"/>
        </a:xfrm>
        <a:prstGeom prst="circularArrow">
          <a:avLst>
            <a:gd name="adj1" fmla="val 5085"/>
            <a:gd name="adj2" fmla="val 327528"/>
            <a:gd name="adj3" fmla="val 10472472"/>
            <a:gd name="adj4" fmla="val 5400000"/>
            <a:gd name="adj5" fmla="val 5932"/>
          </a:avLst>
        </a:prstGeom>
        <a:solidFill>
          <a:schemeClr val="accent5">
            <a:lumMod val="40000"/>
            <a:lumOff val="60000"/>
          </a:schemeClr>
        </a:solidFill>
        <a:ln>
          <a:noFill/>
        </a:ln>
        <a:effectLst/>
      </dsp:spPr>
      <dsp:style>
        <a:lnRef idx="0">
          <a:scrgbClr r="0" g="0" b="0"/>
        </a:lnRef>
        <a:fillRef idx="1">
          <a:scrgbClr r="0" g="0" b="0"/>
        </a:fillRef>
        <a:effectRef idx="0">
          <a:scrgbClr r="0" g="0" b="0"/>
        </a:effectRef>
        <a:fontRef idx="minor">
          <a:schemeClr val="lt1"/>
        </a:fontRef>
      </dsp:style>
    </dsp:sp>
    <dsp:sp modelId="{D53B3636-607C-4993-8E14-C31035A3D3EF}">
      <dsp:nvSpPr>
        <dsp:cNvPr id="0" name=""/>
        <dsp:cNvSpPr/>
      </dsp:nvSpPr>
      <dsp:spPr>
        <a:xfrm>
          <a:off x="37170" y="514825"/>
          <a:ext cx="3746845" cy="3746845"/>
        </a:xfrm>
        <a:prstGeom prst="circularArrow">
          <a:avLst>
            <a:gd name="adj1" fmla="val 5085"/>
            <a:gd name="adj2" fmla="val 327528"/>
            <a:gd name="adj3" fmla="val 15872472"/>
            <a:gd name="adj4" fmla="val 10800000"/>
            <a:gd name="adj5" fmla="val 5932"/>
          </a:avLst>
        </a:prstGeom>
        <a:solidFill>
          <a:schemeClr val="accent5">
            <a:lumMod val="40000"/>
            <a:lumOff val="6000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B095E3-B149-4B67-89C9-9001ADDBB41C}">
      <dsp:nvSpPr>
        <dsp:cNvPr id="0" name=""/>
        <dsp:cNvSpPr/>
      </dsp:nvSpPr>
      <dsp:spPr>
        <a:xfrm>
          <a:off x="355493" y="721219"/>
          <a:ext cx="3334057" cy="3334057"/>
        </a:xfrm>
        <a:prstGeom prst="pie">
          <a:avLst>
            <a:gd name="adj1" fmla="val 16200000"/>
            <a:gd name="adj2" fmla="val 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a:t>Model</a:t>
          </a:r>
        </a:p>
      </dsp:txBody>
      <dsp:txXfrm>
        <a:off x="2125322" y="1412242"/>
        <a:ext cx="1230425" cy="912896"/>
      </dsp:txXfrm>
    </dsp:sp>
    <dsp:sp modelId="{32D3BE4D-1D2D-419A-A998-4E9426F31976}">
      <dsp:nvSpPr>
        <dsp:cNvPr id="0" name=""/>
        <dsp:cNvSpPr/>
      </dsp:nvSpPr>
      <dsp:spPr>
        <a:xfrm>
          <a:off x="355493" y="833148"/>
          <a:ext cx="3334057" cy="3334057"/>
        </a:xfrm>
        <a:prstGeom prst="pie">
          <a:avLst>
            <a:gd name="adj1" fmla="val 0"/>
            <a:gd name="adj2" fmla="val 54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a:t>Template</a:t>
          </a:r>
        </a:p>
      </dsp:txBody>
      <dsp:txXfrm>
        <a:off x="2125322" y="2563285"/>
        <a:ext cx="1230425" cy="912896"/>
      </dsp:txXfrm>
    </dsp:sp>
    <dsp:sp modelId="{A15EF244-BB69-47E9-89BD-C0EDFE16F313}">
      <dsp:nvSpPr>
        <dsp:cNvPr id="0" name=""/>
        <dsp:cNvSpPr/>
      </dsp:nvSpPr>
      <dsp:spPr>
        <a:xfrm>
          <a:off x="243564" y="833148"/>
          <a:ext cx="3334057" cy="3334057"/>
        </a:xfrm>
        <a:prstGeom prst="pie">
          <a:avLst>
            <a:gd name="adj1" fmla="val 5400000"/>
            <a:gd name="adj2" fmla="val 108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a:t>HTML Page</a:t>
          </a:r>
        </a:p>
      </dsp:txBody>
      <dsp:txXfrm>
        <a:off x="577367" y="2563285"/>
        <a:ext cx="1230425" cy="912896"/>
      </dsp:txXfrm>
    </dsp:sp>
    <dsp:sp modelId="{1CEEB211-E081-45DE-B60D-D8FA700A770C}">
      <dsp:nvSpPr>
        <dsp:cNvPr id="0" name=""/>
        <dsp:cNvSpPr/>
      </dsp:nvSpPr>
      <dsp:spPr>
        <a:xfrm>
          <a:off x="243564" y="721219"/>
          <a:ext cx="3334057" cy="3334057"/>
        </a:xfrm>
        <a:prstGeom prst="pie">
          <a:avLst>
            <a:gd name="adj1" fmla="val 108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a:t>Form/Link</a:t>
          </a:r>
        </a:p>
      </dsp:txBody>
      <dsp:txXfrm>
        <a:off x="577367" y="1412242"/>
        <a:ext cx="1230425" cy="912896"/>
      </dsp:txXfrm>
    </dsp:sp>
    <dsp:sp modelId="{C648A473-51F6-4538-952F-EA08BE8B9FA9}">
      <dsp:nvSpPr>
        <dsp:cNvPr id="0" name=""/>
        <dsp:cNvSpPr/>
      </dsp:nvSpPr>
      <dsp:spPr>
        <a:xfrm>
          <a:off x="149099" y="514825"/>
          <a:ext cx="3746845" cy="3746845"/>
        </a:xfrm>
        <a:prstGeom prst="circularArrow">
          <a:avLst>
            <a:gd name="adj1" fmla="val 5085"/>
            <a:gd name="adj2" fmla="val 327528"/>
            <a:gd name="adj3" fmla="val 21272472"/>
            <a:gd name="adj4" fmla="val 162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0BE7951-CE43-48EF-9BFD-88DFAEA4E50B}">
      <dsp:nvSpPr>
        <dsp:cNvPr id="0" name=""/>
        <dsp:cNvSpPr/>
      </dsp:nvSpPr>
      <dsp:spPr>
        <a:xfrm>
          <a:off x="149099" y="626754"/>
          <a:ext cx="3746845" cy="3746845"/>
        </a:xfrm>
        <a:prstGeom prst="circularArrow">
          <a:avLst>
            <a:gd name="adj1" fmla="val 5085"/>
            <a:gd name="adj2" fmla="val 327528"/>
            <a:gd name="adj3" fmla="val 5072472"/>
            <a:gd name="adj4" fmla="val 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CE28FBA-AC8F-4AF4-8F77-81589223B760}">
      <dsp:nvSpPr>
        <dsp:cNvPr id="0" name=""/>
        <dsp:cNvSpPr/>
      </dsp:nvSpPr>
      <dsp:spPr>
        <a:xfrm>
          <a:off x="37170" y="626754"/>
          <a:ext cx="3746845" cy="3746845"/>
        </a:xfrm>
        <a:prstGeom prst="circularArrow">
          <a:avLst>
            <a:gd name="adj1" fmla="val 5085"/>
            <a:gd name="adj2" fmla="val 327528"/>
            <a:gd name="adj3" fmla="val 10472472"/>
            <a:gd name="adj4" fmla="val 54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B1A6C7D-B51A-45BA-A17D-105CFA0155B8}">
      <dsp:nvSpPr>
        <dsp:cNvPr id="0" name=""/>
        <dsp:cNvSpPr/>
      </dsp:nvSpPr>
      <dsp:spPr>
        <a:xfrm>
          <a:off x="37170" y="514825"/>
          <a:ext cx="3746845" cy="3746845"/>
        </a:xfrm>
        <a:prstGeom prst="circularArrow">
          <a:avLst>
            <a:gd name="adj1" fmla="val 5085"/>
            <a:gd name="adj2" fmla="val 327528"/>
            <a:gd name="adj3" fmla="val 15872472"/>
            <a:gd name="adj4" fmla="val 1080000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8CE825-2282-4AB8-A1E2-825C57C0C970}">
      <dsp:nvSpPr>
        <dsp:cNvPr id="0" name=""/>
        <dsp:cNvSpPr/>
      </dsp:nvSpPr>
      <dsp:spPr>
        <a:xfrm>
          <a:off x="6450" y="750629"/>
          <a:ext cx="2016587" cy="2419905"/>
        </a:xfrm>
        <a:prstGeom prst="rect">
          <a:avLst/>
        </a:prstGeom>
        <a:solidFill>
          <a:srgbClr val="9FA597"/>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94" tIns="0" rIns="199194" bIns="330200" numCol="1" spcCol="1270" anchor="t" anchorCtr="0">
          <a:noAutofit/>
        </a:bodyPr>
        <a:lstStyle/>
        <a:p>
          <a:pPr marL="0" lvl="0" indent="0" algn="l" defTabSz="977900">
            <a:lnSpc>
              <a:spcPct val="90000"/>
            </a:lnSpc>
            <a:spcBef>
              <a:spcPct val="0"/>
            </a:spcBef>
            <a:spcAft>
              <a:spcPct val="35000"/>
            </a:spcAft>
            <a:buNone/>
          </a:pPr>
          <a:r>
            <a:rPr lang="en-US" sz="2200" i="1" kern="1200"/>
            <a:t>Change Development Approach</a:t>
          </a:r>
          <a:r>
            <a:rPr lang="en-US" sz="2200" kern="1200"/>
            <a:t> </a:t>
          </a:r>
        </a:p>
      </dsp:txBody>
      <dsp:txXfrm>
        <a:off x="6450" y="1718591"/>
        <a:ext cx="2016587" cy="1451943"/>
      </dsp:txXfrm>
    </dsp:sp>
    <dsp:sp modelId="{6D6351B7-5206-444C-B936-1ABFD2AC061D}">
      <dsp:nvSpPr>
        <dsp:cNvPr id="0" name=""/>
        <dsp:cNvSpPr/>
      </dsp:nvSpPr>
      <dsp:spPr>
        <a:xfrm>
          <a:off x="6450" y="750629"/>
          <a:ext cx="2016587" cy="96796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9194" tIns="165100" rIns="199194" bIns="165100" numCol="1" spcCol="1270" anchor="ctr" anchorCtr="0">
          <a:noAutofit/>
        </a:bodyPr>
        <a:lstStyle/>
        <a:p>
          <a:pPr marL="0" lvl="0" indent="0" algn="l" defTabSz="2222500">
            <a:lnSpc>
              <a:spcPct val="90000"/>
            </a:lnSpc>
            <a:spcBef>
              <a:spcPct val="0"/>
            </a:spcBef>
            <a:spcAft>
              <a:spcPct val="35000"/>
            </a:spcAft>
            <a:buNone/>
          </a:pPr>
          <a:r>
            <a:rPr lang="en-US" sz="5000" kern="1200"/>
            <a:t>01</a:t>
          </a:r>
        </a:p>
      </dsp:txBody>
      <dsp:txXfrm>
        <a:off x="6450" y="750629"/>
        <a:ext cx="2016587" cy="967962"/>
      </dsp:txXfrm>
    </dsp:sp>
    <dsp:sp modelId="{0813EA4F-5C26-4A24-BFF5-33E01B6D1410}">
      <dsp:nvSpPr>
        <dsp:cNvPr id="0" name=""/>
        <dsp:cNvSpPr/>
      </dsp:nvSpPr>
      <dsp:spPr>
        <a:xfrm>
          <a:off x="2184365" y="750629"/>
          <a:ext cx="2016587" cy="2419905"/>
        </a:xfrm>
        <a:prstGeom prst="rect">
          <a:avLst/>
        </a:prstGeom>
        <a:solidFill>
          <a:schemeClr val="accent2">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94" tIns="0" rIns="199194" bIns="330200" numCol="1" spcCol="1270" anchor="t" anchorCtr="0">
          <a:noAutofit/>
        </a:bodyPr>
        <a:lstStyle/>
        <a:p>
          <a:pPr marL="0" lvl="0" indent="0" algn="l" defTabSz="977900">
            <a:lnSpc>
              <a:spcPct val="90000"/>
            </a:lnSpc>
            <a:spcBef>
              <a:spcPct val="0"/>
            </a:spcBef>
            <a:spcAft>
              <a:spcPct val="35000"/>
            </a:spcAft>
            <a:buNone/>
          </a:pPr>
          <a:r>
            <a:rPr lang="en-US" sz="2200" i="1" kern="1200"/>
            <a:t>Clearly Defined Deadlines</a:t>
          </a:r>
          <a:r>
            <a:rPr lang="en-US" sz="2200" kern="1200"/>
            <a:t> </a:t>
          </a:r>
        </a:p>
      </dsp:txBody>
      <dsp:txXfrm>
        <a:off x="2184365" y="1718591"/>
        <a:ext cx="2016587" cy="1451943"/>
      </dsp:txXfrm>
    </dsp:sp>
    <dsp:sp modelId="{D29C5A70-9E2F-4282-AB9B-D5DE1F9729F0}">
      <dsp:nvSpPr>
        <dsp:cNvPr id="0" name=""/>
        <dsp:cNvSpPr/>
      </dsp:nvSpPr>
      <dsp:spPr>
        <a:xfrm>
          <a:off x="2184365" y="750629"/>
          <a:ext cx="2016587" cy="96796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9194" tIns="165100" rIns="199194" bIns="165100" numCol="1" spcCol="1270" anchor="ctr" anchorCtr="0">
          <a:noAutofit/>
        </a:bodyPr>
        <a:lstStyle/>
        <a:p>
          <a:pPr marL="0" lvl="0" indent="0" algn="l" defTabSz="2222500">
            <a:lnSpc>
              <a:spcPct val="90000"/>
            </a:lnSpc>
            <a:spcBef>
              <a:spcPct val="0"/>
            </a:spcBef>
            <a:spcAft>
              <a:spcPct val="35000"/>
            </a:spcAft>
            <a:buNone/>
          </a:pPr>
          <a:r>
            <a:rPr lang="en-US" sz="5000" kern="1200"/>
            <a:t>02</a:t>
          </a:r>
        </a:p>
      </dsp:txBody>
      <dsp:txXfrm>
        <a:off x="2184365" y="750629"/>
        <a:ext cx="2016587" cy="967962"/>
      </dsp:txXfrm>
    </dsp:sp>
    <dsp:sp modelId="{73A5BC06-41D3-4C57-8890-5F05DBC69924}">
      <dsp:nvSpPr>
        <dsp:cNvPr id="0" name=""/>
        <dsp:cNvSpPr/>
      </dsp:nvSpPr>
      <dsp:spPr>
        <a:xfrm>
          <a:off x="4368734" y="750629"/>
          <a:ext cx="2016587" cy="2419905"/>
        </a:xfrm>
        <a:prstGeom prst="rect">
          <a:avLst/>
        </a:prstGeom>
        <a:solidFill>
          <a:schemeClr val="accent3">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94" tIns="0" rIns="199194" bIns="330200" numCol="1" spcCol="1270" anchor="t" anchorCtr="0">
          <a:noAutofit/>
        </a:bodyPr>
        <a:lstStyle/>
        <a:p>
          <a:pPr marL="0" lvl="0" indent="0" algn="l" defTabSz="977900">
            <a:lnSpc>
              <a:spcPct val="90000"/>
            </a:lnSpc>
            <a:spcBef>
              <a:spcPct val="0"/>
            </a:spcBef>
            <a:spcAft>
              <a:spcPct val="35000"/>
            </a:spcAft>
            <a:buNone/>
          </a:pPr>
          <a:r>
            <a:rPr lang="en-US" sz="2200" i="1" kern="1200"/>
            <a:t>Stronger Communication and Increased Availability</a:t>
          </a:r>
          <a:r>
            <a:rPr lang="en-US" sz="2200" kern="1200"/>
            <a:t> </a:t>
          </a:r>
        </a:p>
      </dsp:txBody>
      <dsp:txXfrm>
        <a:off x="4368734" y="1718591"/>
        <a:ext cx="2016587" cy="1451943"/>
      </dsp:txXfrm>
    </dsp:sp>
    <dsp:sp modelId="{AE9F78BE-B126-4943-B3B9-4C6F47833736}">
      <dsp:nvSpPr>
        <dsp:cNvPr id="0" name=""/>
        <dsp:cNvSpPr/>
      </dsp:nvSpPr>
      <dsp:spPr>
        <a:xfrm>
          <a:off x="4362281" y="750629"/>
          <a:ext cx="2016587" cy="96796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9194" tIns="165100" rIns="199194" bIns="165100" numCol="1" spcCol="1270" anchor="ctr" anchorCtr="0">
          <a:noAutofit/>
        </a:bodyPr>
        <a:lstStyle/>
        <a:p>
          <a:pPr marL="0" lvl="0" indent="0" algn="l" defTabSz="2222500">
            <a:lnSpc>
              <a:spcPct val="90000"/>
            </a:lnSpc>
            <a:spcBef>
              <a:spcPct val="0"/>
            </a:spcBef>
            <a:spcAft>
              <a:spcPct val="35000"/>
            </a:spcAft>
            <a:buNone/>
          </a:pPr>
          <a:r>
            <a:rPr lang="en-US" sz="5000" kern="1200"/>
            <a:t>03</a:t>
          </a:r>
        </a:p>
      </dsp:txBody>
      <dsp:txXfrm>
        <a:off x="4362281" y="750629"/>
        <a:ext cx="2016587" cy="967962"/>
      </dsp:txXfrm>
    </dsp:sp>
    <dsp:sp modelId="{6793BD8D-08C1-4B6B-B5B8-FE41189C347F}">
      <dsp:nvSpPr>
        <dsp:cNvPr id="0" name=""/>
        <dsp:cNvSpPr/>
      </dsp:nvSpPr>
      <dsp:spPr>
        <a:xfrm>
          <a:off x="6546649" y="769674"/>
          <a:ext cx="2016587" cy="2419905"/>
        </a:xfrm>
        <a:prstGeom prst="rect">
          <a:avLst/>
        </a:prstGeom>
        <a:solidFill>
          <a:schemeClr val="accent5">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94" tIns="0" rIns="199194" bIns="330200" numCol="1" spcCol="1270" anchor="t" anchorCtr="0">
          <a:noAutofit/>
        </a:bodyPr>
        <a:lstStyle/>
        <a:p>
          <a:pPr marL="0" lvl="0" indent="0" algn="l" defTabSz="977900">
            <a:lnSpc>
              <a:spcPct val="90000"/>
            </a:lnSpc>
            <a:spcBef>
              <a:spcPct val="0"/>
            </a:spcBef>
            <a:spcAft>
              <a:spcPct val="35000"/>
            </a:spcAft>
            <a:buNone/>
          </a:pPr>
          <a:r>
            <a:rPr lang="en-US" sz="2200" i="1" kern="1200"/>
            <a:t>Pull Requests Before Merging Into Main</a:t>
          </a:r>
          <a:r>
            <a:rPr lang="en-US" sz="2200" kern="1200"/>
            <a:t> </a:t>
          </a:r>
        </a:p>
      </dsp:txBody>
      <dsp:txXfrm>
        <a:off x="6546649" y="1737636"/>
        <a:ext cx="2016587" cy="1451943"/>
      </dsp:txXfrm>
    </dsp:sp>
    <dsp:sp modelId="{B4E64A0D-B142-49A3-B040-9C42AC8BFAEE}">
      <dsp:nvSpPr>
        <dsp:cNvPr id="0" name=""/>
        <dsp:cNvSpPr/>
      </dsp:nvSpPr>
      <dsp:spPr>
        <a:xfrm>
          <a:off x="6540196" y="750629"/>
          <a:ext cx="2016587" cy="96796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9194" tIns="165100" rIns="199194" bIns="165100" numCol="1" spcCol="1270" anchor="ctr" anchorCtr="0">
          <a:noAutofit/>
        </a:bodyPr>
        <a:lstStyle/>
        <a:p>
          <a:pPr marL="0" lvl="0" indent="0" algn="l" defTabSz="2222500">
            <a:lnSpc>
              <a:spcPct val="90000"/>
            </a:lnSpc>
            <a:spcBef>
              <a:spcPct val="0"/>
            </a:spcBef>
            <a:spcAft>
              <a:spcPct val="35000"/>
            </a:spcAft>
            <a:buNone/>
          </a:pPr>
          <a:r>
            <a:rPr lang="en-US" sz="5000" kern="1200"/>
            <a:t>04</a:t>
          </a:r>
        </a:p>
      </dsp:txBody>
      <dsp:txXfrm>
        <a:off x="6540196" y="750629"/>
        <a:ext cx="2016587" cy="967962"/>
      </dsp:txXfrm>
    </dsp:sp>
    <dsp:sp modelId="{1C106089-4B61-4141-817C-ADBFD627C234}">
      <dsp:nvSpPr>
        <dsp:cNvPr id="0" name=""/>
        <dsp:cNvSpPr/>
      </dsp:nvSpPr>
      <dsp:spPr>
        <a:xfrm>
          <a:off x="8724562" y="750629"/>
          <a:ext cx="2016587" cy="2419905"/>
        </a:xfrm>
        <a:prstGeom prst="rect">
          <a:avLst/>
        </a:prstGeom>
        <a:solidFill>
          <a:schemeClr val="accent4">
            <a:lumMod val="60000"/>
            <a:lumOff val="4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94" tIns="0" rIns="199194" bIns="330200" numCol="1" spcCol="1270" anchor="t" anchorCtr="0">
          <a:noAutofit/>
        </a:bodyPr>
        <a:lstStyle/>
        <a:p>
          <a:pPr marL="0" lvl="0" indent="0" algn="l" defTabSz="977900">
            <a:lnSpc>
              <a:spcPct val="90000"/>
            </a:lnSpc>
            <a:spcBef>
              <a:spcPct val="0"/>
            </a:spcBef>
            <a:spcAft>
              <a:spcPct val="35000"/>
            </a:spcAft>
            <a:buNone/>
          </a:pPr>
          <a:r>
            <a:rPr lang="en-US" sz="2200" i="1" kern="1200"/>
            <a:t>Breaking Down Functional Requirements</a:t>
          </a:r>
        </a:p>
      </dsp:txBody>
      <dsp:txXfrm>
        <a:off x="8724562" y="1718591"/>
        <a:ext cx="2016587" cy="1451943"/>
      </dsp:txXfrm>
    </dsp:sp>
    <dsp:sp modelId="{DA895323-D0F4-4842-84C8-93814622C305}">
      <dsp:nvSpPr>
        <dsp:cNvPr id="0" name=""/>
        <dsp:cNvSpPr/>
      </dsp:nvSpPr>
      <dsp:spPr>
        <a:xfrm>
          <a:off x="8718111" y="750629"/>
          <a:ext cx="2016587" cy="967962"/>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99194" tIns="165100" rIns="199194" bIns="165100" numCol="1" spcCol="1270" anchor="ctr" anchorCtr="0">
          <a:noAutofit/>
        </a:bodyPr>
        <a:lstStyle/>
        <a:p>
          <a:pPr marL="0" lvl="0" indent="0" algn="l" defTabSz="2222500">
            <a:lnSpc>
              <a:spcPct val="90000"/>
            </a:lnSpc>
            <a:spcBef>
              <a:spcPct val="0"/>
            </a:spcBef>
            <a:spcAft>
              <a:spcPct val="35000"/>
            </a:spcAft>
            <a:buNone/>
          </a:pPr>
          <a:r>
            <a:rPr lang="en-US" sz="5000" kern="1200"/>
            <a:t>05</a:t>
          </a:r>
        </a:p>
      </dsp:txBody>
      <dsp:txXfrm>
        <a:off x="8718111" y="750629"/>
        <a:ext cx="2016587" cy="967962"/>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F30023-2C0F-D147-A5FE-45EC7C774E42}" type="datetimeFigureOut">
              <a:rPr lang="en-US" smtClean="0"/>
              <a:t>10/17/26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8047E0-2BA9-2447-AD7E-2F8AC81613BF}" type="slidenum">
              <a:rPr lang="en-US" smtClean="0"/>
              <a:t>‹#›</a:t>
            </a:fld>
            <a:endParaRPr lang="en-US"/>
          </a:p>
        </p:txBody>
      </p:sp>
    </p:spTree>
    <p:extLst>
      <p:ext uri="{BB962C8B-B14F-4D97-AF65-F5344CB8AC3E}">
        <p14:creationId xmlns:p14="http://schemas.microsoft.com/office/powerpoint/2010/main" val="1603178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Background: F5F1E8</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Text: </a:t>
            </a:r>
            <a:r>
              <a:rPr lang="en-US" sz="1200" b="0" i="0" kern="1200">
                <a:solidFill>
                  <a:schemeClr val="tx1"/>
                </a:solidFill>
                <a:effectLst/>
                <a:latin typeface="+mn-lt"/>
                <a:ea typeface="+mn-ea"/>
                <a:cs typeface="+mn-cs"/>
              </a:rPr>
              <a:t>2C3E50</a:t>
            </a:r>
          </a:p>
          <a:p>
            <a:endParaRPr lang="en-US"/>
          </a:p>
          <a:p>
            <a:endParaRPr lang="en-US"/>
          </a:p>
        </p:txBody>
      </p:sp>
      <p:sp>
        <p:nvSpPr>
          <p:cNvPr id="4" name="Slide Number Placeholder 3"/>
          <p:cNvSpPr>
            <a:spLocks noGrp="1"/>
          </p:cNvSpPr>
          <p:nvPr>
            <p:ph type="sldNum" sz="quarter" idx="5"/>
          </p:nvPr>
        </p:nvSpPr>
        <p:spPr/>
        <p:txBody>
          <a:bodyPr/>
          <a:lstStyle/>
          <a:p>
            <a:fld id="{46E736F5-CE2C-4547-8E1C-E7F25F262000}" type="slidenum">
              <a:rPr lang="en-US" smtClean="0"/>
              <a:t>1</a:t>
            </a:fld>
            <a:endParaRPr lang="en-US"/>
          </a:p>
        </p:txBody>
      </p:sp>
    </p:spTree>
    <p:extLst>
      <p:ext uri="{BB962C8B-B14F-4D97-AF65-F5344CB8AC3E}">
        <p14:creationId xmlns:p14="http://schemas.microsoft.com/office/powerpoint/2010/main" val="16792745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44762718-2EF0-AD41-B7DE-15119B2B0508}" type="datetimeFigureOut">
              <a:rPr lang="en-US" smtClean="0"/>
              <a:t>10/17/26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5DA2333F-5F3F-5849-83DA-2EC940E82455}" type="slidenum">
              <a:rPr lang="en-US" smtClean="0"/>
              <a:t>‹#›</a:t>
            </a:fld>
            <a:endParaRPr lang="en-US"/>
          </a:p>
        </p:txBody>
      </p:sp>
    </p:spTree>
    <p:extLst>
      <p:ext uri="{BB962C8B-B14F-4D97-AF65-F5344CB8AC3E}">
        <p14:creationId xmlns:p14="http://schemas.microsoft.com/office/powerpoint/2010/main" val="254505877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4762718-2EF0-AD41-B7DE-15119B2B0508}" type="datetimeFigureOut">
              <a:rPr lang="en-US" smtClean="0"/>
              <a:t>10/17/26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DA2333F-5F3F-5849-83DA-2EC940E82455}" type="slidenum">
              <a:rPr lang="en-US" smtClean="0"/>
              <a:t>‹#›</a:t>
            </a:fld>
            <a:endParaRPr lang="en-US"/>
          </a:p>
        </p:txBody>
      </p:sp>
    </p:spTree>
    <p:extLst>
      <p:ext uri="{BB962C8B-B14F-4D97-AF65-F5344CB8AC3E}">
        <p14:creationId xmlns:p14="http://schemas.microsoft.com/office/powerpoint/2010/main" val="1031133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endParaRPr lang="en-US"/>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86056DAF-B3F4-4DC6-852B-234F2435F724}" type="datetimeFigureOut">
              <a:rPr lang="en-US" smtClean="0"/>
              <a:t>10/17/26</a:t>
            </a:fld>
            <a:endParaRPr lang="en-US"/>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CFE5067E-9276-4E24-970E-DABE0DDDBEBD}" type="slidenum">
              <a:rPr lang="en-US" smtClean="0"/>
              <a:t>‹#›</a:t>
            </a:fld>
            <a:endParaRPr lang="en-US"/>
          </a:p>
        </p:txBody>
      </p:sp>
    </p:spTree>
    <p:extLst>
      <p:ext uri="{BB962C8B-B14F-4D97-AF65-F5344CB8AC3E}">
        <p14:creationId xmlns:p14="http://schemas.microsoft.com/office/powerpoint/2010/main" val="1008842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endParaRPr lang="en-US"/>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44762718-2EF0-AD41-B7DE-15119B2B0508}" type="datetimeFigureOut">
              <a:rPr lang="en-US" smtClean="0"/>
              <a:t>10/17/26</a:t>
            </a:fld>
            <a:endParaRPr lang="en-US"/>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5DA2333F-5F3F-5849-83DA-2EC940E82455}" type="slidenum">
              <a:rPr lang="en-US" smtClean="0"/>
              <a:t>‹#›</a:t>
            </a:fld>
            <a:endParaRPr lang="en-US"/>
          </a:p>
        </p:txBody>
      </p:sp>
    </p:spTree>
    <p:extLst>
      <p:ext uri="{BB962C8B-B14F-4D97-AF65-F5344CB8AC3E}">
        <p14:creationId xmlns:p14="http://schemas.microsoft.com/office/powerpoint/2010/main" val="421232005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4762718-2EF0-AD41-B7DE-15119B2B0508}" type="datetimeFigureOut">
              <a:rPr lang="en-US" smtClean="0"/>
              <a:t>10/17/26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5DA2333F-5F3F-5849-83DA-2EC940E82455}" type="slidenum">
              <a:rPr lang="en-US" smtClean="0"/>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776155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4762718-2EF0-AD41-B7DE-15119B2B0508}" type="datetimeFigureOut">
              <a:rPr lang="en-US" smtClean="0"/>
              <a:t>10/17/26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DA2333F-5F3F-5849-83DA-2EC940E82455}" type="slidenum">
              <a:rPr lang="en-US" smtClean="0"/>
              <a:t>‹#›</a:t>
            </a:fld>
            <a:endParaRPr lang="en-US"/>
          </a:p>
        </p:txBody>
      </p:sp>
    </p:spTree>
    <p:extLst>
      <p:ext uri="{BB962C8B-B14F-4D97-AF65-F5344CB8AC3E}">
        <p14:creationId xmlns:p14="http://schemas.microsoft.com/office/powerpoint/2010/main" val="3624567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44762718-2EF0-AD41-B7DE-15119B2B0508}" type="datetimeFigureOut">
              <a:rPr lang="en-US" smtClean="0"/>
              <a:t>10/17/26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5DA2333F-5F3F-5849-83DA-2EC940E82455}" type="slidenum">
              <a:rPr lang="en-US" smtClean="0"/>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7560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4762718-2EF0-AD41-B7DE-15119B2B0508}" type="datetimeFigureOut">
              <a:rPr lang="en-US" smtClean="0"/>
              <a:t>10/17/26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DA2333F-5F3F-5849-83DA-2EC940E82455}" type="slidenum">
              <a:rPr lang="en-US" smtClean="0"/>
              <a:t>‹#›</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7248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44762718-2EF0-AD41-B7DE-15119B2B0508}" type="datetimeFigureOut">
              <a:rPr lang="en-US" smtClean="0"/>
              <a:t>10/17/26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DA2333F-5F3F-5849-83DA-2EC940E82455}" type="slidenum">
              <a:rPr lang="en-US" smtClean="0"/>
              <a:t>‹#›</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8903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endParaRPr lang="en-US"/>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44762718-2EF0-AD41-B7DE-15119B2B0508}" type="datetimeFigureOut">
              <a:rPr lang="en-US" smtClean="0"/>
              <a:t>10/17/26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5DA2333F-5F3F-5849-83DA-2EC940E82455}" type="slidenum">
              <a:rPr lang="en-US" smtClean="0"/>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81656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44762718-2EF0-AD41-B7DE-15119B2B0508}" type="datetimeFigureOut">
              <a:rPr lang="en-US" smtClean="0"/>
              <a:t>10/17/26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endParaRPr lang="en-US"/>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5DA2333F-5F3F-5849-83DA-2EC940E82455}" type="slidenum">
              <a:rPr lang="en-US" smtClean="0"/>
              <a:t>‹#›</a:t>
            </a:fld>
            <a:endParaRPr lang="en-US"/>
          </a:p>
        </p:txBody>
      </p:sp>
    </p:spTree>
    <p:extLst>
      <p:ext uri="{BB962C8B-B14F-4D97-AF65-F5344CB8AC3E}">
        <p14:creationId xmlns:p14="http://schemas.microsoft.com/office/powerpoint/2010/main" val="11373125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44762718-2EF0-AD41-B7DE-15119B2B0508}" type="datetimeFigureOut">
              <a:rPr lang="en-US" smtClean="0"/>
              <a:t>10/17/26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5DA2333F-5F3F-5849-83DA-2EC940E82455}" type="slidenum">
              <a:rPr lang="en-US" smtClean="0"/>
              <a:t>‹#›</a:t>
            </a:fld>
            <a:endParaRPr lang="en-US"/>
          </a:p>
        </p:txBody>
      </p:sp>
    </p:spTree>
    <p:extLst>
      <p:ext uri="{BB962C8B-B14F-4D97-AF65-F5344CB8AC3E}">
        <p14:creationId xmlns:p14="http://schemas.microsoft.com/office/powerpoint/2010/main" val="11267809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44762718-2EF0-AD41-B7DE-15119B2B0508}" type="datetimeFigureOut">
              <a:rPr lang="en-US" smtClean="0"/>
              <a:t>10/17/26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endParaRPr lang="en-US"/>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5DA2333F-5F3F-5849-83DA-2EC940E82455}" type="slidenum">
              <a:rPr lang="en-US" smtClean="0"/>
              <a:t>‹#›</a:t>
            </a:fld>
            <a:endParaRPr lang="en-US"/>
          </a:p>
        </p:txBody>
      </p:sp>
    </p:spTree>
    <p:extLst>
      <p:ext uri="{BB962C8B-B14F-4D97-AF65-F5344CB8AC3E}">
        <p14:creationId xmlns:p14="http://schemas.microsoft.com/office/powerpoint/2010/main" val="1915345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44762718-2EF0-AD41-B7DE-15119B2B0508}" type="datetimeFigureOut">
              <a:rPr lang="en-US" smtClean="0"/>
              <a:t>10/17/26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5DA2333F-5F3F-5849-83DA-2EC940E82455}" type="slidenum">
              <a:rPr lang="en-US" smtClean="0"/>
              <a:t>‹#›</a:t>
            </a:fld>
            <a:endParaRPr lang="en-US"/>
          </a:p>
        </p:txBody>
      </p:sp>
    </p:spTree>
    <p:extLst>
      <p:ext uri="{BB962C8B-B14F-4D97-AF65-F5344CB8AC3E}">
        <p14:creationId xmlns:p14="http://schemas.microsoft.com/office/powerpoint/2010/main" val="9333410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44762718-2EF0-AD41-B7DE-15119B2B0508}" type="datetimeFigureOut">
              <a:rPr lang="en-US" smtClean="0"/>
              <a:t>10/17/26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5DA2333F-5F3F-5849-83DA-2EC940E82455}" type="slidenum">
              <a:rPr lang="en-US" smtClean="0"/>
              <a:t>‹#›</a:t>
            </a:fld>
            <a:endParaRPr lang="en-US"/>
          </a:p>
        </p:txBody>
      </p:sp>
    </p:spTree>
    <p:extLst>
      <p:ext uri="{BB962C8B-B14F-4D97-AF65-F5344CB8AC3E}">
        <p14:creationId xmlns:p14="http://schemas.microsoft.com/office/powerpoint/2010/main" val="14271720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44762718-2EF0-AD41-B7DE-15119B2B0508}" type="datetimeFigureOut">
              <a:rPr lang="en-US" smtClean="0"/>
              <a:t>10/17/26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5DA2333F-5F3F-5849-83DA-2EC940E82455}" type="slidenum">
              <a:rPr lang="en-US" smtClean="0"/>
              <a:t>‹#›</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60985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4762718-2EF0-AD41-B7DE-15119B2B0508}" type="datetimeFigureOut">
              <a:rPr lang="en-US" smtClean="0"/>
              <a:t>10/17/26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5DA2333F-5F3F-5849-83DA-2EC940E82455}" type="slidenum">
              <a:rPr lang="en-US" smtClean="0"/>
              <a:t>‹#›</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34603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endParaRPr lang="en-US"/>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44762718-2EF0-AD41-B7DE-15119B2B0508}" type="datetimeFigureOut">
              <a:rPr lang="en-US" smtClean="0"/>
              <a:t>10/17/26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5DA2333F-5F3F-5849-83DA-2EC940E82455}"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16363931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4762718-2EF0-AD41-B7DE-15119B2B0508}" type="datetimeFigureOut">
              <a:rPr lang="en-US" smtClean="0"/>
              <a:t>10/17/26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5DA2333F-5F3F-5849-83DA-2EC940E82455}" type="slidenum">
              <a:rPr lang="en-US" smtClean="0"/>
              <a:t>‹#›</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765955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44762718-2EF0-AD41-B7DE-15119B2B0508}" type="datetimeFigureOut">
              <a:rPr lang="en-US" smtClean="0"/>
              <a:t>10/17/26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5DA2333F-5F3F-5849-83DA-2EC940E82455}" type="slidenum">
              <a:rPr lang="en-US" smtClean="0"/>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25768659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4762718-2EF0-AD41-B7DE-15119B2B0508}" type="datetimeFigureOut">
              <a:rPr lang="en-US" smtClean="0"/>
              <a:t>10/17/26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5DA2333F-5F3F-5849-83DA-2EC940E82455}" type="slidenum">
              <a:rPr lang="en-US" smtClean="0"/>
              <a:t>‹#›</a:t>
            </a:fld>
            <a:endParaRPr lang="en-US"/>
          </a:p>
        </p:txBody>
      </p:sp>
    </p:spTree>
    <p:extLst>
      <p:ext uri="{BB962C8B-B14F-4D97-AF65-F5344CB8AC3E}">
        <p14:creationId xmlns:p14="http://schemas.microsoft.com/office/powerpoint/2010/main" val="421789586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44762718-2EF0-AD41-B7DE-15119B2B0508}" type="datetimeFigureOut">
              <a:rPr lang="en-US" smtClean="0"/>
              <a:t>10/17/26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5DA2333F-5F3F-5849-83DA-2EC940E82455}" type="slidenum">
              <a:rPr lang="en-US" smtClean="0"/>
              <a:t>‹#›</a:t>
            </a:fld>
            <a:endParaRPr lang="en-US"/>
          </a:p>
        </p:txBody>
      </p:sp>
    </p:spTree>
    <p:extLst>
      <p:ext uri="{BB962C8B-B14F-4D97-AF65-F5344CB8AC3E}">
        <p14:creationId xmlns:p14="http://schemas.microsoft.com/office/powerpoint/2010/main" val="3688282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44762718-2EF0-AD41-B7DE-15119B2B0508}" type="datetimeFigureOut">
              <a:rPr lang="en-US" smtClean="0"/>
              <a:t>10/17/26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5DA2333F-5F3F-5849-83DA-2EC940E82455}" type="slidenum">
              <a:rPr lang="en-US" smtClean="0"/>
              <a:t>‹#›</a:t>
            </a:fld>
            <a:endParaRPr lang="en-US"/>
          </a:p>
        </p:txBody>
      </p:sp>
    </p:spTree>
    <p:extLst>
      <p:ext uri="{BB962C8B-B14F-4D97-AF65-F5344CB8AC3E}">
        <p14:creationId xmlns:p14="http://schemas.microsoft.com/office/powerpoint/2010/main" val="19127358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44762718-2EF0-AD41-B7DE-15119B2B0508}" type="datetimeFigureOut">
              <a:rPr lang="en-US" smtClean="0"/>
              <a:t>10/17/26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5DA2333F-5F3F-5849-83DA-2EC940E82455}" type="slidenum">
              <a:rPr lang="en-US" smtClean="0"/>
              <a:t>‹#›</a:t>
            </a:fld>
            <a:endParaRPr lang="en-US"/>
          </a:p>
        </p:txBody>
      </p:sp>
    </p:spTree>
    <p:extLst>
      <p:ext uri="{BB962C8B-B14F-4D97-AF65-F5344CB8AC3E}">
        <p14:creationId xmlns:p14="http://schemas.microsoft.com/office/powerpoint/2010/main" val="18271797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44762718-2EF0-AD41-B7DE-15119B2B0508}" type="datetimeFigureOut">
              <a:rPr lang="en-US" smtClean="0"/>
              <a:t>10/17/26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5DA2333F-5F3F-5849-83DA-2EC940E82455}" type="slidenum">
              <a:rPr lang="en-US" smtClean="0"/>
              <a:t>‹#›</a:t>
            </a:fld>
            <a:endParaRPr lang="en-US"/>
          </a:p>
        </p:txBody>
      </p:sp>
    </p:spTree>
    <p:extLst>
      <p:ext uri="{BB962C8B-B14F-4D97-AF65-F5344CB8AC3E}">
        <p14:creationId xmlns:p14="http://schemas.microsoft.com/office/powerpoint/2010/main" val="18098350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44762718-2EF0-AD41-B7DE-15119B2B0508}" type="datetimeFigureOut">
              <a:rPr lang="en-US" smtClean="0"/>
              <a:t>10/17/26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5DA2333F-5F3F-5849-83DA-2EC940E82455}" type="slidenum">
              <a:rPr lang="en-US" smtClean="0"/>
              <a:t>‹#›</a:t>
            </a:fld>
            <a:endParaRPr lang="en-US"/>
          </a:p>
        </p:txBody>
      </p:sp>
    </p:spTree>
    <p:extLst>
      <p:ext uri="{BB962C8B-B14F-4D97-AF65-F5344CB8AC3E}">
        <p14:creationId xmlns:p14="http://schemas.microsoft.com/office/powerpoint/2010/main" val="28855216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4762718-2EF0-AD41-B7DE-15119B2B0508}" type="datetimeFigureOut">
              <a:rPr lang="en-US" smtClean="0"/>
              <a:t>10/17/26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5DA2333F-5F3F-5849-83DA-2EC940E82455}" type="slidenum">
              <a:rPr lang="en-US" smtClean="0"/>
              <a:t>‹#›</a:t>
            </a:fld>
            <a:endParaRPr lang="en-US"/>
          </a:p>
        </p:txBody>
      </p:sp>
    </p:spTree>
    <p:extLst>
      <p:ext uri="{BB962C8B-B14F-4D97-AF65-F5344CB8AC3E}">
        <p14:creationId xmlns:p14="http://schemas.microsoft.com/office/powerpoint/2010/main" val="108455521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endParaRPr lang="en-US"/>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44762718-2EF0-AD41-B7DE-15119B2B0508}" type="datetimeFigureOut">
              <a:rPr lang="en-US" smtClean="0"/>
              <a:t>10/17/26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5DA2333F-5F3F-5849-83DA-2EC940E82455}" type="slidenum">
              <a:rPr lang="en-US" smtClean="0"/>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9980852"/>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 id="2147483709" r:id="rId20"/>
    <p:sldLayoutId id="2147483710" r:id="rId21"/>
    <p:sldLayoutId id="2147483711" r:id="rId22"/>
    <p:sldLayoutId id="2147483712" r:id="rId23"/>
    <p:sldLayoutId id="2147483713" r:id="rId24"/>
    <p:sldLayoutId id="2147483714" r:id="rId25"/>
    <p:sldLayoutId id="2147483715" r:id="rId26"/>
    <p:sldLayoutId id="2147483716" r:id="rId27"/>
  </p:sldLayoutIdLst>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github.com/users/jordan-nguyen-vo-herbert/projects/4/views/1" TargetMode="Externa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B869B-4545-0882-AA06-50F98E68F59D}"/>
              </a:ext>
            </a:extLst>
          </p:cNvPr>
          <p:cNvSpPr>
            <a:spLocks noGrp="1"/>
          </p:cNvSpPr>
          <p:nvPr>
            <p:ph type="title"/>
          </p:nvPr>
        </p:nvSpPr>
        <p:spPr>
          <a:xfrm>
            <a:off x="8831152" y="990511"/>
            <a:ext cx="2565593" cy="1858941"/>
          </a:xfrm>
        </p:spPr>
        <p:txBody>
          <a:bodyPr anchor="b">
            <a:normAutofit/>
          </a:bodyPr>
          <a:lstStyle/>
          <a:p>
            <a:r>
              <a:rPr lang="en-US">
                <a:solidFill>
                  <a:srgbClr val="2C3E50"/>
                </a:solidFill>
              </a:rPr>
              <a:t>Sprint 1 Report</a:t>
            </a:r>
          </a:p>
        </p:txBody>
      </p:sp>
      <p:pic>
        <p:nvPicPr>
          <p:cNvPr id="13" name="Picture Placeholder 12" descr="Starry night sky">
            <a:extLst>
              <a:ext uri="{FF2B5EF4-FFF2-40B4-BE49-F238E27FC236}">
                <a16:creationId xmlns:a16="http://schemas.microsoft.com/office/drawing/2014/main" id="{6F50D959-B9D1-7FCA-6B9B-120D226D4C4D}"/>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3907" r="5051" b="-1"/>
          <a:stretch>
            <a:fillRect/>
          </a:stretch>
        </p:blipFill>
        <p:spPr>
          <a:xfrm>
            <a:off x="20" y="10"/>
            <a:ext cx="8326303" cy="6857990"/>
          </a:xfrm>
          <a:noFill/>
        </p:spPr>
      </p:pic>
      <p:sp>
        <p:nvSpPr>
          <p:cNvPr id="3" name="Subtitle 2">
            <a:extLst>
              <a:ext uri="{FF2B5EF4-FFF2-40B4-BE49-F238E27FC236}">
                <a16:creationId xmlns:a16="http://schemas.microsoft.com/office/drawing/2014/main" id="{0BA186B8-82D6-BDD7-3689-2CF7AD94B18B}"/>
              </a:ext>
            </a:extLst>
          </p:cNvPr>
          <p:cNvSpPr>
            <a:spLocks noGrp="1"/>
          </p:cNvSpPr>
          <p:nvPr>
            <p:ph sz="quarter" idx="14"/>
          </p:nvPr>
        </p:nvSpPr>
        <p:spPr>
          <a:xfrm>
            <a:off x="8831152" y="3688845"/>
            <a:ext cx="2559977" cy="2656250"/>
          </a:xfrm>
        </p:spPr>
        <p:txBody>
          <a:bodyPr>
            <a:normAutofit/>
          </a:bodyPr>
          <a:lstStyle/>
          <a:p>
            <a:r>
              <a:rPr lang="en-US" sz="1600">
                <a:solidFill>
                  <a:srgbClr val="2C3E50"/>
                </a:solidFill>
              </a:rPr>
              <a:t>Jordan Nguyen-Vo Herbert</a:t>
            </a:r>
          </a:p>
          <a:p>
            <a:r>
              <a:rPr lang="en-US" sz="1600">
                <a:solidFill>
                  <a:srgbClr val="2C3E50"/>
                </a:solidFill>
              </a:rPr>
              <a:t>Yohann Sharma</a:t>
            </a:r>
          </a:p>
          <a:p>
            <a:r>
              <a:rPr lang="en-US" sz="1600">
                <a:solidFill>
                  <a:srgbClr val="2C3E50"/>
                </a:solidFill>
              </a:rPr>
              <a:t>Tirth Shah</a:t>
            </a:r>
          </a:p>
          <a:p>
            <a:r>
              <a:rPr lang="en-US" sz="1600">
                <a:solidFill>
                  <a:srgbClr val="2C3E50"/>
                </a:solidFill>
              </a:rPr>
              <a:t>Daniel </a:t>
            </a:r>
            <a:r>
              <a:rPr lang="en-US" sz="1600" err="1">
                <a:solidFill>
                  <a:srgbClr val="2C3E50"/>
                </a:solidFill>
              </a:rPr>
              <a:t>Diyali</a:t>
            </a:r>
            <a:endParaRPr lang="en-US" sz="1600">
              <a:solidFill>
                <a:srgbClr val="2C3E50"/>
              </a:solidFill>
            </a:endParaRPr>
          </a:p>
          <a:p>
            <a:endParaRPr lang="en-US" sz="1600">
              <a:solidFill>
                <a:srgbClr val="2C3E50"/>
              </a:solidFill>
            </a:endParaRPr>
          </a:p>
          <a:p>
            <a:r>
              <a:rPr lang="en-US" sz="1600" i="1">
                <a:solidFill>
                  <a:srgbClr val="2C3E50"/>
                </a:solidFill>
              </a:rPr>
              <a:t>October 15</a:t>
            </a:r>
            <a:r>
              <a:rPr lang="en-US" sz="1600" i="1" baseline="30000">
                <a:solidFill>
                  <a:srgbClr val="2C3E50"/>
                </a:solidFill>
              </a:rPr>
              <a:t>th</a:t>
            </a:r>
            <a:r>
              <a:rPr lang="en-US" sz="1600" i="1">
                <a:solidFill>
                  <a:srgbClr val="2C3E50"/>
                </a:solidFill>
              </a:rPr>
              <a:t>, 2026</a:t>
            </a:r>
          </a:p>
          <a:p>
            <a:endParaRPr lang="en-US">
              <a:solidFill>
                <a:srgbClr val="2C3E50"/>
              </a:solidFill>
            </a:endParaRPr>
          </a:p>
        </p:txBody>
      </p:sp>
    </p:spTree>
    <p:extLst>
      <p:ext uri="{BB962C8B-B14F-4D97-AF65-F5344CB8AC3E}">
        <p14:creationId xmlns:p14="http://schemas.microsoft.com/office/powerpoint/2010/main" val="37196926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63C42AD-A60B-E6F3-A790-22434C032961}"/>
              </a:ext>
            </a:extLst>
          </p:cNvPr>
          <p:cNvSpPr>
            <a:spLocks noGrp="1"/>
          </p:cNvSpPr>
          <p:nvPr>
            <p:ph type="title"/>
          </p:nvPr>
        </p:nvSpPr>
        <p:spPr>
          <a:xfrm>
            <a:off x="731520" y="583413"/>
            <a:ext cx="4361688" cy="1262639"/>
          </a:xfrm>
        </p:spPr>
        <p:txBody>
          <a:bodyPr anchor="b">
            <a:normAutofit/>
          </a:bodyPr>
          <a:lstStyle/>
          <a:p>
            <a:r>
              <a:rPr lang="en-US">
                <a:solidFill>
                  <a:srgbClr val="2C3E50"/>
                </a:solidFill>
              </a:rPr>
              <a:t>Project: </a:t>
            </a:r>
            <a:r>
              <a:rPr lang="en-US" err="1">
                <a:solidFill>
                  <a:srgbClr val="2C3E50"/>
                </a:solidFill>
              </a:rPr>
              <a:t>ClubHub</a:t>
            </a:r>
            <a:endParaRPr lang="en-US">
              <a:solidFill>
                <a:srgbClr val="2C3E50"/>
              </a:solidFill>
            </a:endParaRPr>
          </a:p>
        </p:txBody>
      </p:sp>
      <p:sp>
        <p:nvSpPr>
          <p:cNvPr id="20" name="Content Placeholder 2">
            <a:extLst>
              <a:ext uri="{FF2B5EF4-FFF2-40B4-BE49-F238E27FC236}">
                <a16:creationId xmlns:a16="http://schemas.microsoft.com/office/drawing/2014/main" id="{68FA280E-7B21-79DD-1B00-BDC7FB794370}"/>
              </a:ext>
            </a:extLst>
          </p:cNvPr>
          <p:cNvSpPr>
            <a:spLocks noGrp="1"/>
          </p:cNvSpPr>
          <p:nvPr>
            <p:ph sz="quarter" idx="14"/>
          </p:nvPr>
        </p:nvSpPr>
        <p:spPr>
          <a:xfrm>
            <a:off x="731520" y="1979461"/>
            <a:ext cx="4360863" cy="4329264"/>
          </a:xfrm>
        </p:spPr>
        <p:txBody>
          <a:bodyPr>
            <a:normAutofit/>
          </a:bodyPr>
          <a:lstStyle/>
          <a:p>
            <a:pPr marL="285750" indent="-285750">
              <a:buFont typeface="Arial" panose="020B0604020202020204" pitchFamily="34" charset="0"/>
              <a:buChar char="•"/>
            </a:pPr>
            <a:r>
              <a:rPr lang="en-US">
                <a:solidFill>
                  <a:srgbClr val="2C3E50"/>
                </a:solidFill>
              </a:rPr>
              <a:t>University Club management system</a:t>
            </a:r>
          </a:p>
          <a:p>
            <a:pPr marL="788670" lvl="1" indent="-285750">
              <a:buFont typeface="Arial" panose="020B0604020202020204" pitchFamily="34" charset="0"/>
              <a:buChar char="•"/>
            </a:pPr>
            <a:r>
              <a:rPr lang="en-US" sz="1800">
                <a:solidFill>
                  <a:srgbClr val="2C3E50"/>
                </a:solidFill>
              </a:rPr>
              <a:t>Web application for clubs, club registration, and events</a:t>
            </a:r>
          </a:p>
          <a:p>
            <a:pPr marL="1108710" lvl="3" indent="-285750"/>
            <a:r>
              <a:rPr lang="en-US" sz="1800" i="0">
                <a:solidFill>
                  <a:srgbClr val="2C3E50"/>
                </a:solidFill>
              </a:rPr>
              <a:t>One place for students to find and join clubs, and for clubs to register and manage themselves</a:t>
            </a:r>
          </a:p>
        </p:txBody>
      </p:sp>
      <p:pic>
        <p:nvPicPr>
          <p:cNvPr id="3" name="Content Placeholder 2" descr="People learning in classroom">
            <a:extLst>
              <a:ext uri="{FF2B5EF4-FFF2-40B4-BE49-F238E27FC236}">
                <a16:creationId xmlns:a16="http://schemas.microsoft.com/office/drawing/2014/main" id="{E9FDBA34-192A-E73A-4B97-3ACB418E37FA}"/>
              </a:ext>
            </a:extLst>
          </p:cNvPr>
          <p:cNvPicPr>
            <a:picLocks noGrp="1" noChangeAspect="1"/>
          </p:cNvPicPr>
          <p:nvPr>
            <p:ph type="pic" sz="quarter" idx="13"/>
          </p:nvPr>
        </p:nvPicPr>
        <p:blipFill>
          <a:blip r:embed="rId2"/>
          <a:srcRect l="29583" r="7671" b="-1"/>
          <a:stretch>
            <a:fillRect/>
          </a:stretch>
        </p:blipFill>
        <p:spPr>
          <a:xfrm>
            <a:off x="5745480" y="10"/>
            <a:ext cx="6446520" cy="6857990"/>
          </a:xfrm>
          <a:noFill/>
        </p:spPr>
      </p:pic>
    </p:spTree>
    <p:extLst>
      <p:ext uri="{BB962C8B-B14F-4D97-AF65-F5344CB8AC3E}">
        <p14:creationId xmlns:p14="http://schemas.microsoft.com/office/powerpoint/2010/main" val="40539581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3">
            <a:extLst>
              <a:ext uri="{FF2B5EF4-FFF2-40B4-BE49-F238E27FC236}">
                <a16:creationId xmlns:a16="http://schemas.microsoft.com/office/drawing/2014/main" id="{25AEF6A4-3272-5B3D-6704-DDA26D312EEA}"/>
              </a:ext>
            </a:extLst>
          </p:cNvPr>
          <p:cNvSpPr/>
          <p:nvPr/>
        </p:nvSpPr>
        <p:spPr>
          <a:xfrm>
            <a:off x="2821897" y="4953376"/>
            <a:ext cx="2197773" cy="855881"/>
          </a:xfrm>
          <a:prstGeom prst="round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err="1"/>
              <a:t>ThymeLeaf</a:t>
            </a:r>
            <a:endParaRPr lang="en-US" sz="1200"/>
          </a:p>
        </p:txBody>
      </p:sp>
      <p:sp>
        <p:nvSpPr>
          <p:cNvPr id="6" name="Rectangle: Rounded Corners 5">
            <a:extLst>
              <a:ext uri="{FF2B5EF4-FFF2-40B4-BE49-F238E27FC236}">
                <a16:creationId xmlns:a16="http://schemas.microsoft.com/office/drawing/2014/main" id="{494FE7B3-1E1B-0BF2-FDB1-93AB798B3650}"/>
              </a:ext>
            </a:extLst>
          </p:cNvPr>
          <p:cNvSpPr/>
          <p:nvPr/>
        </p:nvSpPr>
        <p:spPr>
          <a:xfrm>
            <a:off x="5454970" y="3545269"/>
            <a:ext cx="2293505" cy="771507"/>
          </a:xfrm>
          <a:prstGeom prst="roundRect">
            <a:avLst/>
          </a:prstGeom>
          <a:solidFill>
            <a:schemeClr val="bg2">
              <a:lumMod val="75000"/>
            </a:schemeClr>
          </a:solidFill>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1200"/>
              <a:t>Entities and interactions with Spring</a:t>
            </a:r>
          </a:p>
        </p:txBody>
      </p:sp>
      <p:sp>
        <p:nvSpPr>
          <p:cNvPr id="7" name="Rectangle: Rounded Corners 7">
            <a:extLst>
              <a:ext uri="{FF2B5EF4-FFF2-40B4-BE49-F238E27FC236}">
                <a16:creationId xmlns:a16="http://schemas.microsoft.com/office/drawing/2014/main" id="{40C4F4ED-2BC4-C6B7-DDD3-9A7169EA9902}"/>
              </a:ext>
            </a:extLst>
          </p:cNvPr>
          <p:cNvSpPr/>
          <p:nvPr/>
        </p:nvSpPr>
        <p:spPr>
          <a:xfrm>
            <a:off x="7480918" y="2025446"/>
            <a:ext cx="2293505" cy="771510"/>
          </a:xfrm>
          <a:prstGeom prst="roundRect">
            <a:avLst/>
          </a:prstGeom>
          <a:solidFill>
            <a:schemeClr val="accent5">
              <a:lumMod val="60000"/>
              <a:lumOff val="40000"/>
            </a:schemeClr>
          </a:solidFill>
          <a:ln>
            <a:noFill/>
          </a:ln>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US" sz="1200"/>
              <a:t>PostgreSQL: Database</a:t>
            </a:r>
          </a:p>
        </p:txBody>
      </p:sp>
      <p:sp>
        <p:nvSpPr>
          <p:cNvPr id="8" name="Rectangle: Rounded Corners 9">
            <a:extLst>
              <a:ext uri="{FF2B5EF4-FFF2-40B4-BE49-F238E27FC236}">
                <a16:creationId xmlns:a16="http://schemas.microsoft.com/office/drawing/2014/main" id="{DEC7CC53-DF8A-A891-B42F-59C31A2C8671}"/>
              </a:ext>
            </a:extLst>
          </p:cNvPr>
          <p:cNvSpPr/>
          <p:nvPr/>
        </p:nvSpPr>
        <p:spPr>
          <a:xfrm>
            <a:off x="8978139" y="5241372"/>
            <a:ext cx="2067394" cy="771507"/>
          </a:xfrm>
          <a:prstGeom prst="roundRect">
            <a:avLst/>
          </a:prstGeom>
          <a:solidFill>
            <a:schemeClr val="accent4">
              <a:lumMod val="60000"/>
              <a:lumOff val="40000"/>
            </a:schemeClr>
          </a:solidFill>
          <a:ln>
            <a:no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US" sz="1200">
                <a:solidFill>
                  <a:schemeClr val="bg1"/>
                </a:solidFill>
              </a:rPr>
              <a:t>Junit: Testing and Validation</a:t>
            </a:r>
          </a:p>
        </p:txBody>
      </p:sp>
      <p:cxnSp>
        <p:nvCxnSpPr>
          <p:cNvPr id="9" name="Elbow Connector 12">
            <a:extLst>
              <a:ext uri="{FF2B5EF4-FFF2-40B4-BE49-F238E27FC236}">
                <a16:creationId xmlns:a16="http://schemas.microsoft.com/office/drawing/2014/main" id="{A5E24E8D-C997-6D9C-23A1-4307E61E0FCE}"/>
              </a:ext>
            </a:extLst>
          </p:cNvPr>
          <p:cNvCxnSpPr>
            <a:cxnSpLocks/>
          </p:cNvCxnSpPr>
          <p:nvPr/>
        </p:nvCxnSpPr>
        <p:spPr>
          <a:xfrm rot="10800000" flipV="1">
            <a:off x="3886613" y="3749465"/>
            <a:ext cx="1370471" cy="1162224"/>
          </a:xfrm>
          <a:prstGeom prst="bentConnector3">
            <a:avLst>
              <a:gd name="adj1" fmla="val 100253"/>
            </a:avLst>
          </a:prstGeom>
          <a:ln w="31750">
            <a:solidFill>
              <a:schemeClr val="bg2">
                <a:lumMod val="9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Elbow Connector 22">
            <a:extLst>
              <a:ext uri="{FF2B5EF4-FFF2-40B4-BE49-F238E27FC236}">
                <a16:creationId xmlns:a16="http://schemas.microsoft.com/office/drawing/2014/main" id="{46F5C5AE-615E-F02B-A347-E6DBD3D51E8C}"/>
              </a:ext>
            </a:extLst>
          </p:cNvPr>
          <p:cNvCxnSpPr>
            <a:cxnSpLocks/>
          </p:cNvCxnSpPr>
          <p:nvPr/>
        </p:nvCxnSpPr>
        <p:spPr>
          <a:xfrm flipV="1">
            <a:off x="5144347" y="4332445"/>
            <a:ext cx="1516155" cy="1103155"/>
          </a:xfrm>
          <a:prstGeom prst="bentConnector3">
            <a:avLst>
              <a:gd name="adj1" fmla="val 100259"/>
            </a:avLst>
          </a:prstGeom>
          <a:ln w="31750">
            <a:solidFill>
              <a:schemeClr val="bg2">
                <a:lumMod val="9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Elbow Connector 31">
            <a:extLst>
              <a:ext uri="{FF2B5EF4-FFF2-40B4-BE49-F238E27FC236}">
                <a16:creationId xmlns:a16="http://schemas.microsoft.com/office/drawing/2014/main" id="{09F67154-9257-2DBD-2AFB-75C88217EE8F}"/>
              </a:ext>
            </a:extLst>
          </p:cNvPr>
          <p:cNvCxnSpPr>
            <a:cxnSpLocks/>
          </p:cNvCxnSpPr>
          <p:nvPr/>
        </p:nvCxnSpPr>
        <p:spPr>
          <a:xfrm flipV="1">
            <a:off x="7807255" y="2796956"/>
            <a:ext cx="1640832" cy="1105074"/>
          </a:xfrm>
          <a:prstGeom prst="bentConnector3">
            <a:avLst>
              <a:gd name="adj1" fmla="val 99621"/>
            </a:avLst>
          </a:prstGeom>
          <a:ln w="31750">
            <a:solidFill>
              <a:schemeClr val="bg2">
                <a:lumMod val="9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32">
            <a:extLst>
              <a:ext uri="{FF2B5EF4-FFF2-40B4-BE49-F238E27FC236}">
                <a16:creationId xmlns:a16="http://schemas.microsoft.com/office/drawing/2014/main" id="{240EF335-D777-4332-DC16-3AD8865FA1CA}"/>
              </a:ext>
            </a:extLst>
          </p:cNvPr>
          <p:cNvCxnSpPr>
            <a:cxnSpLocks/>
          </p:cNvCxnSpPr>
          <p:nvPr/>
        </p:nvCxnSpPr>
        <p:spPr>
          <a:xfrm rot="5400000">
            <a:off x="6438635" y="2634241"/>
            <a:ext cx="1132898" cy="689163"/>
          </a:xfrm>
          <a:prstGeom prst="bentConnector3">
            <a:avLst>
              <a:gd name="adj1" fmla="val 917"/>
            </a:avLst>
          </a:prstGeom>
          <a:ln w="31750">
            <a:solidFill>
              <a:schemeClr val="bg2">
                <a:lumMod val="9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Elbow Connector 37">
            <a:extLst>
              <a:ext uri="{FF2B5EF4-FFF2-40B4-BE49-F238E27FC236}">
                <a16:creationId xmlns:a16="http://schemas.microsoft.com/office/drawing/2014/main" id="{04600A00-3231-35A0-735F-E4CE7AFB3E02}"/>
              </a:ext>
            </a:extLst>
          </p:cNvPr>
          <p:cNvCxnSpPr>
            <a:cxnSpLocks/>
          </p:cNvCxnSpPr>
          <p:nvPr/>
        </p:nvCxnSpPr>
        <p:spPr>
          <a:xfrm rot="16200000" flipV="1">
            <a:off x="8929579" y="3351541"/>
            <a:ext cx="2760462" cy="882125"/>
          </a:xfrm>
          <a:prstGeom prst="bentConnector3">
            <a:avLst>
              <a:gd name="adj1" fmla="val 99928"/>
            </a:avLst>
          </a:prstGeom>
          <a:ln w="31750">
            <a:solidFill>
              <a:schemeClr val="bg2">
                <a:lumMod val="9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Elbow Connector 42">
            <a:extLst>
              <a:ext uri="{FF2B5EF4-FFF2-40B4-BE49-F238E27FC236}">
                <a16:creationId xmlns:a16="http://schemas.microsoft.com/office/drawing/2014/main" id="{CDF608A3-6624-C1BA-272C-61B7FC2E29A0}"/>
              </a:ext>
            </a:extLst>
          </p:cNvPr>
          <p:cNvCxnSpPr>
            <a:cxnSpLocks/>
          </p:cNvCxnSpPr>
          <p:nvPr/>
        </p:nvCxnSpPr>
        <p:spPr>
          <a:xfrm rot="10800000">
            <a:off x="7807257" y="4055811"/>
            <a:ext cx="1640830" cy="1117024"/>
          </a:xfrm>
          <a:prstGeom prst="bentConnector3">
            <a:avLst>
              <a:gd name="adj1" fmla="val 297"/>
            </a:avLst>
          </a:prstGeom>
          <a:ln w="31750">
            <a:solidFill>
              <a:schemeClr val="bg2">
                <a:lumMod val="9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5F300C96-5B64-1C11-0E12-6D798E168AC1}"/>
              </a:ext>
            </a:extLst>
          </p:cNvPr>
          <p:cNvCxnSpPr>
            <a:cxnSpLocks/>
          </p:cNvCxnSpPr>
          <p:nvPr/>
        </p:nvCxnSpPr>
        <p:spPr>
          <a:xfrm flipH="1">
            <a:off x="5135456" y="5557854"/>
            <a:ext cx="3736513" cy="0"/>
          </a:xfrm>
          <a:prstGeom prst="straightConnector1">
            <a:avLst/>
          </a:prstGeom>
          <a:ln w="31750">
            <a:solidFill>
              <a:schemeClr val="bg2">
                <a:lumMod val="9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70A998B-982C-9DF8-B6BB-CBDED4DE45A4}"/>
              </a:ext>
            </a:extLst>
          </p:cNvPr>
          <p:cNvSpPr txBox="1"/>
          <p:nvPr/>
        </p:nvSpPr>
        <p:spPr>
          <a:xfrm>
            <a:off x="766845" y="1396792"/>
            <a:ext cx="4833521" cy="1015663"/>
          </a:xfrm>
          <a:prstGeom prst="rect">
            <a:avLst/>
          </a:prstGeom>
          <a:noFill/>
        </p:spPr>
        <p:txBody>
          <a:bodyPr wrap="square" rtlCol="0">
            <a:spAutoFit/>
          </a:bodyPr>
          <a:lstStyle/>
          <a:p>
            <a:r>
              <a:rPr lang="en-US" sz="3000">
                <a:solidFill>
                  <a:srgbClr val="2C3E50"/>
                </a:solidFill>
                <a:latin typeface="Felix Titling (Headings)"/>
              </a:rPr>
              <a:t>Software Architecture</a:t>
            </a:r>
          </a:p>
        </p:txBody>
      </p:sp>
    </p:spTree>
    <p:extLst>
      <p:ext uri="{BB962C8B-B14F-4D97-AF65-F5344CB8AC3E}">
        <p14:creationId xmlns:p14="http://schemas.microsoft.com/office/powerpoint/2010/main" val="2714411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6904A-D9F0-D32D-7E1D-68BD551EE2F3}"/>
              </a:ext>
            </a:extLst>
          </p:cNvPr>
          <p:cNvSpPr>
            <a:spLocks noGrp="1"/>
          </p:cNvSpPr>
          <p:nvPr>
            <p:ph type="title"/>
          </p:nvPr>
        </p:nvSpPr>
        <p:spPr>
          <a:xfrm>
            <a:off x="731520" y="365760"/>
            <a:ext cx="10741152" cy="1132258"/>
          </a:xfrm>
        </p:spPr>
        <p:txBody>
          <a:bodyPr anchor="b">
            <a:normAutofit/>
          </a:bodyPr>
          <a:lstStyle/>
          <a:p>
            <a:r>
              <a:rPr lang="en-US">
                <a:solidFill>
                  <a:schemeClr val="tx2"/>
                </a:solidFill>
              </a:rPr>
              <a:t>sprint backlog overview</a:t>
            </a:r>
          </a:p>
        </p:txBody>
      </p:sp>
      <p:sp>
        <p:nvSpPr>
          <p:cNvPr id="7" name="Content Placeholder 2">
            <a:extLst>
              <a:ext uri="{FF2B5EF4-FFF2-40B4-BE49-F238E27FC236}">
                <a16:creationId xmlns:a16="http://schemas.microsoft.com/office/drawing/2014/main" id="{CEA8A953-557F-8F97-7BB1-FF558E7CD512}"/>
              </a:ext>
            </a:extLst>
          </p:cNvPr>
          <p:cNvSpPr>
            <a:spLocks noGrp="1"/>
          </p:cNvSpPr>
          <p:nvPr>
            <p:ph sz="quarter" idx="15"/>
          </p:nvPr>
        </p:nvSpPr>
        <p:spPr>
          <a:xfrm>
            <a:off x="731838" y="2103438"/>
            <a:ext cx="5181600" cy="4351337"/>
          </a:xfrm>
        </p:spPr>
        <p:txBody>
          <a:bodyPr>
            <a:normAutofit/>
          </a:bodyPr>
          <a:lstStyle/>
          <a:p>
            <a:r>
              <a:rPr lang="en-US" err="1">
                <a:hlinkClick r:id="rId2"/>
              </a:rPr>
              <a:t>ClubHub</a:t>
            </a:r>
            <a:r>
              <a:rPr lang="en-US">
                <a:hlinkClick r:id="rId2"/>
              </a:rPr>
              <a:t>: Kanban Board</a:t>
            </a:r>
            <a:r>
              <a:rPr lang="en-US">
                <a:solidFill>
                  <a:schemeClr val="tx2"/>
                </a:solidFill>
              </a:rPr>
              <a:t> </a:t>
            </a:r>
          </a:p>
        </p:txBody>
      </p:sp>
      <p:pic>
        <p:nvPicPr>
          <p:cNvPr id="6" name="Picture 5">
            <a:extLst>
              <a:ext uri="{FF2B5EF4-FFF2-40B4-BE49-F238E27FC236}">
                <a16:creationId xmlns:a16="http://schemas.microsoft.com/office/drawing/2014/main" id="{A5CB7A8A-0973-F012-3DBB-C2985A714D47}"/>
              </a:ext>
            </a:extLst>
          </p:cNvPr>
          <p:cNvPicPr>
            <a:picLocks noChangeAspect="1"/>
          </p:cNvPicPr>
          <p:nvPr/>
        </p:nvPicPr>
        <p:blipFill>
          <a:blip r:embed="rId3"/>
          <a:stretch>
            <a:fillRect/>
          </a:stretch>
        </p:blipFill>
        <p:spPr>
          <a:xfrm>
            <a:off x="6284947" y="2387506"/>
            <a:ext cx="5181600" cy="3782567"/>
          </a:xfrm>
          <a:prstGeom prst="rect">
            <a:avLst/>
          </a:prstGeom>
          <a:noFill/>
        </p:spPr>
      </p:pic>
    </p:spTree>
    <p:extLst>
      <p:ext uri="{BB962C8B-B14F-4D97-AF65-F5344CB8AC3E}">
        <p14:creationId xmlns:p14="http://schemas.microsoft.com/office/powerpoint/2010/main" val="1181113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ED9B910B-8833-8389-7CAB-8FEDEDB24D0F}"/>
              </a:ext>
            </a:extLst>
          </p:cNvPr>
          <p:cNvSpPr>
            <a:spLocks noGrp="1"/>
          </p:cNvSpPr>
          <p:nvPr>
            <p:ph type="title"/>
          </p:nvPr>
        </p:nvSpPr>
        <p:spPr>
          <a:xfrm>
            <a:off x="731520" y="365760"/>
            <a:ext cx="10741152" cy="1132258"/>
          </a:xfrm>
        </p:spPr>
        <p:txBody>
          <a:bodyPr>
            <a:normAutofit fontScale="90000"/>
          </a:bodyPr>
          <a:lstStyle/>
          <a:p>
            <a:r>
              <a:rPr lang="en-US">
                <a:solidFill>
                  <a:srgbClr val="2C3E50"/>
                </a:solidFill>
              </a:rPr>
              <a:t>Changes to Kanban Board Structure</a:t>
            </a:r>
          </a:p>
        </p:txBody>
      </p:sp>
      <p:sp>
        <p:nvSpPr>
          <p:cNvPr id="24" name="Content Placeholder 23">
            <a:extLst>
              <a:ext uri="{FF2B5EF4-FFF2-40B4-BE49-F238E27FC236}">
                <a16:creationId xmlns:a16="http://schemas.microsoft.com/office/drawing/2014/main" id="{AE9A8600-6344-7734-637E-324C6B6F8A03}"/>
              </a:ext>
            </a:extLst>
          </p:cNvPr>
          <p:cNvSpPr>
            <a:spLocks noGrp="1"/>
          </p:cNvSpPr>
          <p:nvPr>
            <p:ph sz="quarter" idx="15"/>
          </p:nvPr>
        </p:nvSpPr>
        <p:spPr>
          <a:xfrm>
            <a:off x="731838" y="2103438"/>
            <a:ext cx="4891304" cy="4351337"/>
          </a:xfrm>
        </p:spPr>
        <p:txBody>
          <a:bodyPr/>
          <a:lstStyle/>
          <a:p>
            <a:pPr marL="342900" indent="-342900" fontAlgn="t">
              <a:buFont typeface="Arial" panose="020B0604020202020204" pitchFamily="34" charset="0"/>
              <a:buChar char="•"/>
            </a:pPr>
            <a:r>
              <a:rPr lang="en-US">
                <a:solidFill>
                  <a:srgbClr val="2C3E50"/>
                </a:solidFill>
              </a:rPr>
              <a:t>Improved visibility of project status and sprint progress.</a:t>
            </a:r>
          </a:p>
          <a:p>
            <a:pPr marL="845820" lvl="1" indent="-342900" fontAlgn="t">
              <a:buFont typeface="Arial" panose="020B0604020202020204" pitchFamily="34" charset="0"/>
              <a:buChar char="•"/>
            </a:pPr>
            <a:r>
              <a:rPr lang="en-US">
                <a:solidFill>
                  <a:srgbClr val="2C3E50"/>
                </a:solidFill>
              </a:rPr>
              <a:t>Previous requirement structure made progress difficult to track.</a:t>
            </a:r>
          </a:p>
          <a:p>
            <a:pPr marL="342900" lvl="0" indent="-342900" fontAlgn="t">
              <a:buFont typeface="Arial" panose="020B0604020202020204" pitchFamily="34" charset="0"/>
              <a:buChar char="•"/>
            </a:pPr>
            <a:r>
              <a:rPr lang="en-US">
                <a:solidFill>
                  <a:srgbClr val="2C3E50"/>
                </a:solidFill>
              </a:rPr>
              <a:t>Front-end and back-end responsibilities are now clearly separated.</a:t>
            </a:r>
          </a:p>
          <a:p>
            <a:pPr marL="342900" lvl="0" indent="-342900" fontAlgn="t">
              <a:buFont typeface="Arial" panose="020B0604020202020204" pitchFamily="34" charset="0"/>
              <a:buChar char="•"/>
            </a:pPr>
            <a:r>
              <a:rPr lang="en-US">
                <a:solidFill>
                  <a:srgbClr val="2C3E50"/>
                </a:solidFill>
              </a:rPr>
              <a:t>Development dependencies are easier to identify.</a:t>
            </a:r>
          </a:p>
          <a:p>
            <a:pPr marL="342900" lvl="0" indent="-342900" fontAlgn="t">
              <a:buFont typeface="Arial" panose="020B0604020202020204" pitchFamily="34" charset="0"/>
              <a:buChar char="•"/>
            </a:pPr>
            <a:r>
              <a:rPr lang="en-US">
                <a:solidFill>
                  <a:srgbClr val="2C3E50"/>
                </a:solidFill>
              </a:rPr>
              <a:t>Front-end implementation can begin as soon as required APIs/services are available.</a:t>
            </a:r>
          </a:p>
          <a:p>
            <a:pPr marL="342900" lvl="0" indent="-342900" fontAlgn="t">
              <a:buFont typeface="Arial" panose="020B0604020202020204" pitchFamily="34" charset="0"/>
              <a:buChar char="•"/>
            </a:pPr>
            <a:r>
              <a:rPr lang="en-US">
                <a:solidFill>
                  <a:srgbClr val="2C3E50"/>
                </a:solidFill>
              </a:rPr>
              <a:t>Back-end functionality can be tested independently before UI</a:t>
            </a:r>
          </a:p>
          <a:p>
            <a:endParaRPr lang="en-US"/>
          </a:p>
        </p:txBody>
      </p:sp>
      <p:pic>
        <p:nvPicPr>
          <p:cNvPr id="25" name="Content Placeholder 7">
            <a:extLst>
              <a:ext uri="{FF2B5EF4-FFF2-40B4-BE49-F238E27FC236}">
                <a16:creationId xmlns:a16="http://schemas.microsoft.com/office/drawing/2014/main" id="{4B174675-0962-4120-F3ED-EF6CA79BFC0C}"/>
              </a:ext>
            </a:extLst>
          </p:cNvPr>
          <p:cNvPicPr>
            <a:picLocks noChangeAspect="1"/>
          </p:cNvPicPr>
          <p:nvPr/>
        </p:nvPicPr>
        <p:blipFill>
          <a:blip r:embed="rId2"/>
          <a:srcRect l="23209" t="12956" r="55419" b="37589"/>
          <a:stretch>
            <a:fillRect/>
          </a:stretch>
        </p:blipFill>
        <p:spPr>
          <a:xfrm>
            <a:off x="5812089" y="2138850"/>
            <a:ext cx="2535754" cy="4283075"/>
          </a:xfrm>
          <a:prstGeom prst="rect">
            <a:avLst/>
          </a:prstGeom>
          <a:noFill/>
        </p:spPr>
      </p:pic>
      <p:pic>
        <p:nvPicPr>
          <p:cNvPr id="26" name="Content Placeholder 19">
            <a:extLst>
              <a:ext uri="{FF2B5EF4-FFF2-40B4-BE49-F238E27FC236}">
                <a16:creationId xmlns:a16="http://schemas.microsoft.com/office/drawing/2014/main" id="{AF0E314A-D9FB-A10E-7B70-333B109F8249}"/>
              </a:ext>
            </a:extLst>
          </p:cNvPr>
          <p:cNvPicPr>
            <a:picLocks noChangeAspect="1"/>
          </p:cNvPicPr>
          <p:nvPr/>
        </p:nvPicPr>
        <p:blipFill>
          <a:blip r:embed="rId3"/>
          <a:srcRect t="1569"/>
          <a:stretch>
            <a:fillRect/>
          </a:stretch>
        </p:blipFill>
        <p:spPr>
          <a:xfrm>
            <a:off x="9332947" y="2103121"/>
            <a:ext cx="2606458" cy="4283075"/>
          </a:xfrm>
          <a:prstGeom prst="rect">
            <a:avLst/>
          </a:prstGeom>
        </p:spPr>
      </p:pic>
      <p:sp>
        <p:nvSpPr>
          <p:cNvPr id="2" name="Right Arrow 1">
            <a:extLst>
              <a:ext uri="{FF2B5EF4-FFF2-40B4-BE49-F238E27FC236}">
                <a16:creationId xmlns:a16="http://schemas.microsoft.com/office/drawing/2014/main" id="{C9E30344-2F9A-7277-490E-39859AFC775D}"/>
              </a:ext>
            </a:extLst>
          </p:cNvPr>
          <p:cNvSpPr/>
          <p:nvPr/>
        </p:nvSpPr>
        <p:spPr>
          <a:xfrm>
            <a:off x="8561738" y="3689251"/>
            <a:ext cx="557313" cy="1179710"/>
          </a:xfrm>
          <a:prstGeom prst="righ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9443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4A82B-58E3-DBAE-AB7A-D5E29209DFEB}"/>
              </a:ext>
            </a:extLst>
          </p:cNvPr>
          <p:cNvSpPr>
            <a:spLocks noGrp="1"/>
          </p:cNvSpPr>
          <p:nvPr>
            <p:ph type="title"/>
          </p:nvPr>
        </p:nvSpPr>
        <p:spPr/>
        <p:txBody>
          <a:bodyPr/>
          <a:lstStyle/>
          <a:p>
            <a:r>
              <a:rPr lang="en-US" sz="3200" err="1">
                <a:solidFill>
                  <a:srgbClr val="2C3E50"/>
                </a:solidFill>
              </a:rPr>
              <a:t>ClubHub</a:t>
            </a:r>
            <a:r>
              <a:rPr lang="en-US" sz="3200">
                <a:solidFill>
                  <a:srgbClr val="2C3E50"/>
                </a:solidFill>
              </a:rPr>
              <a:t> Use Case Diagram</a:t>
            </a:r>
          </a:p>
        </p:txBody>
      </p:sp>
      <p:pic>
        <p:nvPicPr>
          <p:cNvPr id="5" name="Picture 4" descr="A diagram of a club&#10;&#10;AI-generated content may be incorrect.">
            <a:extLst>
              <a:ext uri="{FF2B5EF4-FFF2-40B4-BE49-F238E27FC236}">
                <a16:creationId xmlns:a16="http://schemas.microsoft.com/office/drawing/2014/main" id="{574280B2-AA3B-E8A7-E8F5-836D7FDB9901}"/>
              </a:ext>
            </a:extLst>
          </p:cNvPr>
          <p:cNvPicPr>
            <a:picLocks noChangeAspect="1"/>
          </p:cNvPicPr>
          <p:nvPr/>
        </p:nvPicPr>
        <p:blipFill>
          <a:blip r:embed="rId2"/>
          <a:stretch>
            <a:fillRect/>
          </a:stretch>
        </p:blipFill>
        <p:spPr>
          <a:xfrm>
            <a:off x="6715287" y="1957786"/>
            <a:ext cx="3555848" cy="4640722"/>
          </a:xfrm>
          <a:prstGeom prst="rect">
            <a:avLst/>
          </a:prstGeom>
        </p:spPr>
      </p:pic>
      <p:sp>
        <p:nvSpPr>
          <p:cNvPr id="3" name="TextBox 2">
            <a:extLst>
              <a:ext uri="{FF2B5EF4-FFF2-40B4-BE49-F238E27FC236}">
                <a16:creationId xmlns:a16="http://schemas.microsoft.com/office/drawing/2014/main" id="{65CFA237-628D-86CE-DC55-711A4268BF0B}"/>
              </a:ext>
            </a:extLst>
          </p:cNvPr>
          <p:cNvSpPr txBox="1"/>
          <p:nvPr/>
        </p:nvSpPr>
        <p:spPr>
          <a:xfrm>
            <a:off x="704335" y="2397210"/>
            <a:ext cx="4772379" cy="2031325"/>
          </a:xfrm>
          <a:prstGeom prst="rect">
            <a:avLst/>
          </a:prstGeom>
          <a:noFill/>
        </p:spPr>
        <p:txBody>
          <a:bodyPr wrap="square" rtlCol="0">
            <a:spAutoFit/>
          </a:bodyPr>
          <a:lstStyle/>
          <a:p>
            <a:pPr marL="285750" indent="-285750">
              <a:buFont typeface="Arial" panose="020B0604020202020204" pitchFamily="34" charset="0"/>
              <a:buChar char="•"/>
            </a:pPr>
            <a:r>
              <a:rPr lang="en-US">
                <a:solidFill>
                  <a:srgbClr val="2C3E50"/>
                </a:solidFill>
              </a:rPr>
              <a:t>Student</a:t>
            </a:r>
          </a:p>
          <a:p>
            <a:pPr marL="742950" lvl="1" indent="-285750">
              <a:buFont typeface="Arial" panose="020B0604020202020204" pitchFamily="34" charset="0"/>
              <a:buChar char="•"/>
            </a:pPr>
            <a:r>
              <a:rPr lang="en-US">
                <a:solidFill>
                  <a:srgbClr val="2C3E50"/>
                </a:solidFill>
              </a:rPr>
              <a:t>Log in </a:t>
            </a:r>
          </a:p>
          <a:p>
            <a:pPr marL="742950" lvl="1" indent="-285750">
              <a:buFont typeface="Arial" panose="020B0604020202020204" pitchFamily="34" charset="0"/>
              <a:buChar char="•"/>
            </a:pPr>
            <a:r>
              <a:rPr lang="en-US">
                <a:solidFill>
                  <a:srgbClr val="2C3E50"/>
                </a:solidFill>
              </a:rPr>
              <a:t>Register</a:t>
            </a:r>
          </a:p>
          <a:p>
            <a:pPr marL="742950" lvl="1" indent="-285750">
              <a:buFont typeface="Arial" panose="020B0604020202020204" pitchFamily="34" charset="0"/>
              <a:buChar char="•"/>
            </a:pPr>
            <a:r>
              <a:rPr lang="en-US">
                <a:solidFill>
                  <a:srgbClr val="2C3E50"/>
                </a:solidFill>
              </a:rPr>
              <a:t>Create event</a:t>
            </a:r>
          </a:p>
          <a:p>
            <a:pPr marL="742950" lvl="1" indent="-285750">
              <a:buFont typeface="Arial" panose="020B0604020202020204" pitchFamily="34" charset="0"/>
              <a:buChar char="•"/>
            </a:pPr>
            <a:r>
              <a:rPr lang="en-US">
                <a:solidFill>
                  <a:srgbClr val="2C3E50"/>
                </a:solidFill>
              </a:rPr>
              <a:t>Create new clubs</a:t>
            </a:r>
          </a:p>
          <a:p>
            <a:pPr marL="285750" indent="-285750">
              <a:buFont typeface="Arial" panose="020B0604020202020204" pitchFamily="34" charset="0"/>
              <a:buChar char="•"/>
            </a:pPr>
            <a:r>
              <a:rPr lang="en-US">
                <a:solidFill>
                  <a:srgbClr val="2C3E50"/>
                </a:solidFill>
              </a:rPr>
              <a:t>Admin</a:t>
            </a:r>
          </a:p>
          <a:p>
            <a:pPr marL="742950" lvl="1" indent="-285750">
              <a:buFont typeface="Arial" panose="020B0604020202020204" pitchFamily="34" charset="0"/>
              <a:buChar char="•"/>
            </a:pPr>
            <a:r>
              <a:rPr lang="en-US">
                <a:solidFill>
                  <a:srgbClr val="2C3E50"/>
                </a:solidFill>
              </a:rPr>
              <a:t>Approval</a:t>
            </a:r>
          </a:p>
        </p:txBody>
      </p:sp>
    </p:spTree>
    <p:extLst>
      <p:ext uri="{BB962C8B-B14F-4D97-AF65-F5344CB8AC3E}">
        <p14:creationId xmlns:p14="http://schemas.microsoft.com/office/powerpoint/2010/main" val="1810209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6370C-66CF-BB24-F20B-1CC194EAC0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D59C4D-DD9D-9BDB-292C-0DD4DD226B3A}"/>
              </a:ext>
            </a:extLst>
          </p:cNvPr>
          <p:cNvSpPr>
            <a:spLocks noGrp="1"/>
          </p:cNvSpPr>
          <p:nvPr>
            <p:ph type="title"/>
          </p:nvPr>
        </p:nvSpPr>
        <p:spPr/>
        <p:txBody>
          <a:bodyPr>
            <a:normAutofit/>
          </a:bodyPr>
          <a:lstStyle/>
          <a:p>
            <a:r>
              <a:rPr lang="en-US" sz="2800" err="1">
                <a:solidFill>
                  <a:schemeClr val="tx2"/>
                </a:solidFill>
              </a:rPr>
              <a:t>ClubHub</a:t>
            </a:r>
            <a:r>
              <a:rPr lang="en-US" sz="2800">
                <a:solidFill>
                  <a:schemeClr val="tx2"/>
                </a:solidFill>
              </a:rPr>
              <a:t> Class Diagram</a:t>
            </a:r>
          </a:p>
        </p:txBody>
      </p:sp>
      <p:pic>
        <p:nvPicPr>
          <p:cNvPr id="4" name="Content Placeholder 4">
            <a:extLst>
              <a:ext uri="{FF2B5EF4-FFF2-40B4-BE49-F238E27FC236}">
                <a16:creationId xmlns:a16="http://schemas.microsoft.com/office/drawing/2014/main" id="{FD6F1548-9386-C600-8106-1024903C5774}"/>
              </a:ext>
            </a:extLst>
          </p:cNvPr>
          <p:cNvPicPr>
            <a:picLocks noChangeAspect="1"/>
          </p:cNvPicPr>
          <p:nvPr/>
        </p:nvPicPr>
        <p:blipFill>
          <a:blip r:embed="rId2"/>
          <a:stretch>
            <a:fillRect/>
          </a:stretch>
        </p:blipFill>
        <p:spPr>
          <a:xfrm>
            <a:off x="6076761" y="332836"/>
            <a:ext cx="6115692" cy="6520129"/>
          </a:xfrm>
          <a:prstGeom prst="rect">
            <a:avLst/>
          </a:prstGeom>
        </p:spPr>
      </p:pic>
      <p:sp>
        <p:nvSpPr>
          <p:cNvPr id="6" name="TextBox 5">
            <a:extLst>
              <a:ext uri="{FF2B5EF4-FFF2-40B4-BE49-F238E27FC236}">
                <a16:creationId xmlns:a16="http://schemas.microsoft.com/office/drawing/2014/main" id="{3ABDC1E8-FC71-CCAA-18EA-A37327BC7F2A}"/>
              </a:ext>
            </a:extLst>
          </p:cNvPr>
          <p:cNvSpPr txBox="1"/>
          <p:nvPr/>
        </p:nvSpPr>
        <p:spPr>
          <a:xfrm>
            <a:off x="417285" y="1850914"/>
            <a:ext cx="5675243"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The classes are labeled according to the legend on the class diagram. Dashed border represents classes we have yet to code or implement. Blue represents entities (JPA); yellow represents enumeration classes; red/purple represents controllers and repositories; green represents forms or responses. Attributes and methods are listed with proper relationships.</a:t>
            </a:r>
          </a:p>
          <a:p>
            <a:endParaRPr lang="en-US"/>
          </a:p>
          <a:p>
            <a:r>
              <a:rPr lang="en-US"/>
              <a:t>Enum classes: need for setting values, they must be fixed and exact to prevent errors.</a:t>
            </a:r>
          </a:p>
          <a:p>
            <a:r>
              <a:rPr lang="en-US"/>
              <a:t>Controller classes: handles HTTP requests and manage flow of data between UI and database.</a:t>
            </a:r>
          </a:p>
          <a:p>
            <a:r>
              <a:rPr lang="en-US"/>
              <a:t>Entity classes: Stores information of basic classes.</a:t>
            </a:r>
          </a:p>
          <a:p>
            <a:r>
              <a:rPr lang="en-US"/>
              <a:t>Repository classes: to store and access data and rules from the database.</a:t>
            </a:r>
          </a:p>
          <a:p>
            <a:r>
              <a:rPr lang="en-US"/>
              <a:t>DTO classes: for forms and responses, so data can flow from the web page(s) to the backend.</a:t>
            </a:r>
          </a:p>
          <a:p>
            <a:endParaRPr lang="en-US"/>
          </a:p>
        </p:txBody>
      </p:sp>
    </p:spTree>
    <p:extLst>
      <p:ext uri="{BB962C8B-B14F-4D97-AF65-F5344CB8AC3E}">
        <p14:creationId xmlns:p14="http://schemas.microsoft.com/office/powerpoint/2010/main" val="19637855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2BCBE-83D2-4AD5-AC1E-06F115A1D1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795023-77F4-B19A-9952-25F45465E211}"/>
              </a:ext>
            </a:extLst>
          </p:cNvPr>
          <p:cNvSpPr>
            <a:spLocks noGrp="1"/>
          </p:cNvSpPr>
          <p:nvPr>
            <p:ph type="title"/>
          </p:nvPr>
        </p:nvSpPr>
        <p:spPr/>
        <p:txBody>
          <a:bodyPr>
            <a:normAutofit/>
          </a:bodyPr>
          <a:lstStyle/>
          <a:p>
            <a:r>
              <a:rPr lang="en-US" sz="3200" err="1">
                <a:solidFill>
                  <a:schemeClr val="tx2"/>
                </a:solidFill>
              </a:rPr>
              <a:t>ClubHub</a:t>
            </a:r>
            <a:r>
              <a:rPr lang="en-US" sz="3200">
                <a:solidFill>
                  <a:schemeClr val="tx2"/>
                </a:solidFill>
              </a:rPr>
              <a:t> Collaboration Diagram for Student Profile Creation</a:t>
            </a:r>
          </a:p>
        </p:txBody>
      </p:sp>
      <p:grpSp>
        <p:nvGrpSpPr>
          <p:cNvPr id="3" name="Collaboration Diagram">
            <a:extLst>
              <a:ext uri="{FF2B5EF4-FFF2-40B4-BE49-F238E27FC236}">
                <a16:creationId xmlns:a16="http://schemas.microsoft.com/office/drawing/2014/main" id="{1EA41F22-C8AC-B364-D27D-368428783D3E}"/>
              </a:ext>
            </a:extLst>
          </p:cNvPr>
          <p:cNvGrpSpPr/>
          <p:nvPr/>
        </p:nvGrpSpPr>
        <p:grpSpPr>
          <a:xfrm>
            <a:off x="548640" y="1938528"/>
            <a:ext cx="10469880" cy="4325112"/>
            <a:chOff x="548640" y="1938528"/>
            <a:chExt cx="10469880" cy="4325112"/>
          </a:xfrm>
        </p:grpSpPr>
        <p:sp>
          <p:nvSpPr>
            <p:cNvPr id="4" name="Actor Head">
              <a:extLst>
                <a:ext uri="{FF2B5EF4-FFF2-40B4-BE49-F238E27FC236}">
                  <a16:creationId xmlns:a16="http://schemas.microsoft.com/office/drawing/2014/main" id="{BDAA2EBB-4349-C603-A580-D4ADCD54A171}"/>
                </a:ext>
              </a:extLst>
            </p:cNvPr>
            <p:cNvSpPr/>
            <p:nvPr/>
          </p:nvSpPr>
          <p:spPr>
            <a:xfrm>
              <a:off x="777240" y="2148840"/>
              <a:ext cx="274320" cy="274320"/>
            </a:xfrm>
            <a:prstGeom prst="ellipse">
              <a:avLst/>
            </a:prstGeom>
            <a:noFill/>
            <a:ln w="15875">
              <a:solidFill>
                <a:srgbClr val="2C3E50"/>
              </a:solidFill>
            </a:ln>
          </p:spPr>
          <p:txBody>
            <a:bodyPr/>
            <a:lstStyle/>
            <a:p>
              <a:endParaRPr lang="en-US"/>
            </a:p>
          </p:txBody>
        </p:sp>
        <p:cxnSp>
          <p:nvCxnSpPr>
            <p:cNvPr id="5" name="Line 5">
              <a:extLst>
                <a:ext uri="{FF2B5EF4-FFF2-40B4-BE49-F238E27FC236}">
                  <a16:creationId xmlns:a16="http://schemas.microsoft.com/office/drawing/2014/main" id="{1857F3F8-8282-14FC-445C-AE8884F8D608}"/>
                </a:ext>
              </a:extLst>
            </p:cNvPr>
            <p:cNvCxnSpPr/>
            <p:nvPr/>
          </p:nvCxnSpPr>
          <p:spPr>
            <a:xfrm>
              <a:off x="914400" y="2423160"/>
              <a:ext cx="0" cy="457200"/>
            </a:xfrm>
            <a:prstGeom prst="line">
              <a:avLst/>
            </a:prstGeom>
            <a:ln w="15875">
              <a:solidFill>
                <a:srgbClr val="2C3E50"/>
              </a:solidFill>
            </a:ln>
          </p:spPr>
        </p:cxnSp>
        <p:cxnSp>
          <p:nvCxnSpPr>
            <p:cNvPr id="6" name="Line 6">
              <a:extLst>
                <a:ext uri="{FF2B5EF4-FFF2-40B4-BE49-F238E27FC236}">
                  <a16:creationId xmlns:a16="http://schemas.microsoft.com/office/drawing/2014/main" id="{6A88AF86-FBD4-9489-1E53-AE4366FC38E3}"/>
                </a:ext>
              </a:extLst>
            </p:cNvPr>
            <p:cNvCxnSpPr/>
            <p:nvPr/>
          </p:nvCxnSpPr>
          <p:spPr>
            <a:xfrm>
              <a:off x="713232" y="2697480"/>
              <a:ext cx="402336" cy="0"/>
            </a:xfrm>
            <a:prstGeom prst="line">
              <a:avLst/>
            </a:prstGeom>
            <a:ln w="15875">
              <a:solidFill>
                <a:srgbClr val="2C3E50"/>
              </a:solidFill>
            </a:ln>
          </p:spPr>
        </p:cxnSp>
        <p:cxnSp>
          <p:nvCxnSpPr>
            <p:cNvPr id="7" name="Line 7">
              <a:extLst>
                <a:ext uri="{FF2B5EF4-FFF2-40B4-BE49-F238E27FC236}">
                  <a16:creationId xmlns:a16="http://schemas.microsoft.com/office/drawing/2014/main" id="{1D4D62FC-3ECB-5A6E-F5CC-EF8825FE9A19}"/>
                </a:ext>
              </a:extLst>
            </p:cNvPr>
            <p:cNvCxnSpPr/>
            <p:nvPr/>
          </p:nvCxnSpPr>
          <p:spPr>
            <a:xfrm flipH="1">
              <a:off x="731520" y="2880360"/>
              <a:ext cx="182880" cy="320040"/>
            </a:xfrm>
            <a:prstGeom prst="line">
              <a:avLst/>
            </a:prstGeom>
            <a:ln w="15875">
              <a:solidFill>
                <a:srgbClr val="2C3E50"/>
              </a:solidFill>
            </a:ln>
          </p:spPr>
        </p:cxnSp>
        <p:cxnSp>
          <p:nvCxnSpPr>
            <p:cNvPr id="8" name="Line 8">
              <a:extLst>
                <a:ext uri="{FF2B5EF4-FFF2-40B4-BE49-F238E27FC236}">
                  <a16:creationId xmlns:a16="http://schemas.microsoft.com/office/drawing/2014/main" id="{C936A492-4ED3-E494-7E40-3E8F9F678A61}"/>
                </a:ext>
              </a:extLst>
            </p:cNvPr>
            <p:cNvCxnSpPr/>
            <p:nvPr/>
          </p:nvCxnSpPr>
          <p:spPr>
            <a:xfrm>
              <a:off x="914400" y="2880360"/>
              <a:ext cx="182880" cy="320040"/>
            </a:xfrm>
            <a:prstGeom prst="line">
              <a:avLst/>
            </a:prstGeom>
            <a:ln w="15875">
              <a:solidFill>
                <a:srgbClr val="2C3E50"/>
              </a:solidFill>
            </a:ln>
          </p:spPr>
        </p:cxnSp>
        <p:sp>
          <p:nvSpPr>
            <p:cNvPr id="9" name="Label 9">
              <a:extLst>
                <a:ext uri="{FF2B5EF4-FFF2-40B4-BE49-F238E27FC236}">
                  <a16:creationId xmlns:a16="http://schemas.microsoft.com/office/drawing/2014/main" id="{8548BBE7-BC68-63CE-508A-EDCBC1578B86}"/>
                </a:ext>
              </a:extLst>
            </p:cNvPr>
            <p:cNvSpPr txBox="1"/>
            <p:nvPr/>
          </p:nvSpPr>
          <p:spPr>
            <a:xfrm>
              <a:off x="548640" y="3246120"/>
              <a:ext cx="731520" cy="228600"/>
            </a:xfrm>
            <a:prstGeom prst="rect">
              <a:avLst/>
            </a:prstGeom>
            <a:noFill/>
          </p:spPr>
          <p:txBody>
            <a:bodyPr wrap="none" lIns="0" tIns="0" rIns="0" bIns="0" rtlCol="0" anchor="b">
              <a:noAutofit/>
            </a:bodyPr>
            <a:lstStyle/>
            <a:p>
              <a:pPr algn="ctr"/>
              <a:r>
                <a:rPr lang="en-US" sz="1200">
                  <a:solidFill>
                    <a:schemeClr val="tx2"/>
                  </a:solidFill>
                  <a:latin typeface="+mn-lt"/>
                </a:rPr>
                <a:t>Student</a:t>
              </a:r>
            </a:p>
          </p:txBody>
        </p:sp>
        <p:sp>
          <p:nvSpPr>
            <p:cNvPr id="10" name="ClubHubUI">
              <a:extLst>
                <a:ext uri="{FF2B5EF4-FFF2-40B4-BE49-F238E27FC236}">
                  <a16:creationId xmlns:a16="http://schemas.microsoft.com/office/drawing/2014/main" id="{73774663-FB39-6F63-FDEB-2FD896A76ED9}"/>
                </a:ext>
              </a:extLst>
            </p:cNvPr>
            <p:cNvSpPr/>
            <p:nvPr/>
          </p:nvSpPr>
          <p:spPr>
            <a:xfrm>
              <a:off x="2743200" y="2377440"/>
              <a:ext cx="1463040" cy="640080"/>
            </a:xfrm>
            <a:prstGeom prst="roundRect">
              <a:avLst/>
            </a:prstGeom>
            <a:solidFill>
              <a:schemeClr val="accent1"/>
            </a:solidFill>
            <a:ln w="12700">
              <a:noFill/>
            </a:ln>
          </p:spPr>
          <p:txBody>
            <a:bodyPr lIns="45720" rIns="45720" rtlCol="0" anchor="ctr"/>
            <a:lstStyle/>
            <a:p>
              <a:pPr algn="ctr"/>
              <a:r>
                <a:rPr lang="en-US" sz="1400">
                  <a:solidFill>
                    <a:schemeClr val="bg1"/>
                  </a:solidFill>
                  <a:latin typeface="+mn-lt"/>
                </a:rPr>
                <a:t>ClubHubUI</a:t>
              </a:r>
            </a:p>
          </p:txBody>
        </p:sp>
        <p:sp>
          <p:nvSpPr>
            <p:cNvPr id="11" name=":StudentController">
              <a:extLst>
                <a:ext uri="{FF2B5EF4-FFF2-40B4-BE49-F238E27FC236}">
                  <a16:creationId xmlns:a16="http://schemas.microsoft.com/office/drawing/2014/main" id="{3EB67C96-7E58-5E55-7232-5594D9BB5195}"/>
                </a:ext>
              </a:extLst>
            </p:cNvPr>
            <p:cNvSpPr/>
            <p:nvPr/>
          </p:nvSpPr>
          <p:spPr>
            <a:xfrm>
              <a:off x="6309360" y="2377440"/>
              <a:ext cx="2103120" cy="640080"/>
            </a:xfrm>
            <a:prstGeom prst="roundRect">
              <a:avLst/>
            </a:prstGeom>
            <a:solidFill>
              <a:schemeClr val="accent1"/>
            </a:solidFill>
            <a:ln w="12700">
              <a:noFill/>
            </a:ln>
          </p:spPr>
          <p:txBody>
            <a:bodyPr lIns="45720" rIns="45720" rtlCol="0" anchor="ctr"/>
            <a:lstStyle/>
            <a:p>
              <a:pPr algn="ctr"/>
              <a:r>
                <a:rPr lang="en-US" sz="1400" u="sng">
                  <a:solidFill>
                    <a:schemeClr val="bg1"/>
                  </a:solidFill>
                  <a:latin typeface="+mn-lt"/>
                </a:rPr>
                <a:t>:</a:t>
              </a:r>
              <a:r>
                <a:rPr lang="en-US" sz="1400" u="sng" err="1">
                  <a:solidFill>
                    <a:schemeClr val="bg1"/>
                  </a:solidFill>
                  <a:latin typeface="+mn-lt"/>
                </a:rPr>
                <a:t>StudentController</a:t>
              </a:r>
              <a:endParaRPr lang="en-US" sz="1400" u="sng">
                <a:solidFill>
                  <a:schemeClr val="bg1"/>
                </a:solidFill>
                <a:latin typeface="+mn-lt"/>
              </a:endParaRPr>
            </a:p>
          </p:txBody>
        </p:sp>
        <p:sp>
          <p:nvSpPr>
            <p:cNvPr id="12" name=":StudentForm">
              <a:extLst>
                <a:ext uri="{FF2B5EF4-FFF2-40B4-BE49-F238E27FC236}">
                  <a16:creationId xmlns:a16="http://schemas.microsoft.com/office/drawing/2014/main" id="{D2B8BBD9-8ACF-AA42-C889-1D2283D31D18}"/>
                </a:ext>
              </a:extLst>
            </p:cNvPr>
            <p:cNvSpPr/>
            <p:nvPr/>
          </p:nvSpPr>
          <p:spPr>
            <a:xfrm>
              <a:off x="1737360" y="4663440"/>
              <a:ext cx="1463040" cy="640080"/>
            </a:xfrm>
            <a:prstGeom prst="roundRect">
              <a:avLst/>
            </a:prstGeom>
            <a:solidFill>
              <a:schemeClr val="accent1"/>
            </a:solidFill>
            <a:ln w="12700">
              <a:noFill/>
            </a:ln>
          </p:spPr>
          <p:txBody>
            <a:bodyPr lIns="45720" rIns="45720" rtlCol="0" anchor="ctr"/>
            <a:lstStyle/>
            <a:p>
              <a:pPr algn="ctr"/>
              <a:r>
                <a:rPr lang="en-US" sz="1400" u="sng">
                  <a:solidFill>
                    <a:schemeClr val="bg1"/>
                  </a:solidFill>
                  <a:latin typeface="+mn-lt"/>
                </a:rPr>
                <a:t>:StudentForm</a:t>
              </a:r>
            </a:p>
          </p:txBody>
        </p:sp>
        <p:sp>
          <p:nvSpPr>
            <p:cNvPr id="13" name=":Student">
              <a:extLst>
                <a:ext uri="{FF2B5EF4-FFF2-40B4-BE49-F238E27FC236}">
                  <a16:creationId xmlns:a16="http://schemas.microsoft.com/office/drawing/2014/main" id="{CD6D6907-E0CB-EECC-6D30-4FD382982168}"/>
                </a:ext>
              </a:extLst>
            </p:cNvPr>
            <p:cNvSpPr/>
            <p:nvPr/>
          </p:nvSpPr>
          <p:spPr>
            <a:xfrm>
              <a:off x="4572000" y="4480560"/>
              <a:ext cx="1463040" cy="640080"/>
            </a:xfrm>
            <a:prstGeom prst="roundRect">
              <a:avLst/>
            </a:prstGeom>
            <a:solidFill>
              <a:schemeClr val="accent1"/>
            </a:solidFill>
            <a:ln w="12700">
              <a:noFill/>
            </a:ln>
          </p:spPr>
          <p:txBody>
            <a:bodyPr lIns="45720" rIns="45720" rtlCol="0" anchor="ctr"/>
            <a:lstStyle/>
            <a:p>
              <a:pPr algn="ctr"/>
              <a:r>
                <a:rPr lang="en-US" sz="1400" u="sng">
                  <a:solidFill>
                    <a:schemeClr val="bg1"/>
                  </a:solidFill>
                  <a:latin typeface="+mn-lt"/>
                </a:rPr>
                <a:t>:Student</a:t>
              </a:r>
            </a:p>
          </p:txBody>
        </p:sp>
        <p:sp>
          <p:nvSpPr>
            <p:cNvPr id="14" name=":StudentRepository">
              <a:extLst>
                <a:ext uri="{FF2B5EF4-FFF2-40B4-BE49-F238E27FC236}">
                  <a16:creationId xmlns:a16="http://schemas.microsoft.com/office/drawing/2014/main" id="{58466175-3E7D-ECE0-6B6E-9FE93B76E7DE}"/>
                </a:ext>
              </a:extLst>
            </p:cNvPr>
            <p:cNvSpPr/>
            <p:nvPr/>
          </p:nvSpPr>
          <p:spPr>
            <a:xfrm>
              <a:off x="8595360" y="4206240"/>
              <a:ext cx="2103120" cy="640080"/>
            </a:xfrm>
            <a:prstGeom prst="roundRect">
              <a:avLst/>
            </a:prstGeom>
            <a:solidFill>
              <a:schemeClr val="accent1"/>
            </a:solidFill>
            <a:ln w="12700">
              <a:noFill/>
            </a:ln>
          </p:spPr>
          <p:txBody>
            <a:bodyPr lIns="45720" rIns="45720" rtlCol="0" anchor="ctr"/>
            <a:lstStyle/>
            <a:p>
              <a:pPr algn="ctr"/>
              <a:r>
                <a:rPr lang="en-US" sz="1400" u="sng">
                  <a:solidFill>
                    <a:schemeClr val="bg1"/>
                  </a:solidFill>
                  <a:latin typeface="+mn-lt"/>
                </a:rPr>
                <a:t>:</a:t>
              </a:r>
              <a:r>
                <a:rPr lang="en-US" sz="1400" u="sng" err="1">
                  <a:solidFill>
                    <a:schemeClr val="bg1"/>
                  </a:solidFill>
                  <a:latin typeface="+mn-lt"/>
                </a:rPr>
                <a:t>StudentRepository</a:t>
              </a:r>
              <a:endParaRPr lang="en-US" sz="1400" u="sng">
                <a:solidFill>
                  <a:schemeClr val="bg1"/>
                </a:solidFill>
                <a:latin typeface="+mn-lt"/>
              </a:endParaRPr>
            </a:p>
          </p:txBody>
        </p:sp>
        <p:sp>
          <p:nvSpPr>
            <p:cNvPr id="15" name=": PostgreSQL">
              <a:extLst>
                <a:ext uri="{FF2B5EF4-FFF2-40B4-BE49-F238E27FC236}">
                  <a16:creationId xmlns:a16="http://schemas.microsoft.com/office/drawing/2014/main" id="{1F82E7CC-4496-60F6-0359-C60CC07B1A42}"/>
                </a:ext>
              </a:extLst>
            </p:cNvPr>
            <p:cNvSpPr/>
            <p:nvPr/>
          </p:nvSpPr>
          <p:spPr>
            <a:xfrm>
              <a:off x="7589520" y="5532120"/>
              <a:ext cx="3108960" cy="731520"/>
            </a:xfrm>
            <a:prstGeom prst="roundRect">
              <a:avLst/>
            </a:prstGeom>
            <a:solidFill>
              <a:schemeClr val="accent1"/>
            </a:solidFill>
            <a:ln w="12700">
              <a:noFill/>
            </a:ln>
          </p:spPr>
          <p:txBody>
            <a:bodyPr lIns="45720" rIns="45720" rtlCol="0" anchor="ctr"/>
            <a:lstStyle/>
            <a:p>
              <a:pPr algn="ctr"/>
              <a:r>
                <a:rPr lang="en-US" sz="1400" u="sng">
                  <a:solidFill>
                    <a:schemeClr val="bg1"/>
                  </a:solidFill>
                  <a:latin typeface="+mn-lt"/>
                </a:rPr>
                <a:t>: PostgreSQL</a:t>
              </a:r>
            </a:p>
            <a:p>
              <a:pPr algn="ctr"/>
              <a:r>
                <a:rPr lang="en-US" sz="1200" i="1">
                  <a:solidFill>
                    <a:schemeClr val="bg1"/>
                  </a:solidFill>
                  <a:latin typeface="+mn-lt"/>
                </a:rPr>
                <a:t>via Spring Data JPA</a:t>
              </a:r>
            </a:p>
          </p:txBody>
        </p:sp>
        <p:cxnSp>
          <p:nvCxnSpPr>
            <p:cNvPr id="16" name="Line 16">
              <a:extLst>
                <a:ext uri="{FF2B5EF4-FFF2-40B4-BE49-F238E27FC236}">
                  <a16:creationId xmlns:a16="http://schemas.microsoft.com/office/drawing/2014/main" id="{30A02B6B-B911-7AD1-E8B9-1FC9BF16B246}"/>
                </a:ext>
              </a:extLst>
            </p:cNvPr>
            <p:cNvCxnSpPr/>
            <p:nvPr/>
          </p:nvCxnSpPr>
          <p:spPr>
            <a:xfrm>
              <a:off x="1115568" y="2697480"/>
              <a:ext cx="1627632" cy="0"/>
            </a:xfrm>
            <a:prstGeom prst="line">
              <a:avLst/>
            </a:prstGeom>
            <a:ln w="15875">
              <a:solidFill>
                <a:srgbClr val="2C3E50"/>
              </a:solidFill>
            </a:ln>
          </p:spPr>
        </p:cxnSp>
        <p:sp>
          <p:nvSpPr>
            <p:cNvPr id="17" name="Label 17">
              <a:extLst>
                <a:ext uri="{FF2B5EF4-FFF2-40B4-BE49-F238E27FC236}">
                  <a16:creationId xmlns:a16="http://schemas.microsoft.com/office/drawing/2014/main" id="{118E283B-D91B-3503-F60B-61AA2F3D54E8}"/>
                </a:ext>
              </a:extLst>
            </p:cNvPr>
            <p:cNvSpPr txBox="1"/>
            <p:nvPr/>
          </p:nvSpPr>
          <p:spPr>
            <a:xfrm>
              <a:off x="1097280" y="2167128"/>
              <a:ext cx="1645920" cy="228600"/>
            </a:xfrm>
            <a:prstGeom prst="rect">
              <a:avLst/>
            </a:prstGeom>
            <a:noFill/>
          </p:spPr>
          <p:txBody>
            <a:bodyPr wrap="none" lIns="0" tIns="0" rIns="0" bIns="0" rtlCol="0" anchor="b">
              <a:noAutofit/>
            </a:bodyPr>
            <a:lstStyle/>
            <a:p>
              <a:pPr algn="ctr"/>
              <a:r>
                <a:rPr lang="en-US" sz="1200">
                  <a:solidFill>
                    <a:schemeClr val="tx2"/>
                  </a:solidFill>
                  <a:latin typeface="+mn-lt"/>
                </a:rPr>
                <a:t>POST studentForm -&gt;</a:t>
              </a:r>
            </a:p>
          </p:txBody>
        </p:sp>
        <p:sp>
          <p:nvSpPr>
            <p:cNvPr id="18" name="Label 18">
              <a:extLst>
                <a:ext uri="{FF2B5EF4-FFF2-40B4-BE49-F238E27FC236}">
                  <a16:creationId xmlns:a16="http://schemas.microsoft.com/office/drawing/2014/main" id="{62BEC563-A7C0-69BC-9B21-337E015E877E}"/>
                </a:ext>
              </a:extLst>
            </p:cNvPr>
            <p:cNvSpPr txBox="1"/>
            <p:nvPr/>
          </p:nvSpPr>
          <p:spPr>
            <a:xfrm>
              <a:off x="1097280" y="2395728"/>
              <a:ext cx="1645920" cy="228600"/>
            </a:xfrm>
            <a:prstGeom prst="rect">
              <a:avLst/>
            </a:prstGeom>
            <a:noFill/>
            <a:ln>
              <a:noFill/>
            </a:ln>
          </p:spPr>
          <p:txBody>
            <a:bodyPr wrap="none" lIns="0" tIns="0" rIns="0" bIns="0" rtlCol="0" anchor="b">
              <a:noAutofit/>
            </a:bodyPr>
            <a:lstStyle/>
            <a:p>
              <a:pPr algn="ctr"/>
              <a:r>
                <a:rPr lang="en-US" sz="1200">
                  <a:solidFill>
                    <a:schemeClr val="tx2"/>
                  </a:solidFill>
                  <a:latin typeface="+mn-lt"/>
                </a:rPr>
                <a:t>1: CreateProfile() →</a:t>
              </a:r>
            </a:p>
          </p:txBody>
        </p:sp>
        <p:cxnSp>
          <p:nvCxnSpPr>
            <p:cNvPr id="19" name="Line 19">
              <a:extLst>
                <a:ext uri="{FF2B5EF4-FFF2-40B4-BE49-F238E27FC236}">
                  <a16:creationId xmlns:a16="http://schemas.microsoft.com/office/drawing/2014/main" id="{2B9F8B2F-EA45-FD15-EA6B-C57835079FFF}"/>
                </a:ext>
              </a:extLst>
            </p:cNvPr>
            <p:cNvCxnSpPr/>
            <p:nvPr/>
          </p:nvCxnSpPr>
          <p:spPr>
            <a:xfrm>
              <a:off x="4206240" y="2697480"/>
              <a:ext cx="2103120" cy="0"/>
            </a:xfrm>
            <a:prstGeom prst="line">
              <a:avLst/>
            </a:prstGeom>
            <a:ln w="15875">
              <a:solidFill>
                <a:srgbClr val="2C3E50"/>
              </a:solidFill>
            </a:ln>
          </p:spPr>
        </p:cxnSp>
        <p:sp>
          <p:nvSpPr>
            <p:cNvPr id="20" name="Label 20">
              <a:extLst>
                <a:ext uri="{FF2B5EF4-FFF2-40B4-BE49-F238E27FC236}">
                  <a16:creationId xmlns:a16="http://schemas.microsoft.com/office/drawing/2014/main" id="{84C4E11F-8F39-667C-C21F-D7AC9E6C2251}"/>
                </a:ext>
              </a:extLst>
            </p:cNvPr>
            <p:cNvSpPr txBox="1"/>
            <p:nvPr/>
          </p:nvSpPr>
          <p:spPr>
            <a:xfrm>
              <a:off x="4206240" y="1938528"/>
              <a:ext cx="2103120" cy="228600"/>
            </a:xfrm>
            <a:prstGeom prst="rect">
              <a:avLst/>
            </a:prstGeom>
            <a:noFill/>
          </p:spPr>
          <p:txBody>
            <a:bodyPr wrap="none" lIns="0" tIns="0" rIns="0" bIns="0" rtlCol="0" anchor="b">
              <a:noAutofit/>
            </a:bodyPr>
            <a:lstStyle/>
            <a:p>
              <a:pPr algn="ctr"/>
              <a:r>
                <a:rPr lang="en-US" sz="1200">
                  <a:solidFill>
                    <a:schemeClr val="tx2"/>
                  </a:solidFill>
                  <a:latin typeface="+mn-lt"/>
                </a:rPr>
                <a:t>← displayProfile()</a:t>
              </a:r>
            </a:p>
          </p:txBody>
        </p:sp>
        <p:sp>
          <p:nvSpPr>
            <p:cNvPr id="21" name="Label 21">
              <a:extLst>
                <a:ext uri="{FF2B5EF4-FFF2-40B4-BE49-F238E27FC236}">
                  <a16:creationId xmlns:a16="http://schemas.microsoft.com/office/drawing/2014/main" id="{27F49599-4C87-C1DE-5AD5-196EBE419A7E}"/>
                </a:ext>
              </a:extLst>
            </p:cNvPr>
            <p:cNvSpPr txBox="1"/>
            <p:nvPr/>
          </p:nvSpPr>
          <p:spPr>
            <a:xfrm>
              <a:off x="4206240" y="2167128"/>
              <a:ext cx="2103120" cy="228600"/>
            </a:xfrm>
            <a:prstGeom prst="rect">
              <a:avLst/>
            </a:prstGeom>
            <a:noFill/>
          </p:spPr>
          <p:txBody>
            <a:bodyPr wrap="none" lIns="0" tIns="0" rIns="0" bIns="0" rtlCol="0" anchor="b">
              <a:noAutofit/>
            </a:bodyPr>
            <a:lstStyle/>
            <a:p>
              <a:pPr algn="ctr"/>
              <a:r>
                <a:rPr lang="en-US" sz="1200">
                  <a:solidFill>
                    <a:schemeClr val="tx2"/>
                  </a:solidFill>
                  <a:latin typeface="+mn-lt"/>
                </a:rPr>
                <a:t>POST /studentFormSubmit() →</a:t>
              </a:r>
            </a:p>
          </p:txBody>
        </p:sp>
        <p:sp>
          <p:nvSpPr>
            <p:cNvPr id="22" name="Label 22">
              <a:extLst>
                <a:ext uri="{FF2B5EF4-FFF2-40B4-BE49-F238E27FC236}">
                  <a16:creationId xmlns:a16="http://schemas.microsoft.com/office/drawing/2014/main" id="{2273E808-6A6F-B1CE-53EA-89A4796704AE}"/>
                </a:ext>
              </a:extLst>
            </p:cNvPr>
            <p:cNvSpPr txBox="1"/>
            <p:nvPr/>
          </p:nvSpPr>
          <p:spPr>
            <a:xfrm>
              <a:off x="4206240" y="2395728"/>
              <a:ext cx="2103120" cy="228600"/>
            </a:xfrm>
            <a:prstGeom prst="rect">
              <a:avLst/>
            </a:prstGeom>
            <a:noFill/>
          </p:spPr>
          <p:txBody>
            <a:bodyPr wrap="none" lIns="0" tIns="0" rIns="0" bIns="0" rtlCol="0" anchor="b">
              <a:noAutofit/>
            </a:bodyPr>
            <a:lstStyle/>
            <a:p>
              <a:pPr algn="ctr"/>
              <a:r>
                <a:rPr lang="en-US" sz="1200">
                  <a:solidFill>
                    <a:schemeClr val="tx2"/>
                  </a:solidFill>
                  <a:latin typeface="+mn-lt"/>
                </a:rPr>
                <a:t>1.1 : Get /StudentForm() →</a:t>
              </a:r>
            </a:p>
          </p:txBody>
        </p:sp>
        <p:sp>
          <p:nvSpPr>
            <p:cNvPr id="23" name="Label 23">
              <a:extLst>
                <a:ext uri="{FF2B5EF4-FFF2-40B4-BE49-F238E27FC236}">
                  <a16:creationId xmlns:a16="http://schemas.microsoft.com/office/drawing/2014/main" id="{6B9DFC26-854B-BE20-D277-454E37487A7F}"/>
                </a:ext>
              </a:extLst>
            </p:cNvPr>
            <p:cNvSpPr txBox="1"/>
            <p:nvPr/>
          </p:nvSpPr>
          <p:spPr>
            <a:xfrm>
              <a:off x="4206240" y="2761488"/>
              <a:ext cx="2103120" cy="228600"/>
            </a:xfrm>
            <a:prstGeom prst="rect">
              <a:avLst/>
            </a:prstGeom>
            <a:noFill/>
          </p:spPr>
          <p:txBody>
            <a:bodyPr wrap="none" lIns="0" tIns="0" rIns="0" bIns="0" rtlCol="0" anchor="b">
              <a:noAutofit/>
            </a:bodyPr>
            <a:lstStyle/>
            <a:p>
              <a:pPr algn="ctr"/>
              <a:r>
                <a:rPr lang="en-US" sz="1200">
                  <a:solidFill>
                    <a:schemeClr val="tx2"/>
                  </a:solidFill>
                  <a:latin typeface="+mn-lt"/>
                </a:rPr>
                <a:t>← 2.1: DisplayForm()</a:t>
              </a:r>
            </a:p>
          </p:txBody>
        </p:sp>
        <p:cxnSp>
          <p:nvCxnSpPr>
            <p:cNvPr id="24" name="Line 24">
              <a:extLst>
                <a:ext uri="{FF2B5EF4-FFF2-40B4-BE49-F238E27FC236}">
                  <a16:creationId xmlns:a16="http://schemas.microsoft.com/office/drawing/2014/main" id="{C2C5E26F-2884-8C1A-5FE4-4183687D74D5}"/>
                </a:ext>
              </a:extLst>
            </p:cNvPr>
            <p:cNvCxnSpPr/>
            <p:nvPr/>
          </p:nvCxnSpPr>
          <p:spPr>
            <a:xfrm>
              <a:off x="6766560" y="3017520"/>
              <a:ext cx="0" cy="777240"/>
            </a:xfrm>
            <a:prstGeom prst="line">
              <a:avLst/>
            </a:prstGeom>
            <a:ln w="15875">
              <a:solidFill>
                <a:schemeClr val="tx2"/>
              </a:solidFill>
            </a:ln>
          </p:spPr>
        </p:cxnSp>
        <p:cxnSp>
          <p:nvCxnSpPr>
            <p:cNvPr id="25" name="Line 25">
              <a:extLst>
                <a:ext uri="{FF2B5EF4-FFF2-40B4-BE49-F238E27FC236}">
                  <a16:creationId xmlns:a16="http://schemas.microsoft.com/office/drawing/2014/main" id="{ACDEF40D-E5BA-4A1B-3026-3C1CF375C6B4}"/>
                </a:ext>
              </a:extLst>
            </p:cNvPr>
            <p:cNvCxnSpPr/>
            <p:nvPr/>
          </p:nvCxnSpPr>
          <p:spPr>
            <a:xfrm flipH="1">
              <a:off x="2468880" y="3794760"/>
              <a:ext cx="4297680" cy="0"/>
            </a:xfrm>
            <a:prstGeom prst="line">
              <a:avLst/>
            </a:prstGeom>
            <a:ln w="15875">
              <a:solidFill>
                <a:schemeClr val="tx2"/>
              </a:solidFill>
            </a:ln>
          </p:spPr>
        </p:cxnSp>
        <p:cxnSp>
          <p:nvCxnSpPr>
            <p:cNvPr id="26" name="Line 26">
              <a:extLst>
                <a:ext uri="{FF2B5EF4-FFF2-40B4-BE49-F238E27FC236}">
                  <a16:creationId xmlns:a16="http://schemas.microsoft.com/office/drawing/2014/main" id="{780C83F4-C4AD-4DC9-B348-64673FAA1332}"/>
                </a:ext>
              </a:extLst>
            </p:cNvPr>
            <p:cNvCxnSpPr/>
            <p:nvPr/>
          </p:nvCxnSpPr>
          <p:spPr>
            <a:xfrm>
              <a:off x="2468880" y="3794760"/>
              <a:ext cx="0" cy="868680"/>
            </a:xfrm>
            <a:prstGeom prst="line">
              <a:avLst/>
            </a:prstGeom>
            <a:ln w="15875">
              <a:solidFill>
                <a:schemeClr val="tx2"/>
              </a:solidFill>
            </a:ln>
          </p:spPr>
        </p:cxnSp>
        <p:sp>
          <p:nvSpPr>
            <p:cNvPr id="27" name="Label 27">
              <a:extLst>
                <a:ext uri="{FF2B5EF4-FFF2-40B4-BE49-F238E27FC236}">
                  <a16:creationId xmlns:a16="http://schemas.microsoft.com/office/drawing/2014/main" id="{CAB8232D-9BA8-6C27-1D75-6A7FD3E6B4DA}"/>
                </a:ext>
              </a:extLst>
            </p:cNvPr>
            <p:cNvSpPr txBox="1"/>
            <p:nvPr/>
          </p:nvSpPr>
          <p:spPr>
            <a:xfrm>
              <a:off x="2743200" y="3520440"/>
              <a:ext cx="1828800" cy="228600"/>
            </a:xfrm>
            <a:prstGeom prst="rect">
              <a:avLst/>
            </a:prstGeom>
            <a:noFill/>
          </p:spPr>
          <p:txBody>
            <a:bodyPr wrap="none" lIns="0" tIns="0" rIns="0" bIns="0" rtlCol="0" anchor="b">
              <a:noAutofit/>
            </a:bodyPr>
            <a:lstStyle/>
            <a:p>
              <a:pPr algn="l"/>
              <a:r>
                <a:rPr lang="en-US" sz="1200">
                  <a:solidFill>
                    <a:schemeClr val="tx2"/>
                  </a:solidFill>
                  <a:latin typeface="+mn-lt"/>
                </a:rPr>
                <a:t>2: StudentForm()</a:t>
              </a:r>
            </a:p>
          </p:txBody>
        </p:sp>
        <p:cxnSp>
          <p:nvCxnSpPr>
            <p:cNvPr id="28" name="Line 28">
              <a:extLst>
                <a:ext uri="{FF2B5EF4-FFF2-40B4-BE49-F238E27FC236}">
                  <a16:creationId xmlns:a16="http://schemas.microsoft.com/office/drawing/2014/main" id="{44497946-8BEB-E20A-BC3E-35BD7F330A47}"/>
                </a:ext>
              </a:extLst>
            </p:cNvPr>
            <p:cNvCxnSpPr/>
            <p:nvPr/>
          </p:nvCxnSpPr>
          <p:spPr>
            <a:xfrm>
              <a:off x="7360920" y="3017520"/>
              <a:ext cx="0" cy="1097280"/>
            </a:xfrm>
            <a:prstGeom prst="line">
              <a:avLst/>
            </a:prstGeom>
            <a:ln w="15875">
              <a:solidFill>
                <a:schemeClr val="tx2"/>
              </a:solidFill>
            </a:ln>
          </p:spPr>
        </p:cxnSp>
        <p:cxnSp>
          <p:nvCxnSpPr>
            <p:cNvPr id="29" name="Line 29">
              <a:extLst>
                <a:ext uri="{FF2B5EF4-FFF2-40B4-BE49-F238E27FC236}">
                  <a16:creationId xmlns:a16="http://schemas.microsoft.com/office/drawing/2014/main" id="{D7EC71EF-7A30-1C09-89FA-38194E2E4DB2}"/>
                </a:ext>
              </a:extLst>
            </p:cNvPr>
            <p:cNvCxnSpPr/>
            <p:nvPr/>
          </p:nvCxnSpPr>
          <p:spPr>
            <a:xfrm flipH="1">
              <a:off x="5303520" y="4114800"/>
              <a:ext cx="2057400" cy="0"/>
            </a:xfrm>
            <a:prstGeom prst="line">
              <a:avLst/>
            </a:prstGeom>
            <a:ln w="15875">
              <a:solidFill>
                <a:srgbClr val="2C3E50"/>
              </a:solidFill>
            </a:ln>
          </p:spPr>
        </p:cxnSp>
        <p:cxnSp>
          <p:nvCxnSpPr>
            <p:cNvPr id="30" name="Line 30">
              <a:extLst>
                <a:ext uri="{FF2B5EF4-FFF2-40B4-BE49-F238E27FC236}">
                  <a16:creationId xmlns:a16="http://schemas.microsoft.com/office/drawing/2014/main" id="{228C70D3-5941-3189-45B4-5358F07B4A8F}"/>
                </a:ext>
              </a:extLst>
            </p:cNvPr>
            <p:cNvCxnSpPr/>
            <p:nvPr/>
          </p:nvCxnSpPr>
          <p:spPr>
            <a:xfrm>
              <a:off x="5303520" y="4114800"/>
              <a:ext cx="0" cy="365760"/>
            </a:xfrm>
            <a:prstGeom prst="line">
              <a:avLst/>
            </a:prstGeom>
            <a:ln w="15875">
              <a:solidFill>
                <a:schemeClr val="tx2"/>
              </a:solidFill>
            </a:ln>
          </p:spPr>
        </p:cxnSp>
        <p:cxnSp>
          <p:nvCxnSpPr>
            <p:cNvPr id="31" name="Line 31">
              <a:extLst>
                <a:ext uri="{FF2B5EF4-FFF2-40B4-BE49-F238E27FC236}">
                  <a16:creationId xmlns:a16="http://schemas.microsoft.com/office/drawing/2014/main" id="{2AB9BBA1-C328-14D8-C185-A0781ED84E63}"/>
                </a:ext>
              </a:extLst>
            </p:cNvPr>
            <p:cNvCxnSpPr/>
            <p:nvPr/>
          </p:nvCxnSpPr>
          <p:spPr>
            <a:xfrm>
              <a:off x="7955280" y="3017520"/>
              <a:ext cx="0" cy="228600"/>
            </a:xfrm>
            <a:prstGeom prst="line">
              <a:avLst/>
            </a:prstGeom>
            <a:ln w="15875">
              <a:solidFill>
                <a:schemeClr val="tx2"/>
              </a:solidFill>
            </a:ln>
          </p:spPr>
        </p:cxnSp>
        <p:cxnSp>
          <p:nvCxnSpPr>
            <p:cNvPr id="32" name="Line 32">
              <a:extLst>
                <a:ext uri="{FF2B5EF4-FFF2-40B4-BE49-F238E27FC236}">
                  <a16:creationId xmlns:a16="http://schemas.microsoft.com/office/drawing/2014/main" id="{1ED10C55-987E-D929-2590-08C2D3A08077}"/>
                </a:ext>
              </a:extLst>
            </p:cNvPr>
            <p:cNvCxnSpPr/>
            <p:nvPr/>
          </p:nvCxnSpPr>
          <p:spPr>
            <a:xfrm>
              <a:off x="7955280" y="3246120"/>
              <a:ext cx="1691640" cy="0"/>
            </a:xfrm>
            <a:prstGeom prst="line">
              <a:avLst/>
            </a:prstGeom>
            <a:ln w="15875">
              <a:solidFill>
                <a:schemeClr val="tx2"/>
              </a:solidFill>
            </a:ln>
          </p:spPr>
        </p:cxnSp>
        <p:cxnSp>
          <p:nvCxnSpPr>
            <p:cNvPr id="33" name="Line 33">
              <a:extLst>
                <a:ext uri="{FF2B5EF4-FFF2-40B4-BE49-F238E27FC236}">
                  <a16:creationId xmlns:a16="http://schemas.microsoft.com/office/drawing/2014/main" id="{157B30E5-9F11-EC5A-D66A-93FD2E07F045}"/>
                </a:ext>
              </a:extLst>
            </p:cNvPr>
            <p:cNvCxnSpPr/>
            <p:nvPr/>
          </p:nvCxnSpPr>
          <p:spPr>
            <a:xfrm>
              <a:off x="9646920" y="3246120"/>
              <a:ext cx="0" cy="960120"/>
            </a:xfrm>
            <a:prstGeom prst="line">
              <a:avLst/>
            </a:prstGeom>
            <a:ln w="15875">
              <a:solidFill>
                <a:schemeClr val="tx2"/>
              </a:solidFill>
            </a:ln>
          </p:spPr>
        </p:cxnSp>
        <p:sp>
          <p:nvSpPr>
            <p:cNvPr id="34" name="Label 34">
              <a:extLst>
                <a:ext uri="{FF2B5EF4-FFF2-40B4-BE49-F238E27FC236}">
                  <a16:creationId xmlns:a16="http://schemas.microsoft.com/office/drawing/2014/main" id="{CC7D8C5C-D87D-13F5-3759-049106F32B07}"/>
                </a:ext>
              </a:extLst>
            </p:cNvPr>
            <p:cNvSpPr txBox="1"/>
            <p:nvPr/>
          </p:nvSpPr>
          <p:spPr>
            <a:xfrm>
              <a:off x="9738360" y="3566160"/>
              <a:ext cx="1280160" cy="228600"/>
            </a:xfrm>
            <a:prstGeom prst="rect">
              <a:avLst/>
            </a:prstGeom>
            <a:noFill/>
          </p:spPr>
          <p:txBody>
            <a:bodyPr wrap="none" lIns="0" tIns="0" rIns="0" bIns="0" rtlCol="0" anchor="b">
              <a:noAutofit/>
            </a:bodyPr>
            <a:lstStyle/>
            <a:p>
              <a:pPr algn="l"/>
              <a:r>
                <a:rPr lang="en-US" sz="1200">
                  <a:solidFill>
                    <a:schemeClr val="tx2"/>
                  </a:solidFill>
                  <a:latin typeface="+mn-lt"/>
                </a:rPr>
                <a:t>save(student)</a:t>
              </a:r>
            </a:p>
          </p:txBody>
        </p:sp>
        <p:cxnSp>
          <p:nvCxnSpPr>
            <p:cNvPr id="35" name="Line 35">
              <a:extLst>
                <a:ext uri="{FF2B5EF4-FFF2-40B4-BE49-F238E27FC236}">
                  <a16:creationId xmlns:a16="http://schemas.microsoft.com/office/drawing/2014/main" id="{1EE47800-BD62-E2E5-5D94-B0CA7AB20E71}"/>
                </a:ext>
              </a:extLst>
            </p:cNvPr>
            <p:cNvCxnSpPr/>
            <p:nvPr/>
          </p:nvCxnSpPr>
          <p:spPr>
            <a:xfrm>
              <a:off x="9646920" y="4846320"/>
              <a:ext cx="0" cy="365760"/>
            </a:xfrm>
            <a:prstGeom prst="line">
              <a:avLst/>
            </a:prstGeom>
            <a:ln w="15875">
              <a:solidFill>
                <a:schemeClr val="tx2"/>
              </a:solidFill>
            </a:ln>
          </p:spPr>
        </p:cxnSp>
        <p:cxnSp>
          <p:nvCxnSpPr>
            <p:cNvPr id="36" name="Line 36">
              <a:extLst>
                <a:ext uri="{FF2B5EF4-FFF2-40B4-BE49-F238E27FC236}">
                  <a16:creationId xmlns:a16="http://schemas.microsoft.com/office/drawing/2014/main" id="{25AEDA68-DFD7-D965-7096-C4A36873780B}"/>
                </a:ext>
              </a:extLst>
            </p:cNvPr>
            <p:cNvCxnSpPr/>
            <p:nvPr/>
          </p:nvCxnSpPr>
          <p:spPr>
            <a:xfrm flipH="1">
              <a:off x="9144000" y="5212080"/>
              <a:ext cx="502920" cy="0"/>
            </a:xfrm>
            <a:prstGeom prst="line">
              <a:avLst/>
            </a:prstGeom>
            <a:ln w="15875">
              <a:solidFill>
                <a:schemeClr val="tx2"/>
              </a:solidFill>
            </a:ln>
          </p:spPr>
        </p:cxnSp>
        <p:cxnSp>
          <p:nvCxnSpPr>
            <p:cNvPr id="37" name="Line 37">
              <a:extLst>
                <a:ext uri="{FF2B5EF4-FFF2-40B4-BE49-F238E27FC236}">
                  <a16:creationId xmlns:a16="http://schemas.microsoft.com/office/drawing/2014/main" id="{0BDF1132-0650-3A77-8AAB-716058179641}"/>
                </a:ext>
              </a:extLst>
            </p:cNvPr>
            <p:cNvCxnSpPr/>
            <p:nvPr/>
          </p:nvCxnSpPr>
          <p:spPr>
            <a:xfrm>
              <a:off x="9144000" y="5212080"/>
              <a:ext cx="0" cy="320040"/>
            </a:xfrm>
            <a:prstGeom prst="line">
              <a:avLst/>
            </a:prstGeom>
            <a:ln w="15875">
              <a:solidFill>
                <a:schemeClr val="tx2"/>
              </a:solidFill>
            </a:ln>
          </p:spPr>
        </p:cxnSp>
      </p:grpSp>
    </p:spTree>
    <p:extLst>
      <p:ext uri="{BB962C8B-B14F-4D97-AF65-F5344CB8AC3E}">
        <p14:creationId xmlns:p14="http://schemas.microsoft.com/office/powerpoint/2010/main" val="1092350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FEBE8"/>
        </a:solidFill>
        <a:effectLst/>
      </p:bgPr>
    </p:bg>
    <p:spTree>
      <p:nvGrpSpPr>
        <p:cNvPr id="1" name=""/>
        <p:cNvGrpSpPr/>
        <p:nvPr/>
      </p:nvGrpSpPr>
      <p:grpSpPr>
        <a:xfrm>
          <a:off x="0" y="0"/>
          <a:ext cx="0" cy="0"/>
          <a:chOff x="0" y="0"/>
          <a:chExt cx="0" cy="0"/>
        </a:xfrm>
      </p:grpSpPr>
      <p:sp>
        <p:nvSpPr>
          <p:cNvPr id="3" name="TextBox 2"/>
          <p:cNvSpPr txBox="1"/>
          <p:nvPr/>
        </p:nvSpPr>
        <p:spPr>
          <a:xfrm>
            <a:off x="646368" y="340080"/>
            <a:ext cx="10789920" cy="529376"/>
          </a:xfrm>
          <a:prstGeom prst="rect">
            <a:avLst/>
          </a:prstGeom>
          <a:noFill/>
        </p:spPr>
        <p:txBody>
          <a:bodyPr wrap="square" lIns="18288" tIns="18288" rIns="18288" bIns="18288" anchor="t">
            <a:spAutoFit/>
          </a:bodyPr>
          <a:lstStyle/>
          <a:p>
            <a:pPr algn="l">
              <a:spcAft>
                <a:spcPts val="500"/>
              </a:spcAft>
              <a:defRPr sz="2800" b="0" i="0">
                <a:solidFill>
                  <a:srgbClr val="2B3B4C"/>
                </a:solidFill>
                <a:latin typeface="Georgia"/>
              </a:defRPr>
            </a:pPr>
            <a:r>
              <a:rPr sz="3200">
                <a:latin typeface="Felix Titling"/>
              </a:rPr>
              <a:t>Sequence diagram: profile creation</a:t>
            </a:r>
            <a:endParaRPr lang="en-US" sz="3200">
              <a:latin typeface="Felix Titling"/>
            </a:endParaRPr>
          </a:p>
        </p:txBody>
      </p:sp>
      <p:cxnSp>
        <p:nvCxnSpPr>
          <p:cNvPr id="4" name="Connector 3"/>
          <p:cNvCxnSpPr/>
          <p:nvPr/>
        </p:nvCxnSpPr>
        <p:spPr>
          <a:xfrm>
            <a:off x="646368" y="899592"/>
            <a:ext cx="10817352" cy="0"/>
          </a:xfrm>
          <a:prstGeom prst="line">
            <a:avLst/>
          </a:prstGeom>
          <a:ln w="10160">
            <a:solidFill>
              <a:srgbClr val="2B3B4C"/>
            </a:solidFill>
          </a:ln>
        </p:spPr>
        <p:style>
          <a:lnRef idx="2">
            <a:schemeClr val="accent1"/>
          </a:lnRef>
          <a:fillRef idx="0">
            <a:schemeClr val="accent1"/>
          </a:fillRef>
          <a:effectRef idx="1">
            <a:schemeClr val="accent1"/>
          </a:effectRef>
          <a:fontRef idx="minor">
            <a:schemeClr val="tx1"/>
          </a:fontRef>
        </p:style>
      </p:cxnSp>
      <p:pic>
        <p:nvPicPr>
          <p:cNvPr id="6" name="Picture 5" descr="Sequence Diagram - ClubHub.png"/>
          <p:cNvPicPr>
            <a:picLocks noChangeAspect="1"/>
          </p:cNvPicPr>
          <p:nvPr/>
        </p:nvPicPr>
        <p:blipFill>
          <a:blip r:embed="rId2"/>
          <a:stretch>
            <a:fillRect/>
          </a:stretch>
        </p:blipFill>
        <p:spPr>
          <a:xfrm>
            <a:off x="646368" y="1031328"/>
            <a:ext cx="5966904" cy="5745480"/>
          </a:xfrm>
          <a:prstGeom prst="rect">
            <a:avLst/>
          </a:prstGeom>
        </p:spPr>
      </p:pic>
      <p:sp>
        <p:nvSpPr>
          <p:cNvPr id="8" name="TextBox 7"/>
          <p:cNvSpPr txBox="1"/>
          <p:nvPr/>
        </p:nvSpPr>
        <p:spPr>
          <a:xfrm>
            <a:off x="7091160" y="1213632"/>
            <a:ext cx="4297680" cy="252377"/>
          </a:xfrm>
          <a:prstGeom prst="rect">
            <a:avLst/>
          </a:prstGeom>
          <a:noFill/>
        </p:spPr>
        <p:txBody>
          <a:bodyPr wrap="square" lIns="18288" tIns="18288" rIns="18288" bIns="18288" anchor="t">
            <a:spAutoFit/>
          </a:bodyPr>
          <a:lstStyle/>
          <a:p>
            <a:pPr algn="l">
              <a:spcAft>
                <a:spcPts val="500"/>
              </a:spcAft>
              <a:defRPr sz="1000" b="1" i="0">
                <a:solidFill>
                  <a:srgbClr val="707577"/>
                </a:solidFill>
                <a:latin typeface="Aptos"/>
              </a:defRPr>
            </a:pPr>
            <a:r>
              <a:rPr sz="1400">
                <a:latin typeface="Goudy Old Style"/>
              </a:rPr>
              <a:t>MAIN SUCCESS PATH</a:t>
            </a:r>
          </a:p>
        </p:txBody>
      </p:sp>
      <p:sp>
        <p:nvSpPr>
          <p:cNvPr id="9" name="Oval 8"/>
          <p:cNvSpPr/>
          <p:nvPr/>
        </p:nvSpPr>
        <p:spPr>
          <a:xfrm>
            <a:off x="7181160" y="1645680"/>
            <a:ext cx="384048" cy="384048"/>
          </a:xfrm>
          <a:prstGeom prst="ellipse">
            <a:avLst/>
          </a:prstGeom>
          <a:solidFill>
            <a:srgbClr val="A6AE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3200"/>
          </a:p>
        </p:txBody>
      </p:sp>
      <p:sp>
        <p:nvSpPr>
          <p:cNvPr id="10" name="TextBox 9"/>
          <p:cNvSpPr txBox="1"/>
          <p:nvPr/>
        </p:nvSpPr>
        <p:spPr>
          <a:xfrm>
            <a:off x="7181160" y="1695120"/>
            <a:ext cx="384048" cy="252377"/>
          </a:xfrm>
          <a:prstGeom prst="rect">
            <a:avLst/>
          </a:prstGeom>
          <a:noFill/>
        </p:spPr>
        <p:txBody>
          <a:bodyPr wrap="square" lIns="18288" tIns="18288" rIns="18288" bIns="18288" anchor="t">
            <a:spAutoFit/>
          </a:bodyPr>
          <a:lstStyle/>
          <a:p>
            <a:pPr algn="ctr">
              <a:spcAft>
                <a:spcPts val="500"/>
              </a:spcAft>
              <a:defRPr sz="850" b="1" i="0">
                <a:solidFill>
                  <a:srgbClr val="2B3B4C"/>
                </a:solidFill>
                <a:latin typeface="Aptos"/>
              </a:defRPr>
            </a:pPr>
            <a:r>
              <a:rPr lang="en-US" sz="1400">
                <a:latin typeface="Goudy Old Style"/>
              </a:rPr>
              <a:t>01</a:t>
            </a:r>
          </a:p>
        </p:txBody>
      </p:sp>
      <p:sp>
        <p:nvSpPr>
          <p:cNvPr id="11" name="TextBox 10"/>
          <p:cNvSpPr txBox="1"/>
          <p:nvPr/>
        </p:nvSpPr>
        <p:spPr>
          <a:xfrm>
            <a:off x="7639800" y="1588536"/>
            <a:ext cx="3657600" cy="236988"/>
          </a:xfrm>
          <a:prstGeom prst="rect">
            <a:avLst/>
          </a:prstGeom>
          <a:noFill/>
        </p:spPr>
        <p:txBody>
          <a:bodyPr wrap="square" lIns="18288" tIns="18288" rIns="18288" bIns="18288" anchor="t">
            <a:spAutoFit/>
          </a:bodyPr>
          <a:lstStyle/>
          <a:p>
            <a:pPr algn="l">
              <a:spcAft>
                <a:spcPts val="500"/>
              </a:spcAft>
              <a:defRPr sz="1300" b="1" i="0">
                <a:solidFill>
                  <a:srgbClr val="2B3B4C"/>
                </a:solidFill>
                <a:latin typeface="Georgia"/>
              </a:defRPr>
            </a:pPr>
            <a:r>
              <a:rPr>
                <a:latin typeface="Goudy Old Style"/>
              </a:rPr>
              <a:t>Request the form</a:t>
            </a:r>
          </a:p>
        </p:txBody>
      </p:sp>
      <p:sp>
        <p:nvSpPr>
          <p:cNvPr id="12" name="TextBox 11"/>
          <p:cNvSpPr txBox="1"/>
          <p:nvPr/>
        </p:nvSpPr>
        <p:spPr>
          <a:xfrm>
            <a:off x="7639800" y="1826280"/>
            <a:ext cx="3703320" cy="252377"/>
          </a:xfrm>
          <a:prstGeom prst="rect">
            <a:avLst/>
          </a:prstGeom>
          <a:noFill/>
        </p:spPr>
        <p:txBody>
          <a:bodyPr wrap="square" lIns="18288" tIns="18288" rIns="18288" bIns="18288" anchor="t">
            <a:spAutoFit/>
          </a:bodyPr>
          <a:lstStyle/>
          <a:p>
            <a:pPr algn="l">
              <a:spcAft>
                <a:spcPts val="500"/>
              </a:spcAft>
              <a:defRPr sz="1050" b="0" i="0">
                <a:solidFill>
                  <a:srgbClr val="43494E"/>
                </a:solidFill>
                <a:latin typeface="Aptos"/>
              </a:defRPr>
            </a:pPr>
            <a:r>
              <a:rPr sz="1400">
                <a:latin typeface="Goudy Old Style"/>
              </a:rPr>
              <a:t>Student → </a:t>
            </a:r>
            <a:r>
              <a:rPr sz="1400" err="1">
                <a:latin typeface="Goudy Old Style"/>
              </a:rPr>
              <a:t>ClubHubUI</a:t>
            </a:r>
            <a:r>
              <a:rPr sz="1400">
                <a:latin typeface="Goudy Old Style"/>
              </a:rPr>
              <a:t> → </a:t>
            </a:r>
            <a:r>
              <a:rPr sz="1400" err="1">
                <a:latin typeface="Goudy Old Style"/>
              </a:rPr>
              <a:t>StudentController</a:t>
            </a:r>
            <a:endParaRPr lang="en-US" sz="1400" err="1">
              <a:latin typeface="Goudy Old Style"/>
            </a:endParaRPr>
          </a:p>
        </p:txBody>
      </p:sp>
      <p:sp>
        <p:nvSpPr>
          <p:cNvPr id="13" name="Oval 12"/>
          <p:cNvSpPr/>
          <p:nvPr/>
        </p:nvSpPr>
        <p:spPr>
          <a:xfrm>
            <a:off x="7181160" y="2432064"/>
            <a:ext cx="384048" cy="384048"/>
          </a:xfrm>
          <a:prstGeom prst="ellipse">
            <a:avLst/>
          </a:prstGeom>
          <a:solidFill>
            <a:srgbClr val="D2CF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TextBox 13"/>
          <p:cNvSpPr txBox="1"/>
          <p:nvPr/>
        </p:nvSpPr>
        <p:spPr>
          <a:xfrm>
            <a:off x="7181160" y="2481504"/>
            <a:ext cx="384048" cy="252377"/>
          </a:xfrm>
          <a:prstGeom prst="rect">
            <a:avLst/>
          </a:prstGeom>
          <a:noFill/>
        </p:spPr>
        <p:txBody>
          <a:bodyPr wrap="square" lIns="18288" tIns="18288" rIns="18288" bIns="18288" anchor="t">
            <a:spAutoFit/>
          </a:bodyPr>
          <a:lstStyle/>
          <a:p>
            <a:pPr algn="ctr">
              <a:spcAft>
                <a:spcPts val="500"/>
              </a:spcAft>
              <a:defRPr sz="850" b="1" i="0">
                <a:solidFill>
                  <a:srgbClr val="2B3B4C"/>
                </a:solidFill>
                <a:latin typeface="Aptos"/>
              </a:defRPr>
            </a:pPr>
            <a:r>
              <a:rPr sz="1400">
                <a:latin typeface="Goudy Old Style"/>
              </a:rPr>
              <a:t>02</a:t>
            </a:r>
          </a:p>
        </p:txBody>
      </p:sp>
      <p:sp>
        <p:nvSpPr>
          <p:cNvPr id="15" name="TextBox 14"/>
          <p:cNvSpPr txBox="1"/>
          <p:nvPr/>
        </p:nvSpPr>
        <p:spPr>
          <a:xfrm>
            <a:off x="7639800" y="2374920"/>
            <a:ext cx="3657600" cy="236988"/>
          </a:xfrm>
          <a:prstGeom prst="rect">
            <a:avLst/>
          </a:prstGeom>
          <a:noFill/>
        </p:spPr>
        <p:txBody>
          <a:bodyPr wrap="square" lIns="18288" tIns="18288" rIns="18288" bIns="18288" anchor="t">
            <a:spAutoFit/>
          </a:bodyPr>
          <a:lstStyle/>
          <a:p>
            <a:pPr algn="l">
              <a:spcAft>
                <a:spcPts val="500"/>
              </a:spcAft>
              <a:defRPr sz="1300" b="1" i="0">
                <a:solidFill>
                  <a:srgbClr val="2B3B4C"/>
                </a:solidFill>
                <a:latin typeface="Georgia"/>
              </a:defRPr>
            </a:pPr>
            <a:r>
              <a:rPr>
                <a:latin typeface="Goudy Old Style"/>
              </a:rPr>
              <a:t>Submit details</a:t>
            </a:r>
          </a:p>
        </p:txBody>
      </p:sp>
      <p:sp>
        <p:nvSpPr>
          <p:cNvPr id="16" name="TextBox 15"/>
          <p:cNvSpPr txBox="1"/>
          <p:nvPr/>
        </p:nvSpPr>
        <p:spPr>
          <a:xfrm>
            <a:off x="7639800" y="2612664"/>
            <a:ext cx="3703320" cy="252377"/>
          </a:xfrm>
          <a:prstGeom prst="rect">
            <a:avLst/>
          </a:prstGeom>
          <a:noFill/>
        </p:spPr>
        <p:txBody>
          <a:bodyPr wrap="square" lIns="18288" tIns="18288" rIns="18288" bIns="18288" anchor="t">
            <a:spAutoFit/>
          </a:bodyPr>
          <a:lstStyle/>
          <a:p>
            <a:pPr algn="l">
              <a:spcAft>
                <a:spcPts val="500"/>
              </a:spcAft>
              <a:defRPr sz="1050" b="0" i="0">
                <a:solidFill>
                  <a:srgbClr val="43494E"/>
                </a:solidFill>
                <a:latin typeface="Aptos"/>
              </a:defRPr>
            </a:pPr>
            <a:r>
              <a:rPr sz="1400">
                <a:latin typeface="Goudy Old Style"/>
              </a:rPr>
              <a:t>The UI submits the completed </a:t>
            </a:r>
            <a:r>
              <a:rPr sz="1400" err="1">
                <a:latin typeface="Goudy Old Style"/>
              </a:rPr>
              <a:t>StudentForm</a:t>
            </a:r>
            <a:r>
              <a:rPr sz="1400">
                <a:latin typeface="Goudy Old Style"/>
              </a:rPr>
              <a:t>.</a:t>
            </a:r>
          </a:p>
        </p:txBody>
      </p:sp>
      <p:sp>
        <p:nvSpPr>
          <p:cNvPr id="17" name="Oval 16"/>
          <p:cNvSpPr/>
          <p:nvPr/>
        </p:nvSpPr>
        <p:spPr>
          <a:xfrm>
            <a:off x="7181160" y="3218448"/>
            <a:ext cx="384048" cy="384048"/>
          </a:xfrm>
          <a:prstGeom prst="ellipse">
            <a:avLst/>
          </a:prstGeom>
          <a:solidFill>
            <a:srgbClr val="BEC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8" name="TextBox 17"/>
          <p:cNvSpPr txBox="1"/>
          <p:nvPr/>
        </p:nvSpPr>
        <p:spPr>
          <a:xfrm>
            <a:off x="7181160" y="3285887"/>
            <a:ext cx="384048" cy="252377"/>
          </a:xfrm>
          <a:prstGeom prst="rect">
            <a:avLst/>
          </a:prstGeom>
          <a:noFill/>
        </p:spPr>
        <p:txBody>
          <a:bodyPr wrap="square" lIns="18288" tIns="18288" rIns="18288" bIns="18288" anchor="t">
            <a:spAutoFit/>
          </a:bodyPr>
          <a:lstStyle/>
          <a:p>
            <a:pPr algn="ctr">
              <a:spcAft>
                <a:spcPts val="500"/>
              </a:spcAft>
              <a:defRPr sz="850" b="1" i="0">
                <a:solidFill>
                  <a:srgbClr val="2B3B4C"/>
                </a:solidFill>
                <a:latin typeface="Aptos"/>
              </a:defRPr>
            </a:pPr>
            <a:r>
              <a:rPr sz="1400">
                <a:latin typeface="Goudy Old Style"/>
              </a:rPr>
              <a:t>03</a:t>
            </a:r>
          </a:p>
        </p:txBody>
      </p:sp>
      <p:sp>
        <p:nvSpPr>
          <p:cNvPr id="19" name="TextBox 18"/>
          <p:cNvSpPr txBox="1"/>
          <p:nvPr/>
        </p:nvSpPr>
        <p:spPr>
          <a:xfrm>
            <a:off x="7639800" y="3161304"/>
            <a:ext cx="3657600" cy="236988"/>
          </a:xfrm>
          <a:prstGeom prst="rect">
            <a:avLst/>
          </a:prstGeom>
          <a:noFill/>
        </p:spPr>
        <p:txBody>
          <a:bodyPr wrap="square" lIns="18288" tIns="18288" rIns="18288" bIns="18288" anchor="t">
            <a:spAutoFit/>
          </a:bodyPr>
          <a:lstStyle/>
          <a:p>
            <a:pPr algn="l">
              <a:spcAft>
                <a:spcPts val="500"/>
              </a:spcAft>
              <a:defRPr sz="1300" b="1" i="0">
                <a:solidFill>
                  <a:srgbClr val="2B3B4C"/>
                </a:solidFill>
                <a:latin typeface="Georgia"/>
              </a:defRPr>
            </a:pPr>
            <a:r>
              <a:rPr>
                <a:latin typeface="Goudy Old Style"/>
              </a:rPr>
              <a:t>Check the WSU ID</a:t>
            </a:r>
          </a:p>
        </p:txBody>
      </p:sp>
      <p:sp>
        <p:nvSpPr>
          <p:cNvPr id="20" name="TextBox 19"/>
          <p:cNvSpPr txBox="1"/>
          <p:nvPr/>
        </p:nvSpPr>
        <p:spPr>
          <a:xfrm>
            <a:off x="7639800" y="3399048"/>
            <a:ext cx="3703320" cy="252377"/>
          </a:xfrm>
          <a:prstGeom prst="rect">
            <a:avLst/>
          </a:prstGeom>
          <a:noFill/>
        </p:spPr>
        <p:txBody>
          <a:bodyPr wrap="square" lIns="18288" tIns="18288" rIns="18288" bIns="18288" anchor="t">
            <a:spAutoFit/>
          </a:bodyPr>
          <a:lstStyle/>
          <a:p>
            <a:pPr algn="l">
              <a:spcAft>
                <a:spcPts val="500"/>
              </a:spcAft>
              <a:defRPr sz="1050" b="0" i="0">
                <a:solidFill>
                  <a:srgbClr val="43494E"/>
                </a:solidFill>
                <a:latin typeface="Aptos"/>
              </a:defRPr>
            </a:pPr>
            <a:r>
              <a:rPr sz="1400" err="1">
                <a:latin typeface="Goudy Old Style"/>
              </a:rPr>
              <a:t>StudentRepository</a:t>
            </a:r>
            <a:r>
              <a:rPr sz="1400">
                <a:latin typeface="Goudy Old Style"/>
              </a:rPr>
              <a:t> looks up the submitted ID.</a:t>
            </a:r>
          </a:p>
        </p:txBody>
      </p:sp>
      <p:sp>
        <p:nvSpPr>
          <p:cNvPr id="21" name="Oval 20"/>
          <p:cNvSpPr/>
          <p:nvPr/>
        </p:nvSpPr>
        <p:spPr>
          <a:xfrm>
            <a:off x="7181160" y="4004832"/>
            <a:ext cx="384048" cy="384048"/>
          </a:xfrm>
          <a:prstGeom prst="ellipse">
            <a:avLst/>
          </a:prstGeom>
          <a:solidFill>
            <a:srgbClr val="DC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2" name="TextBox 21"/>
          <p:cNvSpPr txBox="1"/>
          <p:nvPr/>
        </p:nvSpPr>
        <p:spPr>
          <a:xfrm>
            <a:off x="7181160" y="4054272"/>
            <a:ext cx="384048" cy="252377"/>
          </a:xfrm>
          <a:prstGeom prst="rect">
            <a:avLst/>
          </a:prstGeom>
          <a:noFill/>
        </p:spPr>
        <p:txBody>
          <a:bodyPr wrap="square" lIns="18288" tIns="18288" rIns="18288" bIns="18288" anchor="t">
            <a:spAutoFit/>
          </a:bodyPr>
          <a:lstStyle/>
          <a:p>
            <a:pPr algn="ctr">
              <a:spcAft>
                <a:spcPts val="500"/>
              </a:spcAft>
              <a:defRPr sz="850" b="1" i="0">
                <a:solidFill>
                  <a:srgbClr val="2B3B4C"/>
                </a:solidFill>
                <a:latin typeface="Aptos"/>
              </a:defRPr>
            </a:pPr>
            <a:r>
              <a:rPr sz="1400">
                <a:latin typeface="Goudy Old Style"/>
              </a:rPr>
              <a:t>04</a:t>
            </a:r>
          </a:p>
        </p:txBody>
      </p:sp>
      <p:sp>
        <p:nvSpPr>
          <p:cNvPr id="23" name="TextBox 22"/>
          <p:cNvSpPr txBox="1"/>
          <p:nvPr/>
        </p:nvSpPr>
        <p:spPr>
          <a:xfrm>
            <a:off x="7639800" y="3947688"/>
            <a:ext cx="3657600" cy="236988"/>
          </a:xfrm>
          <a:prstGeom prst="rect">
            <a:avLst/>
          </a:prstGeom>
          <a:noFill/>
        </p:spPr>
        <p:txBody>
          <a:bodyPr wrap="square" lIns="18288" tIns="18288" rIns="18288" bIns="18288" anchor="t">
            <a:spAutoFit/>
          </a:bodyPr>
          <a:lstStyle/>
          <a:p>
            <a:pPr algn="l">
              <a:spcAft>
                <a:spcPts val="500"/>
              </a:spcAft>
              <a:defRPr sz="1300" b="1" i="0">
                <a:solidFill>
                  <a:srgbClr val="2B3B4C"/>
                </a:solidFill>
                <a:latin typeface="Georgia"/>
              </a:defRPr>
            </a:pPr>
            <a:r>
              <a:rPr>
                <a:latin typeface="Goudy Old Style"/>
              </a:rPr>
              <a:t>Create and save</a:t>
            </a:r>
          </a:p>
        </p:txBody>
      </p:sp>
      <p:sp>
        <p:nvSpPr>
          <p:cNvPr id="24" name="TextBox 23"/>
          <p:cNvSpPr txBox="1"/>
          <p:nvPr/>
        </p:nvSpPr>
        <p:spPr>
          <a:xfrm>
            <a:off x="7639800" y="4185432"/>
            <a:ext cx="3703320" cy="252377"/>
          </a:xfrm>
          <a:prstGeom prst="rect">
            <a:avLst/>
          </a:prstGeom>
          <a:noFill/>
        </p:spPr>
        <p:txBody>
          <a:bodyPr wrap="square" lIns="18288" tIns="18288" rIns="18288" bIns="18288" anchor="t">
            <a:spAutoFit/>
          </a:bodyPr>
          <a:lstStyle/>
          <a:p>
            <a:pPr algn="l">
              <a:spcAft>
                <a:spcPts val="500"/>
              </a:spcAft>
              <a:defRPr sz="1050" b="0" i="0">
                <a:solidFill>
                  <a:srgbClr val="43494E"/>
                </a:solidFill>
                <a:latin typeface="Aptos"/>
              </a:defRPr>
            </a:pPr>
            <a:r>
              <a:rPr sz="1400">
                <a:latin typeface="Goudy Old Style"/>
              </a:rPr>
              <a:t>A new Student is created and saved to H2.</a:t>
            </a:r>
          </a:p>
        </p:txBody>
      </p:sp>
      <p:sp>
        <p:nvSpPr>
          <p:cNvPr id="25" name="Oval 24"/>
          <p:cNvSpPr/>
          <p:nvPr/>
        </p:nvSpPr>
        <p:spPr>
          <a:xfrm>
            <a:off x="7181160" y="4791216"/>
            <a:ext cx="384048" cy="384048"/>
          </a:xfrm>
          <a:prstGeom prst="ellipse">
            <a:avLst/>
          </a:prstGeom>
          <a:solidFill>
            <a:srgbClr val="DADE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26" name="TextBox 25"/>
          <p:cNvSpPr txBox="1"/>
          <p:nvPr/>
        </p:nvSpPr>
        <p:spPr>
          <a:xfrm>
            <a:off x="7181160" y="4846656"/>
            <a:ext cx="384048" cy="252377"/>
          </a:xfrm>
          <a:prstGeom prst="rect">
            <a:avLst/>
          </a:prstGeom>
          <a:noFill/>
        </p:spPr>
        <p:txBody>
          <a:bodyPr wrap="square" lIns="18288" tIns="18288" rIns="18288" bIns="18288" anchor="t">
            <a:spAutoFit/>
          </a:bodyPr>
          <a:lstStyle/>
          <a:p>
            <a:pPr algn="ctr">
              <a:spcAft>
                <a:spcPts val="500"/>
              </a:spcAft>
              <a:defRPr sz="850" b="1" i="0">
                <a:solidFill>
                  <a:srgbClr val="2B3B4C"/>
                </a:solidFill>
                <a:latin typeface="Aptos"/>
              </a:defRPr>
            </a:pPr>
            <a:r>
              <a:rPr sz="1400">
                <a:latin typeface="Goudy Old Style"/>
              </a:rPr>
              <a:t>05</a:t>
            </a:r>
          </a:p>
        </p:txBody>
      </p:sp>
      <p:sp>
        <p:nvSpPr>
          <p:cNvPr id="27" name="TextBox 26"/>
          <p:cNvSpPr txBox="1"/>
          <p:nvPr/>
        </p:nvSpPr>
        <p:spPr>
          <a:xfrm>
            <a:off x="7639800" y="4734072"/>
            <a:ext cx="3657600" cy="236988"/>
          </a:xfrm>
          <a:prstGeom prst="rect">
            <a:avLst/>
          </a:prstGeom>
          <a:noFill/>
        </p:spPr>
        <p:txBody>
          <a:bodyPr wrap="square" lIns="18288" tIns="18288" rIns="18288" bIns="18288" anchor="t">
            <a:spAutoFit/>
          </a:bodyPr>
          <a:lstStyle/>
          <a:p>
            <a:pPr algn="l">
              <a:spcAft>
                <a:spcPts val="500"/>
              </a:spcAft>
              <a:defRPr sz="1300" b="1" i="0">
                <a:solidFill>
                  <a:srgbClr val="2B3B4C"/>
                </a:solidFill>
                <a:latin typeface="Georgia"/>
              </a:defRPr>
            </a:pPr>
            <a:r>
              <a:rPr>
                <a:latin typeface="Goudy Old Style"/>
              </a:rPr>
              <a:t>Redirect</a:t>
            </a:r>
          </a:p>
        </p:txBody>
      </p:sp>
      <p:sp>
        <p:nvSpPr>
          <p:cNvPr id="28" name="TextBox 27"/>
          <p:cNvSpPr txBox="1"/>
          <p:nvPr/>
        </p:nvSpPr>
        <p:spPr>
          <a:xfrm>
            <a:off x="7639800" y="4971816"/>
            <a:ext cx="3703320" cy="252377"/>
          </a:xfrm>
          <a:prstGeom prst="rect">
            <a:avLst/>
          </a:prstGeom>
          <a:noFill/>
        </p:spPr>
        <p:txBody>
          <a:bodyPr wrap="square" lIns="18288" tIns="18288" rIns="18288" bIns="18288" anchor="t">
            <a:spAutoFit/>
          </a:bodyPr>
          <a:lstStyle/>
          <a:p>
            <a:pPr algn="l">
              <a:spcAft>
                <a:spcPts val="500"/>
              </a:spcAft>
              <a:defRPr sz="1050" b="0" i="0">
                <a:solidFill>
                  <a:srgbClr val="43494E"/>
                </a:solidFill>
                <a:latin typeface="Aptos"/>
              </a:defRPr>
            </a:pPr>
            <a:r>
              <a:rPr sz="1400">
                <a:latin typeface="Goudy Old Style"/>
              </a:rPr>
              <a:t>The student is sent to /students/{id}.</a:t>
            </a:r>
          </a:p>
        </p:txBody>
      </p:sp>
      <p:sp>
        <p:nvSpPr>
          <p:cNvPr id="29" name="Rounded Rectangle 28"/>
          <p:cNvSpPr/>
          <p:nvPr/>
        </p:nvSpPr>
        <p:spPr>
          <a:xfrm>
            <a:off x="7091160" y="5575320"/>
            <a:ext cx="4611960" cy="438048"/>
          </a:xfrm>
          <a:prstGeom prst="roundRect">
            <a:avLst/>
          </a:prstGeom>
          <a:solidFill>
            <a:srgbClr val="DCB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30" name="TextBox 29"/>
          <p:cNvSpPr txBox="1"/>
          <p:nvPr/>
        </p:nvSpPr>
        <p:spPr>
          <a:xfrm>
            <a:off x="7210608" y="5675904"/>
            <a:ext cx="4351920" cy="252377"/>
          </a:xfrm>
          <a:prstGeom prst="rect">
            <a:avLst/>
          </a:prstGeom>
          <a:noFill/>
        </p:spPr>
        <p:txBody>
          <a:bodyPr wrap="square" lIns="18288" tIns="18288" rIns="18288" bIns="18288" anchor="t">
            <a:spAutoFit/>
          </a:bodyPr>
          <a:lstStyle/>
          <a:p>
            <a:pPr algn="l">
              <a:spcAft>
                <a:spcPts val="500"/>
              </a:spcAft>
              <a:defRPr sz="950" b="1" i="0">
                <a:solidFill>
                  <a:srgbClr val="2B3B4C"/>
                </a:solidFill>
                <a:latin typeface="Aptos"/>
              </a:defRPr>
            </a:pPr>
            <a:r>
              <a:rPr sz="1400">
                <a:latin typeface="Goudy Old Style"/>
              </a:rPr>
              <a:t>ALTERNATIVE: duplicate WSU ID → display form error</a:t>
            </a:r>
            <a:endParaRPr lang="en-US" sz="1400">
              <a:latin typeface="Goudy Old Styl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D7360-04D5-E0A9-B51C-6BCD4E7F9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6AD442-390B-EF58-F962-4C333C9018ED}"/>
              </a:ext>
            </a:extLst>
          </p:cNvPr>
          <p:cNvSpPr>
            <a:spLocks noGrp="1"/>
          </p:cNvSpPr>
          <p:nvPr>
            <p:ph type="title"/>
          </p:nvPr>
        </p:nvSpPr>
        <p:spPr/>
        <p:txBody>
          <a:bodyPr/>
          <a:lstStyle/>
          <a:p>
            <a:r>
              <a:rPr lang="en-US">
                <a:solidFill>
                  <a:srgbClr val="2C3E50"/>
                </a:solidFill>
              </a:rPr>
              <a:t>BackENd</a:t>
            </a:r>
          </a:p>
        </p:txBody>
      </p:sp>
      <p:graphicFrame>
        <p:nvGraphicFramePr>
          <p:cNvPr id="5" name="Content Placeholder 3">
            <a:extLst>
              <a:ext uri="{FF2B5EF4-FFF2-40B4-BE49-F238E27FC236}">
                <a16:creationId xmlns:a16="http://schemas.microsoft.com/office/drawing/2014/main" id="{A553BC6D-4B0B-79A0-C47B-38072D58A0B3}"/>
              </a:ext>
            </a:extLst>
          </p:cNvPr>
          <p:cNvGraphicFramePr>
            <a:graphicFrameLocks/>
          </p:cNvGraphicFramePr>
          <p:nvPr>
            <p:extLst>
              <p:ext uri="{D42A27DB-BD31-4B8C-83A1-F6EECF244321}">
                <p14:modId xmlns:p14="http://schemas.microsoft.com/office/powerpoint/2010/main" val="3016508266"/>
              </p:ext>
            </p:extLst>
          </p:nvPr>
        </p:nvGraphicFramePr>
        <p:xfrm>
          <a:off x="7431576" y="1510912"/>
          <a:ext cx="3969116" cy="49244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Content Placeholder 6">
            <a:extLst>
              <a:ext uri="{FF2B5EF4-FFF2-40B4-BE49-F238E27FC236}">
                <a16:creationId xmlns:a16="http://schemas.microsoft.com/office/drawing/2014/main" id="{125AF78F-28C3-1969-599E-4AB4E7FABE26}"/>
              </a:ext>
            </a:extLst>
          </p:cNvPr>
          <p:cNvSpPr>
            <a:spLocks noGrp="1"/>
          </p:cNvSpPr>
          <p:nvPr>
            <p:ph idx="1"/>
          </p:nvPr>
        </p:nvSpPr>
        <p:spPr/>
        <p:txBody>
          <a:bodyPr/>
          <a:lstStyle/>
          <a:p>
            <a:pPr marL="285750" indent="-285750">
              <a:buFont typeface="Arial" panose="020B0604020202020204" pitchFamily="34" charset="0"/>
              <a:buChar char="•"/>
            </a:pPr>
            <a:r>
              <a:rPr lang="en-US" b="1">
                <a:solidFill>
                  <a:schemeClr val="tx2"/>
                </a:solidFill>
              </a:rPr>
              <a:t>Entity </a:t>
            </a:r>
          </a:p>
          <a:p>
            <a:pPr marL="788670" lvl="1" indent="-285750">
              <a:buFont typeface="Arial" panose="020B0604020202020204" pitchFamily="34" charset="0"/>
              <a:buChar char="•"/>
            </a:pPr>
            <a:r>
              <a:rPr lang="en-US">
                <a:solidFill>
                  <a:schemeClr val="tx2"/>
                </a:solidFill>
              </a:rPr>
              <a:t>Java classes that become database tables (Student, Club, Member)</a:t>
            </a:r>
          </a:p>
          <a:p>
            <a:pPr marL="285750" indent="-285750">
              <a:buFont typeface="Arial" panose="020B0604020202020204" pitchFamily="34" charset="0"/>
              <a:buChar char="•"/>
            </a:pPr>
            <a:r>
              <a:rPr lang="en-US" b="1">
                <a:solidFill>
                  <a:schemeClr val="tx2"/>
                </a:solidFill>
              </a:rPr>
              <a:t>Controller </a:t>
            </a:r>
          </a:p>
          <a:p>
            <a:pPr marL="788670" lvl="1" indent="-285750">
              <a:buFont typeface="Arial" panose="020B0604020202020204" pitchFamily="34" charset="0"/>
              <a:buChar char="•"/>
            </a:pPr>
            <a:r>
              <a:rPr lang="en-US">
                <a:solidFill>
                  <a:schemeClr val="tx2"/>
                </a:solidFill>
              </a:rPr>
              <a:t>Handles the entity associated requests</a:t>
            </a:r>
          </a:p>
          <a:p>
            <a:pPr marL="285750" indent="-285750">
              <a:buFont typeface="Arial" panose="020B0604020202020204" pitchFamily="34" charset="0"/>
              <a:buChar char="•"/>
            </a:pPr>
            <a:r>
              <a:rPr lang="en-US" b="1">
                <a:solidFill>
                  <a:schemeClr val="tx2"/>
                </a:solidFill>
              </a:rPr>
              <a:t>Post/Get</a:t>
            </a:r>
          </a:p>
          <a:p>
            <a:pPr marL="788670" lvl="1" indent="-285750">
              <a:buFont typeface="Arial" panose="020B0604020202020204" pitchFamily="34" charset="0"/>
              <a:buChar char="•"/>
            </a:pPr>
            <a:r>
              <a:rPr lang="en-US">
                <a:solidFill>
                  <a:schemeClr val="tx2"/>
                </a:solidFill>
              </a:rPr>
              <a:t>The specific request from the browser</a:t>
            </a:r>
          </a:p>
          <a:p>
            <a:pPr marL="1108710" lvl="2" indent="-285750"/>
            <a:r>
              <a:rPr lang="en-US">
                <a:solidFill>
                  <a:schemeClr val="tx2"/>
                </a:solidFill>
              </a:rPr>
              <a:t>GET: Loads a page</a:t>
            </a:r>
          </a:p>
          <a:p>
            <a:pPr marL="1108710" lvl="2" indent="-285750"/>
            <a:r>
              <a:rPr lang="en-US">
                <a:solidFill>
                  <a:schemeClr val="tx2"/>
                </a:solidFill>
              </a:rPr>
              <a:t>POST: Form submission</a:t>
            </a:r>
          </a:p>
          <a:p>
            <a:pPr marL="285750" indent="-285750">
              <a:buFont typeface="Arial" panose="020B0604020202020204" pitchFamily="34" charset="0"/>
              <a:buChar char="•"/>
            </a:pPr>
            <a:r>
              <a:rPr lang="en-US" b="1">
                <a:solidFill>
                  <a:schemeClr val="tx2"/>
                </a:solidFill>
              </a:rPr>
              <a:t>Repository </a:t>
            </a:r>
          </a:p>
          <a:p>
            <a:pPr marL="788670" lvl="1" indent="-285750">
              <a:buFont typeface="Arial" panose="020B0604020202020204" pitchFamily="34" charset="0"/>
              <a:buChar char="•"/>
            </a:pPr>
            <a:r>
              <a:rPr lang="en-US">
                <a:solidFill>
                  <a:schemeClr val="tx2"/>
                </a:solidFill>
              </a:rPr>
              <a:t>Interacts with the data base </a:t>
            </a:r>
          </a:p>
          <a:p>
            <a:pPr marL="1108710" lvl="2" indent="-285750"/>
            <a:r>
              <a:rPr lang="en-US">
                <a:solidFill>
                  <a:schemeClr val="tx2"/>
                </a:solidFill>
              </a:rPr>
              <a:t>Retrieval/storage </a:t>
            </a:r>
          </a:p>
        </p:txBody>
      </p:sp>
    </p:spTree>
    <p:extLst>
      <p:ext uri="{BB962C8B-B14F-4D97-AF65-F5344CB8AC3E}">
        <p14:creationId xmlns:p14="http://schemas.microsoft.com/office/powerpoint/2010/main" val="9180325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88497-3144-79CF-ABC1-B5500DFFCBBC}"/>
              </a:ext>
            </a:extLst>
          </p:cNvPr>
          <p:cNvSpPr>
            <a:spLocks noGrp="1"/>
          </p:cNvSpPr>
          <p:nvPr>
            <p:ph type="title"/>
          </p:nvPr>
        </p:nvSpPr>
        <p:spPr/>
        <p:txBody>
          <a:bodyPr/>
          <a:lstStyle/>
          <a:p>
            <a:r>
              <a:rPr lang="en-US">
                <a:solidFill>
                  <a:srgbClr val="2C3E50"/>
                </a:solidFill>
              </a:rPr>
              <a:t>Front </a:t>
            </a:r>
            <a:r>
              <a:rPr lang="en-US" err="1">
                <a:solidFill>
                  <a:srgbClr val="2C3E50"/>
                </a:solidFill>
              </a:rPr>
              <a:t>ENd</a:t>
            </a:r>
            <a:endParaRPr lang="en-US">
              <a:solidFill>
                <a:srgbClr val="2C3E50"/>
              </a:solidFill>
            </a:endParaRPr>
          </a:p>
        </p:txBody>
      </p:sp>
      <p:graphicFrame>
        <p:nvGraphicFramePr>
          <p:cNvPr id="4" name="Content Placeholder 3">
            <a:extLst>
              <a:ext uri="{FF2B5EF4-FFF2-40B4-BE49-F238E27FC236}">
                <a16:creationId xmlns:a16="http://schemas.microsoft.com/office/drawing/2014/main" id="{AEF2EB76-84E8-F259-CBC9-640A8FBEFAEF}"/>
              </a:ext>
            </a:extLst>
          </p:cNvPr>
          <p:cNvGraphicFramePr>
            <a:graphicFrameLocks noGrp="1"/>
          </p:cNvGraphicFramePr>
          <p:nvPr>
            <p:ph idx="1"/>
            <p:extLst>
              <p:ext uri="{D42A27DB-BD31-4B8C-83A1-F6EECF244321}">
                <p14:modId xmlns:p14="http://schemas.microsoft.com/office/powerpoint/2010/main" val="2203561224"/>
              </p:ext>
            </p:extLst>
          </p:nvPr>
        </p:nvGraphicFramePr>
        <p:xfrm>
          <a:off x="7362879" y="1447921"/>
          <a:ext cx="3969116" cy="49244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Content Placeholder 6">
            <a:extLst>
              <a:ext uri="{FF2B5EF4-FFF2-40B4-BE49-F238E27FC236}">
                <a16:creationId xmlns:a16="http://schemas.microsoft.com/office/drawing/2014/main" id="{E909612D-CF81-EA78-5E12-52AE589FDBE2}"/>
              </a:ext>
            </a:extLst>
          </p:cNvPr>
          <p:cNvSpPr txBox="1">
            <a:spLocks/>
          </p:cNvSpPr>
          <p:nvPr/>
        </p:nvSpPr>
        <p:spPr>
          <a:xfrm>
            <a:off x="790135" y="1979299"/>
            <a:ext cx="5809957" cy="4925000"/>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lvl="0" indent="-285750">
              <a:buFont typeface="Arial" panose="020B0604020202020204" pitchFamily="34" charset="0"/>
              <a:buChar char="•"/>
            </a:pPr>
            <a:r>
              <a:rPr lang="en-US" b="1">
                <a:solidFill>
                  <a:schemeClr val="tx2"/>
                </a:solidFill>
                <a:latin typeface="Goudy Old Style (Body)"/>
              </a:rPr>
              <a:t>Model</a:t>
            </a:r>
            <a:r>
              <a:rPr lang="en-US">
                <a:solidFill>
                  <a:schemeClr val="tx2"/>
                </a:solidFill>
                <a:latin typeface="Goudy Old Style (Body)"/>
              </a:rPr>
              <a:t>: </a:t>
            </a:r>
          </a:p>
          <a:p>
            <a:pPr marL="742950" lvl="1" indent="-285750">
              <a:buFont typeface="Arial" panose="020B0604020202020204" pitchFamily="34" charset="0"/>
              <a:buChar char="•"/>
            </a:pPr>
            <a:r>
              <a:rPr lang="en-US">
                <a:solidFill>
                  <a:schemeClr val="tx2"/>
                </a:solidFill>
                <a:latin typeface="Goudy Old Style (Body)"/>
              </a:rPr>
              <a:t>the controller puts data in the Model</a:t>
            </a:r>
          </a:p>
          <a:p>
            <a:pPr marL="285750" lvl="0" indent="-285750">
              <a:buFont typeface="Arial" panose="020B0604020202020204" pitchFamily="34" charset="0"/>
              <a:buChar char="•"/>
            </a:pPr>
            <a:r>
              <a:rPr lang="en-US" b="1">
                <a:solidFill>
                  <a:schemeClr val="tx2"/>
                </a:solidFill>
                <a:latin typeface="Goudy Old Style (Body)"/>
              </a:rPr>
              <a:t>Template</a:t>
            </a:r>
            <a:r>
              <a:rPr lang="en-US">
                <a:solidFill>
                  <a:schemeClr val="tx2"/>
                </a:solidFill>
                <a:latin typeface="Goudy Old Style (Body)"/>
              </a:rPr>
              <a:t>: </a:t>
            </a:r>
          </a:p>
          <a:p>
            <a:pPr marL="742950" lvl="1" indent="-285750">
              <a:buFont typeface="Arial" panose="020B0604020202020204" pitchFamily="34" charset="0"/>
              <a:buChar char="•"/>
            </a:pPr>
            <a:r>
              <a:rPr lang="en-US" err="1">
                <a:solidFill>
                  <a:schemeClr val="tx2"/>
                </a:solidFill>
                <a:latin typeface="Goudy Old Style (Body)"/>
              </a:rPr>
              <a:t>Thymeleaf</a:t>
            </a:r>
            <a:r>
              <a:rPr lang="en-US">
                <a:solidFill>
                  <a:schemeClr val="tx2"/>
                </a:solidFill>
                <a:latin typeface="Goudy Old Style (Body)"/>
              </a:rPr>
              <a:t> fills the ${...} parts in the .html file</a:t>
            </a:r>
          </a:p>
          <a:p>
            <a:pPr marL="285750" lvl="0" indent="-285750">
              <a:buFont typeface="Arial" panose="020B0604020202020204" pitchFamily="34" charset="0"/>
              <a:buChar char="•"/>
            </a:pPr>
            <a:r>
              <a:rPr lang="en-US" b="1">
                <a:solidFill>
                  <a:schemeClr val="tx2"/>
                </a:solidFill>
                <a:latin typeface="Goudy Old Style (Body)"/>
              </a:rPr>
              <a:t>HTML Page</a:t>
            </a:r>
            <a:r>
              <a:rPr lang="en-US">
                <a:solidFill>
                  <a:schemeClr val="tx2"/>
                </a:solidFill>
                <a:latin typeface="Goudy Old Style (Body)"/>
              </a:rPr>
              <a:t> </a:t>
            </a:r>
          </a:p>
          <a:p>
            <a:pPr marL="742950" lvl="1" indent="-285750">
              <a:buFont typeface="Arial" panose="020B0604020202020204" pitchFamily="34" charset="0"/>
              <a:buChar char="•"/>
            </a:pPr>
            <a:r>
              <a:rPr lang="en-US">
                <a:solidFill>
                  <a:schemeClr val="tx2"/>
                </a:solidFill>
                <a:latin typeface="Goudy Old Style (Body)"/>
              </a:rPr>
              <a:t>The browser receives a finished page</a:t>
            </a:r>
          </a:p>
          <a:p>
            <a:pPr marL="285750" lvl="0" indent="-285750">
              <a:buFont typeface="Arial" panose="020B0604020202020204" pitchFamily="34" charset="0"/>
              <a:buChar char="•"/>
            </a:pPr>
            <a:r>
              <a:rPr lang="en-US" b="1">
                <a:solidFill>
                  <a:schemeClr val="tx2"/>
                </a:solidFill>
                <a:latin typeface="Goudy Old Style (Body)"/>
              </a:rPr>
              <a:t>Form / Link</a:t>
            </a:r>
            <a:endParaRPr lang="en-US">
              <a:solidFill>
                <a:schemeClr val="tx2"/>
              </a:solidFill>
              <a:latin typeface="Goudy Old Style (Body)"/>
            </a:endParaRPr>
          </a:p>
          <a:p>
            <a:pPr marL="742950" lvl="1" indent="-285750">
              <a:buFont typeface="Arial" panose="020B0604020202020204" pitchFamily="34" charset="0"/>
              <a:buChar char="•"/>
            </a:pPr>
            <a:r>
              <a:rPr lang="en-US">
                <a:solidFill>
                  <a:schemeClr val="tx2"/>
                </a:solidFill>
                <a:latin typeface="Goudy Old Style (Body)"/>
              </a:rPr>
              <a:t>The user submits a form or clicks a link, which sends a new GET or POST back to the controller</a:t>
            </a:r>
            <a:endParaRPr lang="en-US"/>
          </a:p>
        </p:txBody>
      </p:sp>
    </p:spTree>
    <p:extLst>
      <p:ext uri="{BB962C8B-B14F-4D97-AF65-F5344CB8AC3E}">
        <p14:creationId xmlns:p14="http://schemas.microsoft.com/office/powerpoint/2010/main" val="2788765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FEBE8"/>
        </a:solidFill>
        <a:effectLst/>
      </p:bgPr>
    </p:bg>
    <p:spTree>
      <p:nvGrpSpPr>
        <p:cNvPr id="1" name=""/>
        <p:cNvGrpSpPr/>
        <p:nvPr/>
      </p:nvGrpSpPr>
      <p:grpSpPr>
        <a:xfrm>
          <a:off x="0" y="0"/>
          <a:ext cx="0" cy="0"/>
          <a:chOff x="0" y="0"/>
          <a:chExt cx="0" cy="0"/>
        </a:xfrm>
      </p:grpSpPr>
      <p:sp>
        <p:nvSpPr>
          <p:cNvPr id="7" name="Rounded Rectangle 6"/>
          <p:cNvSpPr/>
          <p:nvPr/>
        </p:nvSpPr>
        <p:spPr>
          <a:xfrm>
            <a:off x="796944" y="1566528"/>
            <a:ext cx="1828800" cy="731520"/>
          </a:xfrm>
          <a:prstGeom prst="roundRect">
            <a:avLst/>
          </a:prstGeom>
          <a:solidFill>
            <a:srgbClr val="DADED6"/>
          </a:solidFill>
          <a:ln w="63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70096" y="1639680"/>
            <a:ext cx="1682496" cy="390876"/>
          </a:xfrm>
          <a:prstGeom prst="rect">
            <a:avLst/>
          </a:prstGeom>
          <a:noFill/>
        </p:spPr>
        <p:txBody>
          <a:bodyPr wrap="square" lIns="27432" tIns="18288" rIns="27432" bIns="18288">
            <a:spAutoFit/>
          </a:bodyPr>
          <a:lstStyle/>
          <a:p>
            <a:pPr algn="ctr">
              <a:spcAft>
                <a:spcPts val="300"/>
              </a:spcAft>
              <a:defRPr sz="2300" b="0" i="0">
                <a:solidFill>
                  <a:srgbClr val="2B3B4C"/>
                </a:solidFill>
                <a:latin typeface="Georgia"/>
              </a:defRPr>
            </a:pPr>
            <a:r>
              <a:rPr lang="en-US">
                <a:latin typeface="Goudy Old Style"/>
              </a:rPr>
              <a:t>5</a:t>
            </a:r>
          </a:p>
        </p:txBody>
      </p:sp>
      <p:sp>
        <p:nvSpPr>
          <p:cNvPr id="9" name="TextBox 8"/>
          <p:cNvSpPr txBox="1"/>
          <p:nvPr/>
        </p:nvSpPr>
        <p:spPr>
          <a:xfrm>
            <a:off x="870096" y="2005440"/>
            <a:ext cx="1682496" cy="252377"/>
          </a:xfrm>
          <a:prstGeom prst="rect">
            <a:avLst/>
          </a:prstGeom>
          <a:noFill/>
        </p:spPr>
        <p:txBody>
          <a:bodyPr wrap="square" lIns="27432" tIns="18288" rIns="27432" bIns="18288" anchor="t">
            <a:spAutoFit/>
          </a:bodyPr>
          <a:lstStyle/>
          <a:p>
            <a:pPr algn="ctr">
              <a:spcAft>
                <a:spcPts val="300"/>
              </a:spcAft>
              <a:defRPr sz="900" b="1" i="0">
                <a:solidFill>
                  <a:srgbClr val="2B3B4C"/>
                </a:solidFill>
                <a:latin typeface="Aptos"/>
              </a:defRPr>
            </a:pPr>
            <a:r>
              <a:rPr lang="en-US" sz="1400">
                <a:latin typeface="Goudy Old Style"/>
              </a:rPr>
              <a:t>Test Runs</a:t>
            </a:r>
            <a:endParaRPr lang="en-US"/>
          </a:p>
        </p:txBody>
      </p:sp>
      <p:sp>
        <p:nvSpPr>
          <p:cNvPr id="10" name="Rounded Rectangle 9"/>
          <p:cNvSpPr/>
          <p:nvPr/>
        </p:nvSpPr>
        <p:spPr>
          <a:xfrm>
            <a:off x="2772048" y="1566528"/>
            <a:ext cx="1828800" cy="731520"/>
          </a:xfrm>
          <a:prstGeom prst="roundRect">
            <a:avLst/>
          </a:prstGeom>
          <a:solidFill>
            <a:srgbClr val="D2CFB9"/>
          </a:solidFill>
          <a:ln w="63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845200" y="1639680"/>
            <a:ext cx="1682496" cy="390876"/>
          </a:xfrm>
          <a:prstGeom prst="rect">
            <a:avLst/>
          </a:prstGeom>
          <a:noFill/>
        </p:spPr>
        <p:txBody>
          <a:bodyPr wrap="square" lIns="27432" tIns="18288" rIns="27432" bIns="18288">
            <a:spAutoFit/>
          </a:bodyPr>
          <a:lstStyle/>
          <a:p>
            <a:pPr algn="ctr">
              <a:spcAft>
                <a:spcPts val="300"/>
              </a:spcAft>
              <a:defRPr sz="2300" b="0" i="0">
                <a:solidFill>
                  <a:srgbClr val="2B3B4C"/>
                </a:solidFill>
                <a:latin typeface="Georgia"/>
              </a:defRPr>
            </a:pPr>
            <a:r>
              <a:rPr lang="en-US">
                <a:latin typeface="Goudy Old Style"/>
              </a:rPr>
              <a:t>0</a:t>
            </a:r>
          </a:p>
        </p:txBody>
      </p:sp>
      <p:sp>
        <p:nvSpPr>
          <p:cNvPr id="12" name="TextBox 11"/>
          <p:cNvSpPr txBox="1"/>
          <p:nvPr/>
        </p:nvSpPr>
        <p:spPr>
          <a:xfrm>
            <a:off x="2845200" y="2005440"/>
            <a:ext cx="1682496" cy="252377"/>
          </a:xfrm>
          <a:prstGeom prst="rect">
            <a:avLst/>
          </a:prstGeom>
          <a:noFill/>
        </p:spPr>
        <p:txBody>
          <a:bodyPr wrap="square" lIns="27432" tIns="18288" rIns="27432" bIns="18288" anchor="t">
            <a:spAutoFit/>
          </a:bodyPr>
          <a:lstStyle/>
          <a:p>
            <a:pPr algn="ctr">
              <a:spcAft>
                <a:spcPts val="300"/>
              </a:spcAft>
              <a:defRPr sz="900" b="1" i="0">
                <a:solidFill>
                  <a:srgbClr val="2B3B4C"/>
                </a:solidFill>
                <a:latin typeface="Aptos"/>
              </a:defRPr>
            </a:pPr>
            <a:r>
              <a:rPr lang="en-US" sz="1400">
                <a:latin typeface="Goudy Old Style"/>
              </a:rPr>
              <a:t>Failures</a:t>
            </a:r>
          </a:p>
        </p:txBody>
      </p:sp>
      <p:sp>
        <p:nvSpPr>
          <p:cNvPr id="13" name="Rounded Rectangle 12"/>
          <p:cNvSpPr/>
          <p:nvPr/>
        </p:nvSpPr>
        <p:spPr>
          <a:xfrm>
            <a:off x="4747152" y="1566528"/>
            <a:ext cx="1828800" cy="731520"/>
          </a:xfrm>
          <a:prstGeom prst="roundRect">
            <a:avLst/>
          </a:prstGeom>
          <a:solidFill>
            <a:srgbClr val="BEC8CA"/>
          </a:solidFill>
          <a:ln w="635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20304" y="1639680"/>
            <a:ext cx="1682496" cy="390876"/>
          </a:xfrm>
          <a:prstGeom prst="rect">
            <a:avLst/>
          </a:prstGeom>
          <a:noFill/>
        </p:spPr>
        <p:txBody>
          <a:bodyPr wrap="square" lIns="27432" tIns="18288" rIns="27432" bIns="18288">
            <a:spAutoFit/>
          </a:bodyPr>
          <a:lstStyle/>
          <a:p>
            <a:pPr algn="ctr">
              <a:spcAft>
                <a:spcPts val="300"/>
              </a:spcAft>
              <a:defRPr sz="2300" b="0" i="0">
                <a:solidFill>
                  <a:srgbClr val="2B3B4C"/>
                </a:solidFill>
                <a:latin typeface="Georgia"/>
              </a:defRPr>
            </a:pPr>
            <a:r>
              <a:rPr lang="en-US">
                <a:latin typeface="Goudy Old Style"/>
              </a:rPr>
              <a:t>3</a:t>
            </a:r>
          </a:p>
        </p:txBody>
      </p:sp>
      <p:sp>
        <p:nvSpPr>
          <p:cNvPr id="15" name="TextBox 14"/>
          <p:cNvSpPr txBox="1"/>
          <p:nvPr/>
        </p:nvSpPr>
        <p:spPr>
          <a:xfrm>
            <a:off x="4820304" y="2005440"/>
            <a:ext cx="1682496" cy="252377"/>
          </a:xfrm>
          <a:prstGeom prst="rect">
            <a:avLst/>
          </a:prstGeom>
          <a:noFill/>
        </p:spPr>
        <p:txBody>
          <a:bodyPr wrap="square" lIns="27432" tIns="18288" rIns="27432" bIns="18288" anchor="t">
            <a:spAutoFit/>
          </a:bodyPr>
          <a:lstStyle/>
          <a:p>
            <a:pPr algn="ctr">
              <a:spcAft>
                <a:spcPts val="300"/>
              </a:spcAft>
              <a:defRPr sz="900" b="1" i="0">
                <a:solidFill>
                  <a:srgbClr val="2B3B4C"/>
                </a:solidFill>
                <a:latin typeface="Aptos"/>
              </a:defRPr>
            </a:pPr>
            <a:r>
              <a:rPr lang="en-US" sz="1400">
                <a:latin typeface="Goudy Old Style"/>
              </a:rPr>
              <a:t>Issues closed</a:t>
            </a:r>
            <a:endParaRPr lang="en-US"/>
          </a:p>
        </p:txBody>
      </p:sp>
      <p:sp>
        <p:nvSpPr>
          <p:cNvPr id="16" name="TextBox 15"/>
          <p:cNvSpPr txBox="1"/>
          <p:nvPr/>
        </p:nvSpPr>
        <p:spPr>
          <a:xfrm>
            <a:off x="7005720" y="1621392"/>
            <a:ext cx="4160520" cy="206210"/>
          </a:xfrm>
          <a:prstGeom prst="rect">
            <a:avLst/>
          </a:prstGeom>
          <a:noFill/>
        </p:spPr>
        <p:txBody>
          <a:bodyPr wrap="square" lIns="27432" tIns="18288" rIns="27432" bIns="18288">
            <a:spAutoFit/>
          </a:bodyPr>
          <a:lstStyle/>
          <a:p>
            <a:pPr algn="l">
              <a:spcAft>
                <a:spcPts val="300"/>
              </a:spcAft>
              <a:defRPr sz="1000" b="1" i="0">
                <a:solidFill>
                  <a:srgbClr val="707577"/>
                </a:solidFill>
                <a:latin typeface="Aptos"/>
              </a:defRPr>
            </a:pPr>
            <a:r>
              <a:rPr lang="en-US" sz="1100">
                <a:latin typeface="Goudy Old Style"/>
              </a:rPr>
              <a:t>TEST APPROACH</a:t>
            </a:r>
          </a:p>
        </p:txBody>
      </p:sp>
      <p:sp>
        <p:nvSpPr>
          <p:cNvPr id="17" name="TextBox 16"/>
          <p:cNvSpPr txBox="1"/>
          <p:nvPr/>
        </p:nvSpPr>
        <p:spPr>
          <a:xfrm>
            <a:off x="7005720" y="1895712"/>
            <a:ext cx="4297680" cy="506292"/>
          </a:xfrm>
          <a:prstGeom prst="rect">
            <a:avLst/>
          </a:prstGeom>
          <a:noFill/>
        </p:spPr>
        <p:txBody>
          <a:bodyPr wrap="square" lIns="27432" tIns="18288" rIns="27432" bIns="18288">
            <a:spAutoFit/>
          </a:bodyPr>
          <a:lstStyle/>
          <a:p>
            <a:pPr algn="l">
              <a:spcAft>
                <a:spcPts val="300"/>
              </a:spcAft>
              <a:defRPr sz="1100" b="0" i="0">
                <a:solidFill>
                  <a:srgbClr val="43494E"/>
                </a:solidFill>
                <a:latin typeface="Aptos"/>
              </a:defRPr>
            </a:pPr>
            <a:r>
              <a:rPr lang="en-US" sz="1400">
                <a:latin typeface="Goudy Old Style"/>
              </a:rPr>
              <a:t>Spring Boot · MockMvc · StudentRepository</a:t>
            </a:r>
          </a:p>
          <a:p>
            <a:pPr algn="l">
              <a:spcAft>
                <a:spcPts val="300"/>
              </a:spcAft>
              <a:defRPr sz="1100" b="0" i="0">
                <a:solidFill>
                  <a:srgbClr val="43494E"/>
                </a:solidFill>
                <a:latin typeface="Aptos"/>
              </a:defRPr>
            </a:pPr>
            <a:r>
              <a:rPr lang="en-US" sz="1400">
                <a:latin typeface="Goudy Old Style"/>
              </a:rPr>
              <a:t>Shared sample data in SampleStudents.java</a:t>
            </a:r>
          </a:p>
        </p:txBody>
      </p:sp>
      <p:sp>
        <p:nvSpPr>
          <p:cNvPr id="18" name="Rounded Rectangle 17"/>
          <p:cNvSpPr/>
          <p:nvPr/>
        </p:nvSpPr>
        <p:spPr>
          <a:xfrm>
            <a:off x="796944" y="2572368"/>
            <a:ext cx="3493008" cy="1572768"/>
          </a:xfrm>
          <a:prstGeom prst="roundRect">
            <a:avLst/>
          </a:prstGeom>
          <a:solidFill>
            <a:srgbClr val="DADED6"/>
          </a:solidFill>
          <a:ln w="762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9" name="TextBox 18"/>
          <p:cNvSpPr txBox="1"/>
          <p:nvPr/>
        </p:nvSpPr>
        <p:spPr>
          <a:xfrm>
            <a:off x="961536" y="2682096"/>
            <a:ext cx="3163824" cy="206210"/>
          </a:xfrm>
          <a:prstGeom prst="rect">
            <a:avLst/>
          </a:prstGeom>
          <a:noFill/>
        </p:spPr>
        <p:txBody>
          <a:bodyPr wrap="square" lIns="27432" tIns="18288" rIns="27432" bIns="18288">
            <a:spAutoFit/>
          </a:bodyPr>
          <a:lstStyle/>
          <a:p>
            <a:pPr algn="l">
              <a:spcAft>
                <a:spcPts val="300"/>
              </a:spcAft>
              <a:defRPr sz="900" b="1" i="0">
                <a:solidFill>
                  <a:srgbClr val="2B3B4C"/>
                </a:solidFill>
                <a:latin typeface="Aptos"/>
              </a:defRPr>
            </a:pPr>
            <a:r>
              <a:rPr lang="en-US" sz="1100">
                <a:latin typeface="Goudy Old Style"/>
              </a:rPr>
              <a:t>TEST-002</a:t>
            </a:r>
          </a:p>
        </p:txBody>
      </p:sp>
      <p:sp>
        <p:nvSpPr>
          <p:cNvPr id="20" name="TextBox 19"/>
          <p:cNvSpPr txBox="1"/>
          <p:nvPr/>
        </p:nvSpPr>
        <p:spPr>
          <a:xfrm>
            <a:off x="961536" y="2910696"/>
            <a:ext cx="3163824" cy="283154"/>
          </a:xfrm>
          <a:prstGeom prst="rect">
            <a:avLst/>
          </a:prstGeom>
          <a:noFill/>
        </p:spPr>
        <p:txBody>
          <a:bodyPr wrap="square" lIns="27432" tIns="18288" rIns="27432" bIns="18288">
            <a:spAutoFit/>
          </a:bodyPr>
          <a:lstStyle/>
          <a:p>
            <a:pPr algn="l">
              <a:spcAft>
                <a:spcPts val="300"/>
              </a:spcAft>
              <a:defRPr sz="1400" b="1" i="0">
                <a:solidFill>
                  <a:srgbClr val="2B3B4C"/>
                </a:solidFill>
                <a:latin typeface="Georgia"/>
              </a:defRPr>
            </a:pPr>
            <a:r>
              <a:rPr lang="en-US" sz="1600">
                <a:solidFill>
                  <a:srgbClr val="2C3E50"/>
                </a:solidFill>
                <a:latin typeface="Goudy Old Style"/>
              </a:rPr>
              <a:t>Profile creation</a:t>
            </a:r>
          </a:p>
        </p:txBody>
      </p:sp>
      <p:sp>
        <p:nvSpPr>
          <p:cNvPr id="21" name="TextBox 20"/>
          <p:cNvSpPr txBox="1"/>
          <p:nvPr/>
        </p:nvSpPr>
        <p:spPr>
          <a:xfrm>
            <a:off x="961536" y="3258168"/>
            <a:ext cx="3163824" cy="775597"/>
          </a:xfrm>
          <a:prstGeom prst="rect">
            <a:avLst/>
          </a:prstGeom>
          <a:noFill/>
        </p:spPr>
        <p:txBody>
          <a:bodyPr wrap="square" lIns="27432" tIns="18288" rIns="27432" bIns="18288" anchor="t">
            <a:spAutoFit/>
          </a:bodyPr>
          <a:lstStyle/>
          <a:p>
            <a:pPr algn="l">
              <a:spcAft>
                <a:spcPts val="300"/>
              </a:spcAft>
              <a:defRPr sz="1050" b="0" i="0">
                <a:solidFill>
                  <a:srgbClr val="43494E"/>
                </a:solidFill>
                <a:latin typeface="Aptos"/>
              </a:defRPr>
            </a:pPr>
            <a:r>
              <a:rPr lang="en-US" sz="1600">
                <a:latin typeface="Goudy Old Style"/>
              </a:rPr>
              <a:t>Five sample students are saved, redirected, and shown on their profile pages.</a:t>
            </a:r>
          </a:p>
        </p:txBody>
      </p:sp>
      <p:sp>
        <p:nvSpPr>
          <p:cNvPr id="22" name="Rounded Rectangle 21"/>
          <p:cNvSpPr/>
          <p:nvPr/>
        </p:nvSpPr>
        <p:spPr>
          <a:xfrm>
            <a:off x="4445400" y="2572368"/>
            <a:ext cx="3493008" cy="1572768"/>
          </a:xfrm>
          <a:prstGeom prst="roundRect">
            <a:avLst/>
          </a:prstGeom>
          <a:solidFill>
            <a:srgbClr val="D2CFB9"/>
          </a:solidFill>
          <a:ln w="762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09992" y="2682096"/>
            <a:ext cx="3163824" cy="206210"/>
          </a:xfrm>
          <a:prstGeom prst="rect">
            <a:avLst/>
          </a:prstGeom>
          <a:noFill/>
        </p:spPr>
        <p:txBody>
          <a:bodyPr wrap="square" lIns="27432" tIns="18288" rIns="27432" bIns="18288">
            <a:spAutoFit/>
          </a:bodyPr>
          <a:lstStyle/>
          <a:p>
            <a:pPr algn="l">
              <a:spcAft>
                <a:spcPts val="300"/>
              </a:spcAft>
              <a:defRPr sz="900" b="1" i="0">
                <a:solidFill>
                  <a:srgbClr val="2B3B4C"/>
                </a:solidFill>
                <a:latin typeface="Aptos"/>
              </a:defRPr>
            </a:pPr>
            <a:r>
              <a:rPr lang="en-US" sz="1100">
                <a:latin typeface="Goudy Old Style"/>
              </a:rPr>
              <a:t>TEST-003</a:t>
            </a:r>
          </a:p>
        </p:txBody>
      </p:sp>
      <p:sp>
        <p:nvSpPr>
          <p:cNvPr id="24" name="TextBox 23"/>
          <p:cNvSpPr txBox="1"/>
          <p:nvPr/>
        </p:nvSpPr>
        <p:spPr>
          <a:xfrm>
            <a:off x="4609992" y="2910696"/>
            <a:ext cx="3163824" cy="283154"/>
          </a:xfrm>
          <a:prstGeom prst="rect">
            <a:avLst/>
          </a:prstGeom>
          <a:noFill/>
        </p:spPr>
        <p:txBody>
          <a:bodyPr wrap="square" lIns="27432" tIns="18288" rIns="27432" bIns="18288">
            <a:spAutoFit/>
          </a:bodyPr>
          <a:lstStyle/>
          <a:p>
            <a:pPr algn="l">
              <a:spcAft>
                <a:spcPts val="300"/>
              </a:spcAft>
              <a:defRPr sz="1400" b="1" i="0">
                <a:solidFill>
                  <a:srgbClr val="2B3B4C"/>
                </a:solidFill>
                <a:latin typeface="Georgia"/>
              </a:defRPr>
            </a:pPr>
            <a:r>
              <a:rPr lang="en-US" sz="1600">
                <a:latin typeface="Goudy Old Style"/>
              </a:rPr>
              <a:t>Duplicate WSU ID</a:t>
            </a:r>
          </a:p>
        </p:txBody>
      </p:sp>
      <p:sp>
        <p:nvSpPr>
          <p:cNvPr id="25" name="TextBox 24"/>
          <p:cNvSpPr txBox="1"/>
          <p:nvPr/>
        </p:nvSpPr>
        <p:spPr>
          <a:xfrm>
            <a:off x="4609992" y="3258168"/>
            <a:ext cx="3163824" cy="775597"/>
          </a:xfrm>
          <a:prstGeom prst="rect">
            <a:avLst/>
          </a:prstGeom>
          <a:noFill/>
        </p:spPr>
        <p:txBody>
          <a:bodyPr wrap="square" lIns="27432" tIns="18288" rIns="27432" bIns="18288">
            <a:spAutoFit/>
          </a:bodyPr>
          <a:lstStyle/>
          <a:p>
            <a:pPr algn="l">
              <a:spcAft>
                <a:spcPts val="300"/>
              </a:spcAft>
              <a:defRPr sz="1050" b="0" i="0">
                <a:solidFill>
                  <a:srgbClr val="43494E"/>
                </a:solidFill>
                <a:latin typeface="Aptos"/>
              </a:defRPr>
            </a:pPr>
            <a:r>
              <a:rPr lang="en-US" sz="1600">
                <a:latin typeface="Goudy Old Style"/>
              </a:rPr>
              <a:t>An error is shown, form values are preserved, and no second profile is created.</a:t>
            </a:r>
          </a:p>
        </p:txBody>
      </p:sp>
      <p:sp>
        <p:nvSpPr>
          <p:cNvPr id="26" name="Rounded Rectangle 25"/>
          <p:cNvSpPr/>
          <p:nvPr/>
        </p:nvSpPr>
        <p:spPr>
          <a:xfrm>
            <a:off x="8093856" y="2572368"/>
            <a:ext cx="3493008" cy="1572768"/>
          </a:xfrm>
          <a:prstGeom prst="roundRect">
            <a:avLst/>
          </a:prstGeom>
          <a:solidFill>
            <a:srgbClr val="BEC8CA"/>
          </a:solidFill>
          <a:ln w="7620">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58448" y="2682096"/>
            <a:ext cx="3163824" cy="206210"/>
          </a:xfrm>
          <a:prstGeom prst="rect">
            <a:avLst/>
          </a:prstGeom>
          <a:noFill/>
        </p:spPr>
        <p:txBody>
          <a:bodyPr wrap="square" lIns="27432" tIns="18288" rIns="27432" bIns="18288">
            <a:spAutoFit/>
          </a:bodyPr>
          <a:lstStyle/>
          <a:p>
            <a:pPr algn="l">
              <a:spcAft>
                <a:spcPts val="300"/>
              </a:spcAft>
              <a:defRPr sz="900" b="1" i="0">
                <a:solidFill>
                  <a:srgbClr val="2B3B4C"/>
                </a:solidFill>
                <a:latin typeface="Aptos"/>
              </a:defRPr>
            </a:pPr>
            <a:r>
              <a:rPr lang="en-US" sz="1100">
                <a:latin typeface="Goudy Old Style"/>
              </a:rPr>
              <a:t>TEST-004</a:t>
            </a:r>
          </a:p>
        </p:txBody>
      </p:sp>
      <p:sp>
        <p:nvSpPr>
          <p:cNvPr id="28" name="TextBox 27"/>
          <p:cNvSpPr txBox="1"/>
          <p:nvPr/>
        </p:nvSpPr>
        <p:spPr>
          <a:xfrm>
            <a:off x="8258448" y="2910696"/>
            <a:ext cx="3163824" cy="256032"/>
          </a:xfrm>
          <a:prstGeom prst="rect">
            <a:avLst/>
          </a:prstGeom>
          <a:noFill/>
        </p:spPr>
        <p:txBody>
          <a:bodyPr wrap="square" lIns="27432" tIns="18288" rIns="27432" bIns="18288">
            <a:spAutoFit/>
          </a:bodyPr>
          <a:lstStyle/>
          <a:p>
            <a:pPr algn="l">
              <a:spcAft>
                <a:spcPts val="300"/>
              </a:spcAft>
              <a:defRPr sz="1400" b="1" i="0">
                <a:solidFill>
                  <a:srgbClr val="2B3B4C"/>
                </a:solidFill>
                <a:latin typeface="Georgia"/>
              </a:defRPr>
            </a:pPr>
            <a:r>
              <a:rPr lang="en-US">
                <a:latin typeface="Goudy Old Style"/>
              </a:rPr>
              <a:t>Profile page</a:t>
            </a:r>
          </a:p>
        </p:txBody>
      </p:sp>
      <p:sp>
        <p:nvSpPr>
          <p:cNvPr id="29" name="TextBox 28"/>
          <p:cNvSpPr txBox="1"/>
          <p:nvPr/>
        </p:nvSpPr>
        <p:spPr>
          <a:xfrm>
            <a:off x="8258448" y="3258168"/>
            <a:ext cx="3163824" cy="529376"/>
          </a:xfrm>
          <a:prstGeom prst="rect">
            <a:avLst/>
          </a:prstGeom>
          <a:noFill/>
        </p:spPr>
        <p:txBody>
          <a:bodyPr wrap="square" lIns="27432" tIns="18288" rIns="27432" bIns="18288">
            <a:spAutoFit/>
          </a:bodyPr>
          <a:lstStyle/>
          <a:p>
            <a:pPr algn="l">
              <a:spcAft>
                <a:spcPts val="300"/>
              </a:spcAft>
              <a:defRPr sz="1050" b="0" i="0">
                <a:solidFill>
                  <a:srgbClr val="43494E"/>
                </a:solidFill>
                <a:latin typeface="Aptos"/>
              </a:defRPr>
            </a:pPr>
            <a:r>
              <a:rPr lang="en-US" sz="1600">
                <a:latin typeface="Goudy Old Style"/>
              </a:rPr>
              <a:t>Details display without exposing passwords; missing profiles return 404.</a:t>
            </a:r>
          </a:p>
        </p:txBody>
      </p:sp>
      <p:cxnSp>
        <p:nvCxnSpPr>
          <p:cNvPr id="30" name="Connector 29"/>
          <p:cNvCxnSpPr/>
          <p:nvPr/>
        </p:nvCxnSpPr>
        <p:spPr>
          <a:xfrm>
            <a:off x="796944" y="4376040"/>
            <a:ext cx="10789920" cy="0"/>
          </a:xfrm>
          <a:prstGeom prst="line">
            <a:avLst/>
          </a:prstGeom>
          <a:ln w="10160">
            <a:solidFill>
              <a:srgbClr val="CDC7C2"/>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97400" y="4583208"/>
            <a:ext cx="10414560" cy="283154"/>
          </a:xfrm>
          <a:prstGeom prst="rect">
            <a:avLst/>
          </a:prstGeom>
          <a:noFill/>
        </p:spPr>
        <p:txBody>
          <a:bodyPr wrap="square" lIns="27432" tIns="18288" rIns="27432" bIns="18288" anchor="t">
            <a:spAutoFit/>
          </a:bodyPr>
          <a:lstStyle/>
          <a:p>
            <a:pPr>
              <a:defRPr sz="1300" b="0" i="0">
                <a:solidFill>
                  <a:srgbClr val="2B3B4C"/>
                </a:solidFill>
                <a:latin typeface="Georgia"/>
              </a:defRPr>
            </a:pPr>
            <a:r>
              <a:rPr lang="en-US" sz="1400" b="1">
                <a:solidFill>
                  <a:srgbClr val="707577"/>
                </a:solidFill>
                <a:latin typeface="Goudy Old Style"/>
              </a:rPr>
              <a:t>EDGE CASES: </a:t>
            </a:r>
            <a:r>
              <a:rPr lang="en-US" sz="1600">
                <a:solidFill>
                  <a:srgbClr val="2B3B4C"/>
                </a:solidFill>
                <a:latin typeface="Goudy Old Style"/>
              </a:rPr>
              <a:t>Blank</a:t>
            </a:r>
            <a:r>
              <a:rPr lang="en-US" sz="1600">
                <a:latin typeface="Goudy Old Style"/>
              </a:rPr>
              <a:t> gender/pronouns · Blank major · WSU IDs with leading zeros · Hyphenated names</a:t>
            </a:r>
            <a:endParaRPr lang="en-US"/>
          </a:p>
        </p:txBody>
      </p:sp>
      <p:sp>
        <p:nvSpPr>
          <p:cNvPr id="35" name="Title 1">
            <a:extLst>
              <a:ext uri="{FF2B5EF4-FFF2-40B4-BE49-F238E27FC236}">
                <a16:creationId xmlns:a16="http://schemas.microsoft.com/office/drawing/2014/main" id="{4E48C187-8341-568F-13BA-B59D39004BD9}"/>
              </a:ext>
            </a:extLst>
          </p:cNvPr>
          <p:cNvSpPr txBox="1">
            <a:spLocks/>
          </p:cNvSpPr>
          <p:nvPr/>
        </p:nvSpPr>
        <p:spPr>
          <a:xfrm>
            <a:off x="821520" y="665760"/>
            <a:ext cx="10765152" cy="790258"/>
          </a:xfrm>
          <a:prstGeom prst="rect">
            <a:avLst/>
          </a:prstGeom>
        </p:spPr>
        <p:txBody>
          <a:bodyPr/>
          <a:lst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a:lstStyle>
          <a:p>
            <a:r>
              <a:rPr lang="en-US">
                <a:solidFill>
                  <a:srgbClr val="2C3E50"/>
                </a:solidFill>
              </a:rPr>
              <a:t>Student profile Testing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6F159-03B4-5D58-FEAE-FB0B11B1DD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621C0-75AC-F6EF-BB2F-8DDA5A7A97F6}"/>
              </a:ext>
            </a:extLst>
          </p:cNvPr>
          <p:cNvSpPr>
            <a:spLocks noGrp="1"/>
          </p:cNvSpPr>
          <p:nvPr>
            <p:ph type="title"/>
          </p:nvPr>
        </p:nvSpPr>
        <p:spPr/>
        <p:txBody>
          <a:bodyPr/>
          <a:lstStyle/>
          <a:p>
            <a:r>
              <a:rPr lang="en-US">
                <a:solidFill>
                  <a:srgbClr val="2C3E50"/>
                </a:solidFill>
              </a:rPr>
              <a:t>Club Testing</a:t>
            </a:r>
          </a:p>
        </p:txBody>
      </p:sp>
      <p:sp>
        <p:nvSpPr>
          <p:cNvPr id="3" name="Content Placeholder 2">
            <a:extLst>
              <a:ext uri="{FF2B5EF4-FFF2-40B4-BE49-F238E27FC236}">
                <a16:creationId xmlns:a16="http://schemas.microsoft.com/office/drawing/2014/main" id="{23F55085-0803-C5FA-E7D9-657A30017A84}"/>
              </a:ext>
            </a:extLst>
          </p:cNvPr>
          <p:cNvSpPr>
            <a:spLocks noGrp="1"/>
          </p:cNvSpPr>
          <p:nvPr>
            <p:ph idx="1"/>
          </p:nvPr>
        </p:nvSpPr>
        <p:spPr>
          <a:xfrm>
            <a:off x="731520" y="5140865"/>
            <a:ext cx="10756759" cy="1442814"/>
          </a:xfrm>
        </p:spPr>
        <p:txBody>
          <a:bodyPr vert="horz" lIns="91440" tIns="45720" rIns="91440" bIns="45720" rtlCol="0" anchor="t">
            <a:normAutofit/>
          </a:bodyPr>
          <a:lstStyle/>
          <a:p>
            <a:r>
              <a:rPr lang="en-US"/>
              <a:t>Edge cases: if the student doesn't have a valid ID, then that student cannot register a club. </a:t>
            </a:r>
          </a:p>
        </p:txBody>
      </p:sp>
      <p:sp>
        <p:nvSpPr>
          <p:cNvPr id="4" name="Rectangle: Rounded Corners 3">
            <a:extLst>
              <a:ext uri="{FF2B5EF4-FFF2-40B4-BE49-F238E27FC236}">
                <a16:creationId xmlns:a16="http://schemas.microsoft.com/office/drawing/2014/main" id="{6118B07F-9F9F-7B6F-056A-43144A765718}"/>
              </a:ext>
            </a:extLst>
          </p:cNvPr>
          <p:cNvSpPr/>
          <p:nvPr/>
        </p:nvSpPr>
        <p:spPr>
          <a:xfrm>
            <a:off x="732464" y="1500373"/>
            <a:ext cx="1559441" cy="7797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4 issues closed</a:t>
            </a:r>
          </a:p>
        </p:txBody>
      </p:sp>
      <p:sp>
        <p:nvSpPr>
          <p:cNvPr id="6" name="TextBox 5">
            <a:extLst>
              <a:ext uri="{FF2B5EF4-FFF2-40B4-BE49-F238E27FC236}">
                <a16:creationId xmlns:a16="http://schemas.microsoft.com/office/drawing/2014/main" id="{000DCFEA-A740-45B8-DD58-F49D567E82B1}"/>
              </a:ext>
            </a:extLst>
          </p:cNvPr>
          <p:cNvSpPr txBox="1"/>
          <p:nvPr/>
        </p:nvSpPr>
        <p:spPr>
          <a:xfrm>
            <a:off x="3048780" y="1425583"/>
            <a:ext cx="628502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For testing approach, I used </a:t>
            </a:r>
            <a:r>
              <a:rPr lang="en-US" err="1"/>
              <a:t>SpringBoot</a:t>
            </a:r>
            <a:r>
              <a:rPr lang="en-US"/>
              <a:t>, </a:t>
            </a:r>
            <a:r>
              <a:rPr lang="en-US" err="1"/>
              <a:t>MockMvc</a:t>
            </a:r>
            <a:r>
              <a:rPr lang="en-US"/>
              <a:t>, </a:t>
            </a:r>
            <a:r>
              <a:rPr lang="en-US" err="1"/>
              <a:t>StudentRepository</a:t>
            </a:r>
            <a:r>
              <a:rPr lang="en-US"/>
              <a:t>, </a:t>
            </a:r>
            <a:r>
              <a:rPr lang="en-US" err="1"/>
              <a:t>ClubRepository</a:t>
            </a:r>
            <a:r>
              <a:rPr lang="en-US"/>
              <a:t>, and files from controller and entities. </a:t>
            </a:r>
          </a:p>
        </p:txBody>
      </p:sp>
      <p:sp>
        <p:nvSpPr>
          <p:cNvPr id="7" name="Rectangle: Rounded Corners 6">
            <a:extLst>
              <a:ext uri="{FF2B5EF4-FFF2-40B4-BE49-F238E27FC236}">
                <a16:creationId xmlns:a16="http://schemas.microsoft.com/office/drawing/2014/main" id="{5B947F7F-3AE7-BB06-A1A2-6F45C583B2B9}"/>
              </a:ext>
            </a:extLst>
          </p:cNvPr>
          <p:cNvSpPr/>
          <p:nvPr/>
        </p:nvSpPr>
        <p:spPr>
          <a:xfrm>
            <a:off x="92559" y="2698706"/>
            <a:ext cx="2841598" cy="1744021"/>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a:solidFill>
                  <a:schemeClr val="tx1"/>
                </a:solidFill>
              </a:rPr>
              <a:t>Club Registration</a:t>
            </a:r>
          </a:p>
          <a:p>
            <a:r>
              <a:rPr lang="en-US">
                <a:solidFill>
                  <a:schemeClr val="tx1"/>
                </a:solidFill>
              </a:rPr>
              <a:t>After adding all the club's details, it's ready for registration. It's registered if there's a valid student ID available.</a:t>
            </a:r>
          </a:p>
        </p:txBody>
      </p:sp>
      <p:sp>
        <p:nvSpPr>
          <p:cNvPr id="9" name="Rectangle: Rounded Corners 8">
            <a:extLst>
              <a:ext uri="{FF2B5EF4-FFF2-40B4-BE49-F238E27FC236}">
                <a16:creationId xmlns:a16="http://schemas.microsoft.com/office/drawing/2014/main" id="{7F6D5397-5BC8-1915-B6F8-B966DE24012E}"/>
              </a:ext>
            </a:extLst>
          </p:cNvPr>
          <p:cNvSpPr/>
          <p:nvPr/>
        </p:nvSpPr>
        <p:spPr>
          <a:xfrm>
            <a:off x="3024372" y="2687674"/>
            <a:ext cx="3166138" cy="1742557"/>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a:solidFill>
                  <a:schemeClr val="tx1"/>
                </a:solidFill>
              </a:rPr>
              <a:t>Club Search by area</a:t>
            </a:r>
          </a:p>
          <a:p>
            <a:r>
              <a:rPr lang="en-US">
                <a:solidFill>
                  <a:schemeClr val="tx1"/>
                </a:solidFill>
              </a:rPr>
              <a:t>When searching for a club, select one area from the dropdown and if the club matches that area, the name will be displayed.</a:t>
            </a:r>
          </a:p>
        </p:txBody>
      </p:sp>
      <p:sp>
        <p:nvSpPr>
          <p:cNvPr id="10" name="Rectangle: Rounded Corners 9">
            <a:extLst>
              <a:ext uri="{FF2B5EF4-FFF2-40B4-BE49-F238E27FC236}">
                <a16:creationId xmlns:a16="http://schemas.microsoft.com/office/drawing/2014/main" id="{90BF727E-6F56-D29E-501B-A622DE3AF8A8}"/>
              </a:ext>
            </a:extLst>
          </p:cNvPr>
          <p:cNvSpPr/>
          <p:nvPr/>
        </p:nvSpPr>
        <p:spPr>
          <a:xfrm>
            <a:off x="6296838" y="2675859"/>
            <a:ext cx="2929858" cy="1766186"/>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a:solidFill>
                  <a:schemeClr val="tx1"/>
                </a:solidFill>
              </a:rPr>
              <a:t>Club Search by name</a:t>
            </a:r>
          </a:p>
          <a:p>
            <a:r>
              <a:rPr lang="en-US">
                <a:solidFill>
                  <a:schemeClr val="tx1"/>
                </a:solidFill>
              </a:rPr>
              <a:t>When searching for a club, type its name. If it exists, the club's name comes up.</a:t>
            </a:r>
          </a:p>
        </p:txBody>
      </p:sp>
      <p:sp>
        <p:nvSpPr>
          <p:cNvPr id="11" name="Rectangle: Rounded Corners 10">
            <a:extLst>
              <a:ext uri="{FF2B5EF4-FFF2-40B4-BE49-F238E27FC236}">
                <a16:creationId xmlns:a16="http://schemas.microsoft.com/office/drawing/2014/main" id="{544F7DA4-5D77-DF8B-80CB-381E4BEFE274}"/>
              </a:ext>
            </a:extLst>
          </p:cNvPr>
          <p:cNvSpPr/>
          <p:nvPr/>
        </p:nvSpPr>
        <p:spPr>
          <a:xfrm>
            <a:off x="9333022" y="2675860"/>
            <a:ext cx="2664047" cy="1766186"/>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a:solidFill>
                  <a:srgbClr val="000000"/>
                </a:solidFill>
              </a:rPr>
              <a:t>Club Page</a:t>
            </a:r>
          </a:p>
          <a:p>
            <a:r>
              <a:rPr lang="en-US">
                <a:solidFill>
                  <a:srgbClr val="000000"/>
                </a:solidFill>
              </a:rPr>
              <a:t>After the registration, the club's page display's area of interest, status, description, and members. </a:t>
            </a:r>
            <a:endParaRPr lang="en-US"/>
          </a:p>
        </p:txBody>
      </p:sp>
    </p:spTree>
    <p:extLst>
      <p:ext uri="{BB962C8B-B14F-4D97-AF65-F5344CB8AC3E}">
        <p14:creationId xmlns:p14="http://schemas.microsoft.com/office/powerpoint/2010/main" val="3898624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E67AB-2371-2CEB-F73D-16E94F2E5E32}"/>
              </a:ext>
            </a:extLst>
          </p:cNvPr>
          <p:cNvSpPr>
            <a:spLocks noGrp="1"/>
          </p:cNvSpPr>
          <p:nvPr>
            <p:ph type="title"/>
          </p:nvPr>
        </p:nvSpPr>
        <p:spPr/>
        <p:txBody>
          <a:bodyPr>
            <a:normAutofit/>
          </a:bodyPr>
          <a:lstStyle/>
          <a:p>
            <a:r>
              <a:rPr lang="en-US">
                <a:solidFill>
                  <a:srgbClr val="2C3E50"/>
                </a:solidFill>
              </a:rPr>
              <a:t>Features Implemented</a:t>
            </a:r>
          </a:p>
        </p:txBody>
      </p:sp>
      <p:sp>
        <p:nvSpPr>
          <p:cNvPr id="3" name="Content Placeholder 2">
            <a:extLst>
              <a:ext uri="{FF2B5EF4-FFF2-40B4-BE49-F238E27FC236}">
                <a16:creationId xmlns:a16="http://schemas.microsoft.com/office/drawing/2014/main" id="{555AF24A-CD58-469B-996A-99A502E2C001}"/>
              </a:ext>
            </a:extLst>
          </p:cNvPr>
          <p:cNvSpPr>
            <a:spLocks noGrp="1"/>
          </p:cNvSpPr>
          <p:nvPr>
            <p:ph idx="1"/>
          </p:nvPr>
        </p:nvSpPr>
        <p:spPr/>
        <p:txBody>
          <a:bodyPr vert="horz" lIns="91440" tIns="45720" rIns="91440" bIns="45720" rtlCol="0" anchor="t">
            <a:normAutofit/>
          </a:bodyPr>
          <a:lstStyle/>
          <a:p>
            <a:pPr marL="342900" lvl="0" indent="-342900" fontAlgn="t">
              <a:buFont typeface="Arial" panose="020B0604020202020204" pitchFamily="34" charset="0"/>
              <a:buChar char="•"/>
            </a:pPr>
            <a:r>
              <a:rPr lang="en-US" b="1">
                <a:solidFill>
                  <a:srgbClr val="2C3E50"/>
                </a:solidFill>
              </a:rPr>
              <a:t>FR-001: User Profile Management</a:t>
            </a:r>
            <a:endParaRPr lang="en-US">
              <a:solidFill>
                <a:srgbClr val="2C3E50"/>
              </a:solidFill>
            </a:endParaRPr>
          </a:p>
          <a:p>
            <a:pPr marL="742950" lvl="1" indent="-285750" fontAlgn="t">
              <a:buFont typeface="Arial" panose="020B0604020202020204" pitchFamily="34" charset="0"/>
              <a:buChar char="•"/>
            </a:pPr>
            <a:r>
              <a:rPr lang="en-US">
                <a:solidFill>
                  <a:srgbClr val="2C3E50"/>
                </a:solidFill>
              </a:rPr>
              <a:t>FR-001.1: Back End: User Profile Form</a:t>
            </a:r>
          </a:p>
          <a:p>
            <a:pPr marL="742950" lvl="1" indent="-285750" fontAlgn="t">
              <a:buFont typeface="Arial" panose="020B0604020202020204" pitchFamily="34" charset="0"/>
              <a:buChar char="•"/>
            </a:pPr>
            <a:r>
              <a:rPr lang="en-US">
                <a:solidFill>
                  <a:srgbClr val="2C3E50"/>
                </a:solidFill>
              </a:rPr>
              <a:t>FR-001.2: Front End: User Profile Page</a:t>
            </a:r>
          </a:p>
          <a:p>
            <a:pPr marL="742950" lvl="1" indent="-285750" fontAlgn="t">
              <a:buFont typeface="Arial" panose="020B0604020202020204" pitchFamily="34" charset="0"/>
              <a:buChar char="•"/>
            </a:pPr>
            <a:r>
              <a:rPr lang="en-US">
                <a:solidFill>
                  <a:srgbClr val="2C3E50"/>
                </a:solidFill>
              </a:rPr>
              <a:t>FR-001.3: Back End: User Profile Submission and Storage</a:t>
            </a:r>
          </a:p>
          <a:p>
            <a:pPr marL="742950" lvl="1" indent="-285750" fontAlgn="t">
              <a:buFont typeface="Arial" panose="020B0604020202020204" pitchFamily="34" charset="0"/>
              <a:buChar char="•"/>
            </a:pPr>
            <a:r>
              <a:rPr lang="en-US">
                <a:solidFill>
                  <a:srgbClr val="2C3E50"/>
                </a:solidFill>
              </a:rPr>
              <a:t>FR-001.4: Front End: User Profile Form &amp; Submission</a:t>
            </a:r>
          </a:p>
          <a:p>
            <a:pPr marL="342900" lvl="0" indent="-342900" fontAlgn="t">
              <a:buFont typeface="Arial" panose="020B0604020202020204" pitchFamily="34" charset="0"/>
              <a:buChar char="•"/>
            </a:pPr>
            <a:r>
              <a:rPr lang="en-US" b="1">
                <a:solidFill>
                  <a:srgbClr val="2C3E50"/>
                </a:solidFill>
              </a:rPr>
              <a:t>FR-002: Club Registration</a:t>
            </a:r>
            <a:endParaRPr lang="en-US">
              <a:solidFill>
                <a:srgbClr val="2C3E50"/>
              </a:solidFill>
            </a:endParaRPr>
          </a:p>
          <a:p>
            <a:pPr marL="742950" lvl="1" indent="-285750" fontAlgn="t">
              <a:buFont typeface="Arial" panose="020B0604020202020204" pitchFamily="34" charset="0"/>
              <a:buChar char="•"/>
            </a:pPr>
            <a:r>
              <a:rPr lang="en-US">
                <a:solidFill>
                  <a:srgbClr val="2C3E50"/>
                </a:solidFill>
              </a:rPr>
              <a:t>FR-002.1: Back End: Club Registration Form</a:t>
            </a:r>
          </a:p>
          <a:p>
            <a:pPr marL="742950" lvl="1" indent="-285750" fontAlgn="t">
              <a:buFont typeface="Arial" panose="020B0604020202020204" pitchFamily="34" charset="0"/>
              <a:buChar char="•"/>
            </a:pPr>
            <a:r>
              <a:rPr lang="en-US">
                <a:solidFill>
                  <a:srgbClr val="2C3E50"/>
                </a:solidFill>
              </a:rPr>
              <a:t>FR-002.2: Front End: Club Registration Form</a:t>
            </a:r>
          </a:p>
          <a:p>
            <a:pPr marL="742950" lvl="1" indent="-285750" fontAlgn="t">
              <a:buFont typeface="Arial" panose="020B0604020202020204" pitchFamily="34" charset="0"/>
              <a:buChar char="•"/>
            </a:pPr>
            <a:r>
              <a:rPr lang="en-US">
                <a:solidFill>
                  <a:srgbClr val="2C3E50"/>
                </a:solidFill>
              </a:rPr>
              <a:t>FR-002.3: Back End: Club Registration Submission</a:t>
            </a:r>
          </a:p>
          <a:p>
            <a:pPr marL="742950" lvl="1" indent="-285750" fontAlgn="t">
              <a:buFont typeface="Arial" panose="020B0604020202020204" pitchFamily="34" charset="0"/>
              <a:buChar char="•"/>
            </a:pPr>
            <a:r>
              <a:rPr lang="en-US">
                <a:solidFill>
                  <a:srgbClr val="2C3E50"/>
                </a:solidFill>
              </a:rPr>
              <a:t>FR-002.4: Front End: Club Registration Page</a:t>
            </a:r>
          </a:p>
          <a:p>
            <a:pPr marL="742950" lvl="1" indent="-285750">
              <a:buFont typeface="Arial" panose="020B0604020202020204" pitchFamily="34" charset="0"/>
              <a:buChar char="•"/>
            </a:pPr>
            <a:r>
              <a:rPr lang="en-US">
                <a:solidFill>
                  <a:srgbClr val="2C3E50"/>
                </a:solidFill>
              </a:rPr>
              <a:t>FR-002.5 Front End: Club Registration Submission</a:t>
            </a:r>
          </a:p>
          <a:p>
            <a:pPr marL="342900" lvl="0" indent="-342900" fontAlgn="t">
              <a:buFont typeface="Arial" panose="020B0604020202020204" pitchFamily="34" charset="0"/>
              <a:buChar char="•"/>
            </a:pPr>
            <a:r>
              <a:rPr lang="en-US" b="1">
                <a:solidFill>
                  <a:srgbClr val="2C3E50"/>
                </a:solidFill>
              </a:rPr>
              <a:t>FR-003: Club Search</a:t>
            </a:r>
            <a:endParaRPr lang="en-US">
              <a:solidFill>
                <a:srgbClr val="2C3E50"/>
              </a:solidFill>
            </a:endParaRPr>
          </a:p>
          <a:p>
            <a:pPr marL="742950" lvl="1" indent="-285750" fontAlgn="t">
              <a:buFont typeface="Arial" panose="020B0604020202020204" pitchFamily="34" charset="0"/>
              <a:buChar char="•"/>
            </a:pPr>
            <a:r>
              <a:rPr lang="en-US">
                <a:solidFill>
                  <a:srgbClr val="2C3E50"/>
                </a:solidFill>
              </a:rPr>
              <a:t>FR-003.1: Back End: Club Search Processing </a:t>
            </a:r>
          </a:p>
          <a:p>
            <a:pPr marL="742950" lvl="1" indent="-285750" fontAlgn="t">
              <a:buFont typeface="Arial" panose="020B0604020202020204" pitchFamily="34" charset="0"/>
              <a:buChar char="•"/>
            </a:pPr>
            <a:r>
              <a:rPr lang="en-US">
                <a:solidFill>
                  <a:srgbClr val="2C3E50"/>
                </a:solidFill>
              </a:rPr>
              <a:t>FR-003.2: Front End: Club Search Interface </a:t>
            </a:r>
          </a:p>
        </p:txBody>
      </p:sp>
    </p:spTree>
    <p:extLst>
      <p:ext uri="{BB962C8B-B14F-4D97-AF65-F5344CB8AC3E}">
        <p14:creationId xmlns:p14="http://schemas.microsoft.com/office/powerpoint/2010/main" val="3410671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6EBF3-4D97-8D18-F2B5-087BCE31DC0F}"/>
              </a:ext>
            </a:extLst>
          </p:cNvPr>
          <p:cNvSpPr>
            <a:spLocks noGrp="1"/>
          </p:cNvSpPr>
          <p:nvPr>
            <p:ph type="title"/>
          </p:nvPr>
        </p:nvSpPr>
        <p:spPr/>
        <p:txBody>
          <a:bodyPr>
            <a:normAutofit fontScale="90000"/>
          </a:bodyPr>
          <a:lstStyle/>
          <a:p>
            <a:r>
              <a:rPr lang="en-US">
                <a:solidFill>
                  <a:srgbClr val="2C3E50"/>
                </a:solidFill>
              </a:rPr>
              <a:t>FR-001.1: Back end: User Profile form</a:t>
            </a:r>
            <a:endParaRPr lang="en-US"/>
          </a:p>
        </p:txBody>
      </p:sp>
      <p:sp>
        <p:nvSpPr>
          <p:cNvPr id="3" name="Content Placeholder 2">
            <a:extLst>
              <a:ext uri="{FF2B5EF4-FFF2-40B4-BE49-F238E27FC236}">
                <a16:creationId xmlns:a16="http://schemas.microsoft.com/office/drawing/2014/main" id="{377A5A8B-54B0-AB82-0D9B-E89D195181BD}"/>
              </a:ext>
            </a:extLst>
          </p:cNvPr>
          <p:cNvSpPr>
            <a:spLocks noGrp="1"/>
          </p:cNvSpPr>
          <p:nvPr>
            <p:ph idx="1"/>
          </p:nvPr>
        </p:nvSpPr>
        <p:spPr>
          <a:xfrm>
            <a:off x="731520" y="1710870"/>
            <a:ext cx="5363270" cy="4872809"/>
          </a:xfrm>
        </p:spPr>
        <p:txBody>
          <a:bodyPr vert="horz" lIns="91440" tIns="45720" rIns="91440" bIns="45720" rtlCol="0" anchor="t">
            <a:normAutofit fontScale="92500" lnSpcReduction="10000"/>
          </a:bodyPr>
          <a:lstStyle/>
          <a:p>
            <a:r>
              <a:rPr lang="en-US"/>
              <a:t>Functionality: User profile form successfully relays data from the front end to the back end.</a:t>
            </a:r>
          </a:p>
          <a:p>
            <a:r>
              <a:rPr lang="en-US"/>
              <a:t>User Stories: As a student, I need a form that can be filled out, so that I can submit a registration request, and have my </a:t>
            </a:r>
            <a:r>
              <a:rPr lang="en-US" err="1"/>
              <a:t>ClubHub</a:t>
            </a:r>
            <a:r>
              <a:rPr lang="en-US"/>
              <a:t> profile created.</a:t>
            </a:r>
          </a:p>
          <a:p>
            <a:r>
              <a:rPr lang="en-US"/>
              <a:t>Acceptance Criteria: </a:t>
            </a:r>
            <a:br>
              <a:rPr lang="en-US"/>
            </a:br>
            <a:r>
              <a:rPr lang="en-US">
                <a:ea typeface="+mn-lt"/>
                <a:cs typeface="+mn-lt"/>
              </a:rPr>
              <a:t>Feature: Back End: User Profile Form</a:t>
            </a:r>
            <a:endParaRPr lang="en-US"/>
          </a:p>
          <a:p>
            <a:r>
              <a:rPr lang="en-US">
                <a:ea typeface="+mn-lt"/>
                <a:cs typeface="+mn-lt"/>
              </a:rPr>
              <a:t>Scenario: Successfully open the student profile form</a:t>
            </a:r>
            <a:endParaRPr lang="en-US"/>
          </a:p>
          <a:p>
            <a:r>
              <a:rPr lang="en-US">
                <a:ea typeface="+mn-lt"/>
                <a:cs typeface="+mn-lt"/>
              </a:rPr>
              <a:t>Given that the student is logged in</a:t>
            </a:r>
            <a:endParaRPr lang="en-US"/>
          </a:p>
          <a:p>
            <a:r>
              <a:rPr lang="en-US">
                <a:ea typeface="+mn-lt"/>
                <a:cs typeface="+mn-lt"/>
              </a:rPr>
              <a:t>And the student has entered valid information for their profile</a:t>
            </a:r>
            <a:endParaRPr lang="en-US"/>
          </a:p>
          <a:p>
            <a:r>
              <a:rPr lang="en-US">
                <a:ea typeface="+mn-lt"/>
                <a:cs typeface="+mn-lt"/>
              </a:rPr>
              <a:t>When the student clicks "Create a student profile"</a:t>
            </a:r>
            <a:endParaRPr lang="en-US"/>
          </a:p>
          <a:p>
            <a:r>
              <a:rPr lang="en-US">
                <a:ea typeface="+mn-lt"/>
                <a:cs typeface="+mn-lt"/>
              </a:rPr>
              <a:t>Then they are redirected to a form with fields that can filled out to then submit, and create their student profile.</a:t>
            </a:r>
          </a:p>
          <a:p>
            <a:endParaRPr lang="en-US"/>
          </a:p>
        </p:txBody>
      </p:sp>
      <p:sp>
        <p:nvSpPr>
          <p:cNvPr id="5" name="Content Placeholder 2">
            <a:extLst>
              <a:ext uri="{FF2B5EF4-FFF2-40B4-BE49-F238E27FC236}">
                <a16:creationId xmlns:a16="http://schemas.microsoft.com/office/drawing/2014/main" id="{678F96F2-9179-FBA4-7812-9291748498A3}"/>
              </a:ext>
            </a:extLst>
          </p:cNvPr>
          <p:cNvSpPr txBox="1">
            <a:spLocks/>
          </p:cNvSpPr>
          <p:nvPr/>
        </p:nvSpPr>
        <p:spPr>
          <a:xfrm>
            <a:off x="6092660" y="1706695"/>
            <a:ext cx="5363270" cy="4872809"/>
          </a:xfrm>
          <a:prstGeom prst="rect">
            <a:avLst/>
          </a:prstGeom>
        </p:spPr>
        <p:txBody>
          <a:bodyPr vert="horz" lIns="91440" tIns="45720" rIns="91440" bIns="45720" rtlCol="0" anchor="t">
            <a:norm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Acceptance Criteria: </a:t>
            </a:r>
            <a:br>
              <a:rPr lang="en-US"/>
            </a:br>
            <a:r>
              <a:rPr lang="en-US">
                <a:ea typeface="+mn-lt"/>
                <a:cs typeface="+mn-lt"/>
              </a:rPr>
              <a:t>Feature: Back End: User Profile Form</a:t>
            </a:r>
            <a:endParaRPr lang="en-US"/>
          </a:p>
          <a:p>
            <a:r>
              <a:rPr lang="en-US">
                <a:ea typeface="+mn-lt"/>
                <a:cs typeface="+mn-lt"/>
              </a:rPr>
              <a:t>Scenario: Unsuccessfully open the student profile form</a:t>
            </a:r>
            <a:endParaRPr lang="en-US"/>
          </a:p>
          <a:p>
            <a:r>
              <a:rPr lang="en-US">
                <a:ea typeface="+mn-lt"/>
                <a:cs typeface="+mn-lt"/>
              </a:rPr>
              <a:t>Given that the student is not logged in</a:t>
            </a:r>
            <a:endParaRPr lang="en-US"/>
          </a:p>
          <a:p>
            <a:r>
              <a:rPr lang="en-US">
                <a:ea typeface="+mn-lt"/>
                <a:cs typeface="+mn-lt"/>
              </a:rPr>
              <a:t>And the student has entered invalid information for their profile</a:t>
            </a:r>
            <a:endParaRPr lang="en-US"/>
          </a:p>
          <a:p>
            <a:r>
              <a:rPr lang="en-US">
                <a:ea typeface="+mn-lt"/>
                <a:cs typeface="+mn-lt"/>
              </a:rPr>
              <a:t>When the student clicks "Create a student profile"</a:t>
            </a:r>
            <a:endParaRPr lang="en-US"/>
          </a:p>
          <a:p>
            <a:r>
              <a:rPr lang="en-US">
                <a:ea typeface="+mn-lt"/>
                <a:cs typeface="+mn-lt"/>
              </a:rPr>
              <a:t>Then they are redirected page that states they have not created a student profile, and provides links to create a student profile and return to home.</a:t>
            </a:r>
            <a:endParaRPr lang="en-US"/>
          </a:p>
        </p:txBody>
      </p:sp>
    </p:spTree>
    <p:extLst>
      <p:ext uri="{BB962C8B-B14F-4D97-AF65-F5344CB8AC3E}">
        <p14:creationId xmlns:p14="http://schemas.microsoft.com/office/powerpoint/2010/main" val="2475278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61E73-2145-B682-CC82-D9B32678A0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6E61C5-8EF3-8ABB-4632-2B0EF1EB93F4}"/>
              </a:ext>
            </a:extLst>
          </p:cNvPr>
          <p:cNvSpPr>
            <a:spLocks noGrp="1"/>
          </p:cNvSpPr>
          <p:nvPr>
            <p:ph type="title"/>
          </p:nvPr>
        </p:nvSpPr>
        <p:spPr/>
        <p:txBody>
          <a:bodyPr>
            <a:normAutofit fontScale="90000"/>
          </a:bodyPr>
          <a:lstStyle/>
          <a:p>
            <a:r>
              <a:rPr lang="en-US">
                <a:solidFill>
                  <a:srgbClr val="2C3E50"/>
                </a:solidFill>
              </a:rPr>
              <a:t>FR-001.2: Front end: user profile page</a:t>
            </a:r>
            <a:endParaRPr lang="en-US"/>
          </a:p>
        </p:txBody>
      </p:sp>
      <p:sp>
        <p:nvSpPr>
          <p:cNvPr id="3" name="Content Placeholder 2">
            <a:extLst>
              <a:ext uri="{FF2B5EF4-FFF2-40B4-BE49-F238E27FC236}">
                <a16:creationId xmlns:a16="http://schemas.microsoft.com/office/drawing/2014/main" id="{65B3C7A0-2B7E-1555-0127-57F606AD20F5}"/>
              </a:ext>
            </a:extLst>
          </p:cNvPr>
          <p:cNvSpPr>
            <a:spLocks noGrp="1"/>
          </p:cNvSpPr>
          <p:nvPr>
            <p:ph idx="1"/>
          </p:nvPr>
        </p:nvSpPr>
        <p:spPr>
          <a:xfrm>
            <a:off x="731520" y="1710870"/>
            <a:ext cx="5363270" cy="4872809"/>
          </a:xfrm>
        </p:spPr>
        <p:txBody>
          <a:bodyPr vert="horz" lIns="91440" tIns="45720" rIns="91440" bIns="45720" rtlCol="0" anchor="t">
            <a:normAutofit fontScale="85000" lnSpcReduction="20000"/>
          </a:bodyPr>
          <a:lstStyle/>
          <a:p>
            <a:r>
              <a:rPr lang="en-US"/>
              <a:t>Functionality: User profile page is accessible from the home page (index.html) and after student profile form has been filled out and submitted the user will get redirected to their user profile page. The user/student profile page lists their inputted information and provides a link back to the home page.</a:t>
            </a:r>
          </a:p>
          <a:p>
            <a:r>
              <a:rPr lang="en-US"/>
              <a:t>User Stories: As a student, I need a page that displays my user profile information, so that I can see my user profile information.</a:t>
            </a:r>
          </a:p>
          <a:p>
            <a:r>
              <a:rPr lang="en-US"/>
              <a:t>Acceptance Criteria: </a:t>
            </a:r>
            <a:br>
              <a:rPr lang="en-US"/>
            </a:br>
            <a:r>
              <a:rPr lang="en-US">
                <a:ea typeface="+mn-lt"/>
                <a:cs typeface="+mn-lt"/>
              </a:rPr>
              <a:t>Feature: User Profile Page (Front End)</a:t>
            </a:r>
          </a:p>
          <a:p>
            <a:r>
              <a:rPr lang="en-US">
                <a:ea typeface="+mn-lt"/>
                <a:cs typeface="+mn-lt"/>
              </a:rPr>
              <a:t>Scenario: User successfully loads their student profile page, after submitting student profile form</a:t>
            </a:r>
          </a:p>
          <a:p>
            <a:r>
              <a:rPr lang="en-US">
                <a:ea typeface="+mn-lt"/>
                <a:cs typeface="+mn-lt"/>
              </a:rPr>
              <a:t>Given that the student is logged in with valid credentials</a:t>
            </a:r>
            <a:endParaRPr lang="en-US"/>
          </a:p>
          <a:p>
            <a:r>
              <a:rPr lang="en-US">
                <a:ea typeface="+mn-lt"/>
                <a:cs typeface="+mn-lt"/>
              </a:rPr>
              <a:t>And the student has filled out the student profile form</a:t>
            </a:r>
            <a:endParaRPr lang="en-US"/>
          </a:p>
          <a:p>
            <a:r>
              <a:rPr lang="en-US">
                <a:ea typeface="+mn-lt"/>
                <a:cs typeface="+mn-lt"/>
              </a:rPr>
              <a:t>When the student submits the student profile form</a:t>
            </a:r>
            <a:endParaRPr lang="en-US"/>
          </a:p>
          <a:p>
            <a:r>
              <a:rPr lang="en-US">
                <a:ea typeface="+mn-lt"/>
                <a:cs typeface="+mn-lt"/>
              </a:rPr>
              <a:t>Then they are redirected to their student profile page.</a:t>
            </a:r>
            <a:endParaRPr lang="en-US"/>
          </a:p>
          <a:p>
            <a:r>
              <a:rPr lang="en-US">
                <a:ea typeface="+mn-lt"/>
                <a:cs typeface="+mn-lt"/>
              </a:rPr>
              <a:t>And the user is given a link back to the home page, on their profile page.</a:t>
            </a:r>
          </a:p>
          <a:p>
            <a:endParaRPr lang="en-US"/>
          </a:p>
        </p:txBody>
      </p:sp>
      <p:sp>
        <p:nvSpPr>
          <p:cNvPr id="5" name="Content Placeholder 2">
            <a:extLst>
              <a:ext uri="{FF2B5EF4-FFF2-40B4-BE49-F238E27FC236}">
                <a16:creationId xmlns:a16="http://schemas.microsoft.com/office/drawing/2014/main" id="{BB31274F-5FEC-8401-4176-C9898BBF8AE7}"/>
              </a:ext>
            </a:extLst>
          </p:cNvPr>
          <p:cNvSpPr txBox="1">
            <a:spLocks/>
          </p:cNvSpPr>
          <p:nvPr/>
        </p:nvSpPr>
        <p:spPr>
          <a:xfrm>
            <a:off x="6092660" y="1706695"/>
            <a:ext cx="5363270" cy="4872809"/>
          </a:xfrm>
          <a:prstGeom prst="rect">
            <a:avLst/>
          </a:prstGeom>
        </p:spPr>
        <p:txBody>
          <a:bodyPr vert="horz" lIns="91440" tIns="45720" rIns="91440" bIns="45720" rtlCol="0" anchor="t">
            <a:norm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Acceptance Criteria: </a:t>
            </a:r>
            <a:br>
              <a:rPr lang="en-US"/>
            </a:br>
            <a:r>
              <a:rPr lang="en-US">
                <a:ea typeface="+mn-lt"/>
                <a:cs typeface="+mn-lt"/>
              </a:rPr>
              <a:t>Feature: User Profile Page (Front End)</a:t>
            </a:r>
          </a:p>
          <a:p>
            <a:r>
              <a:rPr lang="en-US">
                <a:ea typeface="+mn-lt"/>
                <a:cs typeface="+mn-lt"/>
              </a:rPr>
              <a:t>Scenario: User unsuccessfully loads their student profile page</a:t>
            </a:r>
          </a:p>
          <a:p>
            <a:r>
              <a:rPr lang="en-US">
                <a:ea typeface="+mn-lt"/>
                <a:cs typeface="+mn-lt"/>
              </a:rPr>
              <a:t>Given that the student is not logged in with valid credentials</a:t>
            </a:r>
          </a:p>
          <a:p>
            <a:r>
              <a:rPr lang="en-US">
                <a:ea typeface="+mn-lt"/>
                <a:cs typeface="+mn-lt"/>
              </a:rPr>
              <a:t>And the student has not filled out the student profile form</a:t>
            </a:r>
          </a:p>
          <a:p>
            <a:r>
              <a:rPr lang="en-US">
                <a:ea typeface="+mn-lt"/>
                <a:cs typeface="+mn-lt"/>
              </a:rPr>
              <a:t>When the student clicks my student profile</a:t>
            </a:r>
          </a:p>
          <a:p>
            <a:r>
              <a:rPr lang="en-US">
                <a:ea typeface="+mn-lt"/>
                <a:cs typeface="+mn-lt"/>
              </a:rPr>
              <a:t>Then they are redirected to a page that states they have not created a user/student profile</a:t>
            </a:r>
          </a:p>
          <a:p>
            <a:r>
              <a:rPr lang="en-US">
                <a:ea typeface="+mn-lt"/>
                <a:cs typeface="+mn-lt"/>
              </a:rPr>
              <a:t>And the user is given a link back to the home page and to the student profile form page.</a:t>
            </a:r>
          </a:p>
        </p:txBody>
      </p:sp>
    </p:spTree>
    <p:extLst>
      <p:ext uri="{BB962C8B-B14F-4D97-AF65-F5344CB8AC3E}">
        <p14:creationId xmlns:p14="http://schemas.microsoft.com/office/powerpoint/2010/main" val="8629863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97A60-EEE5-2335-E7BC-87ABC8584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9145BF-7027-2845-1E76-CD09F9280E13}"/>
              </a:ext>
            </a:extLst>
          </p:cNvPr>
          <p:cNvSpPr>
            <a:spLocks noGrp="1"/>
          </p:cNvSpPr>
          <p:nvPr>
            <p:ph type="title"/>
          </p:nvPr>
        </p:nvSpPr>
        <p:spPr/>
        <p:txBody>
          <a:bodyPr>
            <a:normAutofit fontScale="90000"/>
          </a:bodyPr>
          <a:lstStyle/>
          <a:p>
            <a:r>
              <a:rPr lang="en-US">
                <a:solidFill>
                  <a:srgbClr val="2C3E50"/>
                </a:solidFill>
              </a:rPr>
              <a:t>FR-001.3: back end: User profile submission and storage</a:t>
            </a:r>
            <a:endParaRPr lang="en-US"/>
          </a:p>
        </p:txBody>
      </p:sp>
      <p:sp>
        <p:nvSpPr>
          <p:cNvPr id="3" name="Content Placeholder 2">
            <a:extLst>
              <a:ext uri="{FF2B5EF4-FFF2-40B4-BE49-F238E27FC236}">
                <a16:creationId xmlns:a16="http://schemas.microsoft.com/office/drawing/2014/main" id="{C3CE5E85-940B-B81D-1DFB-285D7EA26CB3}"/>
              </a:ext>
            </a:extLst>
          </p:cNvPr>
          <p:cNvSpPr>
            <a:spLocks noGrp="1"/>
          </p:cNvSpPr>
          <p:nvPr>
            <p:ph idx="1"/>
          </p:nvPr>
        </p:nvSpPr>
        <p:spPr>
          <a:xfrm>
            <a:off x="731520" y="1710870"/>
            <a:ext cx="5363270" cy="4872809"/>
          </a:xfrm>
        </p:spPr>
        <p:txBody>
          <a:bodyPr vert="horz" lIns="91440" tIns="45720" rIns="91440" bIns="45720" rtlCol="0" anchor="t">
            <a:normAutofit fontScale="92500" lnSpcReduction="20000"/>
          </a:bodyPr>
          <a:lstStyle/>
          <a:p>
            <a:r>
              <a:rPr lang="en-US"/>
              <a:t>Functionality: After the user fills out the user profile form and submits it, the form and data will be stored.</a:t>
            </a:r>
          </a:p>
          <a:p>
            <a:r>
              <a:rPr lang="en-US"/>
              <a:t>User Stories: As a student, I need a form that can be filled out, so that I can submit the form and have my student profile created.</a:t>
            </a:r>
          </a:p>
          <a:p>
            <a:r>
              <a:rPr lang="en-US"/>
              <a:t>Acceptance Criteria: </a:t>
            </a:r>
            <a:br>
              <a:rPr lang="en-US"/>
            </a:br>
            <a:r>
              <a:rPr lang="en-US">
                <a:ea typeface="+mn-lt"/>
                <a:cs typeface="+mn-lt"/>
              </a:rPr>
              <a:t>Feature: User Profile Submission and Storage (Back End)</a:t>
            </a:r>
          </a:p>
          <a:p>
            <a:r>
              <a:rPr lang="en-US">
                <a:ea typeface="+mn-lt"/>
                <a:cs typeface="+mn-lt"/>
              </a:rPr>
              <a:t>Scenario: Successfully create a profile</a:t>
            </a:r>
          </a:p>
          <a:p>
            <a:r>
              <a:rPr lang="en-US">
                <a:ea typeface="+mn-lt"/>
                <a:cs typeface="+mn-lt"/>
              </a:rPr>
              <a:t>Given the student is logged in</a:t>
            </a:r>
          </a:p>
          <a:p>
            <a:r>
              <a:rPr lang="en-US">
                <a:ea typeface="+mn-lt"/>
                <a:cs typeface="+mn-lt"/>
              </a:rPr>
              <a:t>And the student has entered valid information for their profile</a:t>
            </a:r>
          </a:p>
          <a:p>
            <a:r>
              <a:rPr lang="en-US">
                <a:ea typeface="+mn-lt"/>
                <a:cs typeface="+mn-lt"/>
              </a:rPr>
              <a:t>When the student selects "Create Profile"</a:t>
            </a:r>
            <a:endParaRPr lang="en-US"/>
          </a:p>
          <a:p>
            <a:r>
              <a:rPr lang="en-US">
                <a:ea typeface="+mn-lt"/>
                <a:cs typeface="+mn-lt"/>
              </a:rPr>
              <a:t>Then </a:t>
            </a:r>
            <a:r>
              <a:rPr lang="en-US" err="1">
                <a:ea typeface="+mn-lt"/>
                <a:cs typeface="+mn-lt"/>
              </a:rPr>
              <a:t>ClubHub</a:t>
            </a:r>
            <a:r>
              <a:rPr lang="en-US">
                <a:ea typeface="+mn-lt"/>
                <a:cs typeface="+mn-lt"/>
              </a:rPr>
              <a:t> creates the student's profile</a:t>
            </a:r>
          </a:p>
          <a:p>
            <a:r>
              <a:rPr lang="en-US">
                <a:ea typeface="+mn-lt"/>
                <a:cs typeface="+mn-lt"/>
              </a:rPr>
              <a:t>And the student is redirected to a page displaying their profile information</a:t>
            </a:r>
            <a:endParaRPr lang="en-US"/>
          </a:p>
          <a:p>
            <a:endParaRPr lang="en-US"/>
          </a:p>
        </p:txBody>
      </p:sp>
      <p:sp>
        <p:nvSpPr>
          <p:cNvPr id="5" name="Content Placeholder 2">
            <a:extLst>
              <a:ext uri="{FF2B5EF4-FFF2-40B4-BE49-F238E27FC236}">
                <a16:creationId xmlns:a16="http://schemas.microsoft.com/office/drawing/2014/main" id="{935F6EF5-7264-4178-A200-CEE2ABC2C319}"/>
              </a:ext>
            </a:extLst>
          </p:cNvPr>
          <p:cNvSpPr txBox="1">
            <a:spLocks/>
          </p:cNvSpPr>
          <p:nvPr/>
        </p:nvSpPr>
        <p:spPr>
          <a:xfrm>
            <a:off x="6092660" y="1706695"/>
            <a:ext cx="5363270" cy="4872809"/>
          </a:xfrm>
          <a:prstGeom prst="rect">
            <a:avLst/>
          </a:prstGeom>
        </p:spPr>
        <p:txBody>
          <a:bodyPr vert="horz" lIns="91440" tIns="45720" rIns="91440" bIns="45720" rtlCol="0" anchor="t">
            <a:normAutofit fontScale="92500"/>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Acceptance Criteria: </a:t>
            </a:r>
            <a:br>
              <a:rPr lang="en-US"/>
            </a:br>
            <a:r>
              <a:rPr lang="en-US" sz="2400">
                <a:ea typeface="+mn-lt"/>
                <a:cs typeface="+mn-lt"/>
              </a:rPr>
              <a:t>Feature: User Profile Submission and Storage (Back End)</a:t>
            </a:r>
          </a:p>
          <a:p>
            <a:r>
              <a:rPr lang="en-US">
                <a:ea typeface="+mn-lt"/>
                <a:cs typeface="+mn-lt"/>
              </a:rPr>
              <a:t>Scenario: Create profile with a student ID that already has a profile</a:t>
            </a:r>
          </a:p>
          <a:p>
            <a:r>
              <a:rPr lang="en-US">
                <a:ea typeface="+mn-lt"/>
                <a:cs typeface="+mn-lt"/>
              </a:rPr>
              <a:t>Given the student is logged in</a:t>
            </a:r>
          </a:p>
          <a:p>
            <a:r>
              <a:rPr lang="en-US">
                <a:ea typeface="+mn-lt"/>
                <a:cs typeface="+mn-lt"/>
              </a:rPr>
              <a:t>And the student has entered a student ID that is already associated with an existing profile</a:t>
            </a:r>
          </a:p>
          <a:p>
            <a:r>
              <a:rPr lang="en-US">
                <a:ea typeface="+mn-lt"/>
                <a:cs typeface="+mn-lt"/>
              </a:rPr>
              <a:t>When the student selects "Create Profile"</a:t>
            </a:r>
            <a:endParaRPr lang="en-US"/>
          </a:p>
          <a:p>
            <a:r>
              <a:rPr lang="en-US">
                <a:ea typeface="+mn-lt"/>
                <a:cs typeface="+mn-lt"/>
              </a:rPr>
              <a:t>Then </a:t>
            </a:r>
            <a:r>
              <a:rPr lang="en-US" err="1">
                <a:ea typeface="+mn-lt"/>
                <a:cs typeface="+mn-lt"/>
              </a:rPr>
              <a:t>ClubHub</a:t>
            </a:r>
            <a:r>
              <a:rPr lang="en-US">
                <a:ea typeface="+mn-lt"/>
                <a:cs typeface="+mn-lt"/>
              </a:rPr>
              <a:t> does not create a new profile</a:t>
            </a:r>
          </a:p>
          <a:p>
            <a:r>
              <a:rPr lang="en-US">
                <a:ea typeface="+mn-lt"/>
                <a:cs typeface="+mn-lt"/>
              </a:rPr>
              <a:t>And the student receives the message "A profile already exists for this student ID"</a:t>
            </a:r>
            <a:endParaRPr lang="en-US"/>
          </a:p>
          <a:p>
            <a:r>
              <a:rPr lang="en-US">
                <a:ea typeface="+mn-lt"/>
                <a:cs typeface="+mn-lt"/>
              </a:rPr>
              <a:t>And the information entered remains displayed in the form</a:t>
            </a:r>
          </a:p>
        </p:txBody>
      </p:sp>
    </p:spTree>
    <p:extLst>
      <p:ext uri="{BB962C8B-B14F-4D97-AF65-F5344CB8AC3E}">
        <p14:creationId xmlns:p14="http://schemas.microsoft.com/office/powerpoint/2010/main" val="23335684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A5378-7422-B212-3C0D-D1CEA5824D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16333D-3EC9-6A35-1917-FACFD2047B1C}"/>
              </a:ext>
            </a:extLst>
          </p:cNvPr>
          <p:cNvSpPr>
            <a:spLocks noGrp="1"/>
          </p:cNvSpPr>
          <p:nvPr>
            <p:ph type="title"/>
          </p:nvPr>
        </p:nvSpPr>
        <p:spPr/>
        <p:txBody>
          <a:bodyPr>
            <a:normAutofit fontScale="90000"/>
          </a:bodyPr>
          <a:lstStyle/>
          <a:p>
            <a:r>
              <a:rPr lang="en-US">
                <a:solidFill>
                  <a:srgbClr val="2C3E50"/>
                </a:solidFill>
              </a:rPr>
              <a:t>FR-001.4: front end: user profile form &amp; submission</a:t>
            </a:r>
            <a:endParaRPr lang="en-US"/>
          </a:p>
        </p:txBody>
      </p:sp>
      <p:sp>
        <p:nvSpPr>
          <p:cNvPr id="3" name="Content Placeholder 2">
            <a:extLst>
              <a:ext uri="{FF2B5EF4-FFF2-40B4-BE49-F238E27FC236}">
                <a16:creationId xmlns:a16="http://schemas.microsoft.com/office/drawing/2014/main" id="{C2C5E76E-6372-52F6-4B0E-F5032DC114A6}"/>
              </a:ext>
            </a:extLst>
          </p:cNvPr>
          <p:cNvSpPr>
            <a:spLocks noGrp="1"/>
          </p:cNvSpPr>
          <p:nvPr>
            <p:ph idx="1"/>
          </p:nvPr>
        </p:nvSpPr>
        <p:spPr>
          <a:xfrm>
            <a:off x="731520" y="1710870"/>
            <a:ext cx="5363270" cy="4872809"/>
          </a:xfrm>
        </p:spPr>
        <p:txBody>
          <a:bodyPr vert="horz" lIns="91440" tIns="45720" rIns="91440" bIns="45720" rtlCol="0" anchor="t">
            <a:normAutofit fontScale="92500" lnSpcReduction="20000"/>
          </a:bodyPr>
          <a:lstStyle/>
          <a:p>
            <a:r>
              <a:rPr lang="en-US"/>
              <a:t>Functionality: Provide the user profile form that can be submitted.</a:t>
            </a:r>
          </a:p>
          <a:p>
            <a:r>
              <a:rPr lang="en-US"/>
              <a:t>User Stories: As a student, I need a form that can be filled out, so that I can submit the form and have my student profile created.</a:t>
            </a:r>
          </a:p>
          <a:p>
            <a:r>
              <a:rPr lang="en-US"/>
              <a:t>Acceptance Criteria: </a:t>
            </a:r>
            <a:br>
              <a:rPr lang="en-US"/>
            </a:br>
            <a:r>
              <a:rPr lang="en-US">
                <a:ea typeface="+mn-lt"/>
                <a:cs typeface="+mn-lt"/>
              </a:rPr>
              <a:t>Feature: User Profile Form &amp; Submission (Front End)</a:t>
            </a:r>
          </a:p>
          <a:p>
            <a:r>
              <a:rPr lang="en-US">
                <a:ea typeface="+mn-lt"/>
                <a:cs typeface="+mn-lt"/>
              </a:rPr>
              <a:t>Scenario: Successfully create a profile</a:t>
            </a:r>
          </a:p>
          <a:p>
            <a:r>
              <a:rPr lang="en-US">
                <a:ea typeface="+mn-lt"/>
                <a:cs typeface="+mn-lt"/>
              </a:rPr>
              <a:t>Given the student is logged in</a:t>
            </a:r>
          </a:p>
          <a:p>
            <a:r>
              <a:rPr lang="en-US">
                <a:ea typeface="+mn-lt"/>
                <a:cs typeface="+mn-lt"/>
              </a:rPr>
              <a:t>And the student has entered valid information for their profile</a:t>
            </a:r>
          </a:p>
          <a:p>
            <a:r>
              <a:rPr lang="en-US">
                <a:ea typeface="+mn-lt"/>
                <a:cs typeface="+mn-lt"/>
              </a:rPr>
              <a:t>When the student selects "Create Profile"</a:t>
            </a:r>
          </a:p>
          <a:p>
            <a:r>
              <a:rPr lang="en-US">
                <a:ea typeface="+mn-lt"/>
                <a:cs typeface="+mn-lt"/>
              </a:rPr>
              <a:t>Then ClubHub creates the student's profile</a:t>
            </a:r>
          </a:p>
          <a:p>
            <a:r>
              <a:rPr lang="en-US">
                <a:ea typeface="+mn-lt"/>
                <a:cs typeface="+mn-lt"/>
              </a:rPr>
              <a:t>And the student is redirected to a page displaying their profile information</a:t>
            </a:r>
          </a:p>
          <a:p>
            <a:endParaRPr lang="en-US"/>
          </a:p>
        </p:txBody>
      </p:sp>
      <p:sp>
        <p:nvSpPr>
          <p:cNvPr id="5" name="Content Placeholder 2">
            <a:extLst>
              <a:ext uri="{FF2B5EF4-FFF2-40B4-BE49-F238E27FC236}">
                <a16:creationId xmlns:a16="http://schemas.microsoft.com/office/drawing/2014/main" id="{1F21B068-F3E1-3F9D-C14D-913BF6E1B70A}"/>
              </a:ext>
            </a:extLst>
          </p:cNvPr>
          <p:cNvSpPr txBox="1">
            <a:spLocks/>
          </p:cNvSpPr>
          <p:nvPr/>
        </p:nvSpPr>
        <p:spPr>
          <a:xfrm>
            <a:off x="6092660" y="1706695"/>
            <a:ext cx="5363270" cy="4872809"/>
          </a:xfrm>
          <a:prstGeom prst="rect">
            <a:avLst/>
          </a:prstGeom>
        </p:spPr>
        <p:txBody>
          <a:bodyPr vert="horz" lIns="91440" tIns="45720" rIns="91440" bIns="45720" rtlCol="0" anchor="t">
            <a:normAutofit lnSpcReduction="10000"/>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Acceptance Criteria: </a:t>
            </a:r>
            <a:br>
              <a:rPr lang="en-US"/>
            </a:br>
            <a:r>
              <a:rPr lang="en-US" sz="2400">
                <a:ea typeface="+mn-lt"/>
                <a:cs typeface="+mn-lt"/>
              </a:rPr>
              <a:t>Feature: </a:t>
            </a:r>
            <a:r>
              <a:rPr lang="en-US">
                <a:ea typeface="+mn-lt"/>
                <a:cs typeface="+mn-lt"/>
              </a:rPr>
              <a:t>User Profile Form &amp; Submission (Front End)</a:t>
            </a:r>
          </a:p>
          <a:p>
            <a:r>
              <a:rPr lang="en-US">
                <a:ea typeface="+mn-lt"/>
                <a:cs typeface="+mn-lt"/>
              </a:rPr>
              <a:t>Scenario: Create profile with a student ID that already has a profile</a:t>
            </a:r>
          </a:p>
          <a:p>
            <a:r>
              <a:rPr lang="en-US">
                <a:ea typeface="+mn-lt"/>
                <a:cs typeface="+mn-lt"/>
              </a:rPr>
              <a:t>Given the student is logged in</a:t>
            </a:r>
          </a:p>
          <a:p>
            <a:r>
              <a:rPr lang="en-US">
                <a:ea typeface="+mn-lt"/>
                <a:cs typeface="+mn-lt"/>
              </a:rPr>
              <a:t>And the student has entered a student ID that is already associated with an existing profile</a:t>
            </a:r>
          </a:p>
          <a:p>
            <a:r>
              <a:rPr lang="en-US">
                <a:ea typeface="+mn-lt"/>
                <a:cs typeface="+mn-lt"/>
              </a:rPr>
              <a:t>When the student selects "Create Profile"</a:t>
            </a:r>
          </a:p>
          <a:p>
            <a:r>
              <a:rPr lang="en-US">
                <a:ea typeface="+mn-lt"/>
                <a:cs typeface="+mn-lt"/>
              </a:rPr>
              <a:t>Then </a:t>
            </a:r>
            <a:r>
              <a:rPr lang="en-US" err="1">
                <a:ea typeface="+mn-lt"/>
                <a:cs typeface="+mn-lt"/>
              </a:rPr>
              <a:t>ClubHub</a:t>
            </a:r>
            <a:r>
              <a:rPr lang="en-US">
                <a:ea typeface="+mn-lt"/>
                <a:cs typeface="+mn-lt"/>
              </a:rPr>
              <a:t> does not create a new profile</a:t>
            </a:r>
          </a:p>
          <a:p>
            <a:r>
              <a:rPr lang="en-US">
                <a:ea typeface="+mn-lt"/>
                <a:cs typeface="+mn-lt"/>
              </a:rPr>
              <a:t>And the student receives the message "A profile already exists for this student ID"</a:t>
            </a:r>
          </a:p>
          <a:p>
            <a:r>
              <a:rPr lang="en-US">
                <a:ea typeface="+mn-lt"/>
                <a:cs typeface="+mn-lt"/>
              </a:rPr>
              <a:t>And the information entered remains displayed in the form</a:t>
            </a:r>
          </a:p>
        </p:txBody>
      </p:sp>
    </p:spTree>
    <p:extLst>
      <p:ext uri="{BB962C8B-B14F-4D97-AF65-F5344CB8AC3E}">
        <p14:creationId xmlns:p14="http://schemas.microsoft.com/office/powerpoint/2010/main" val="27756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152B2-E0A5-894C-BDD5-435EBCEB2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6E907-815A-8F3D-E4C1-9C87E070A772}"/>
              </a:ext>
            </a:extLst>
          </p:cNvPr>
          <p:cNvSpPr>
            <a:spLocks noGrp="1"/>
          </p:cNvSpPr>
          <p:nvPr>
            <p:ph type="title"/>
          </p:nvPr>
        </p:nvSpPr>
        <p:spPr/>
        <p:txBody>
          <a:bodyPr>
            <a:normAutofit fontScale="90000"/>
          </a:bodyPr>
          <a:lstStyle/>
          <a:p>
            <a:r>
              <a:rPr lang="en-US">
                <a:solidFill>
                  <a:srgbClr val="2C3E50"/>
                </a:solidFill>
              </a:rPr>
              <a:t>FR-002.1: Back end: club registration form</a:t>
            </a:r>
            <a:endParaRPr lang="en-US"/>
          </a:p>
        </p:txBody>
      </p:sp>
      <p:sp>
        <p:nvSpPr>
          <p:cNvPr id="3" name="Content Placeholder 2">
            <a:extLst>
              <a:ext uri="{FF2B5EF4-FFF2-40B4-BE49-F238E27FC236}">
                <a16:creationId xmlns:a16="http://schemas.microsoft.com/office/drawing/2014/main" id="{81D98C40-BF8B-FE18-C1B6-573D584F3605}"/>
              </a:ext>
            </a:extLst>
          </p:cNvPr>
          <p:cNvSpPr>
            <a:spLocks noGrp="1"/>
          </p:cNvSpPr>
          <p:nvPr>
            <p:ph idx="1"/>
          </p:nvPr>
        </p:nvSpPr>
        <p:spPr>
          <a:xfrm>
            <a:off x="731520" y="1710870"/>
            <a:ext cx="5363270" cy="4872809"/>
          </a:xfrm>
        </p:spPr>
        <p:txBody>
          <a:bodyPr vert="horz" lIns="91440" tIns="45720" rIns="91440" bIns="45720" rtlCol="0" anchor="t">
            <a:normAutofit fontScale="92500" lnSpcReduction="20000"/>
          </a:bodyPr>
          <a:lstStyle/>
          <a:p>
            <a:r>
              <a:rPr lang="en-US"/>
              <a:t>Functionality: Accept submission and store information for the club registration form.</a:t>
            </a:r>
          </a:p>
          <a:p>
            <a:r>
              <a:rPr lang="en-US"/>
              <a:t>User Stories: As a student who wants to start a new club, I need the backend to serve the club registration form with the data it needs, so that I can fill out a complete and accurate registration request.</a:t>
            </a:r>
          </a:p>
          <a:p>
            <a:r>
              <a:rPr lang="en-US"/>
              <a:t>Acceptance Criteria: </a:t>
            </a:r>
            <a:br>
              <a:rPr lang="en-US"/>
            </a:br>
            <a:r>
              <a:rPr lang="en-US">
                <a:ea typeface="+mn-lt"/>
                <a:cs typeface="+mn-lt"/>
              </a:rPr>
              <a:t>Feature: Serve club registration form</a:t>
            </a:r>
          </a:p>
          <a:p>
            <a:r>
              <a:rPr lang="en-US">
                <a:ea typeface="+mn-lt"/>
                <a:cs typeface="+mn-lt"/>
              </a:rPr>
              <a:t>  Scenario: Logged-in student opens the registration form</a:t>
            </a:r>
            <a:endParaRPr lang="en-US"/>
          </a:p>
          <a:p>
            <a:r>
              <a:rPr lang="en-US">
                <a:ea typeface="+mn-lt"/>
                <a:cs typeface="+mn-lt"/>
              </a:rPr>
              <a:t>    Given a student is logged in</a:t>
            </a:r>
          </a:p>
          <a:p>
            <a:r>
              <a:rPr lang="en-US">
                <a:ea typeface="+mn-lt"/>
                <a:cs typeface="+mn-lt"/>
              </a:rPr>
              <a:t>    When the student navigates to "/clubs/register"</a:t>
            </a:r>
          </a:p>
          <a:p>
            <a:r>
              <a:rPr lang="en-US">
                <a:ea typeface="+mn-lt"/>
                <a:cs typeface="+mn-lt"/>
              </a:rPr>
              <a:t>    Then the registration form is returned</a:t>
            </a:r>
            <a:endParaRPr lang="en-US"/>
          </a:p>
          <a:p>
            <a:r>
              <a:rPr lang="en-US">
                <a:ea typeface="+mn-lt"/>
                <a:cs typeface="+mn-lt"/>
              </a:rPr>
              <a:t>    And the category dropdown contains all categories stored in the database</a:t>
            </a:r>
            <a:endParaRPr lang="en-US"/>
          </a:p>
          <a:p>
            <a:r>
              <a:rPr lang="en-US">
                <a:ea typeface="+mn-lt"/>
                <a:cs typeface="+mn-lt"/>
              </a:rPr>
              <a:t>    And the founding officer fields are prefilled with the student's name and email</a:t>
            </a:r>
            <a:endParaRPr lang="en-US"/>
          </a:p>
          <a:p>
            <a:endParaRPr lang="en-US"/>
          </a:p>
          <a:p>
            <a:endParaRPr lang="en-US"/>
          </a:p>
        </p:txBody>
      </p:sp>
      <p:sp>
        <p:nvSpPr>
          <p:cNvPr id="5" name="Content Placeholder 2">
            <a:extLst>
              <a:ext uri="{FF2B5EF4-FFF2-40B4-BE49-F238E27FC236}">
                <a16:creationId xmlns:a16="http://schemas.microsoft.com/office/drawing/2014/main" id="{E986DD75-2102-DD98-26E4-CE13A2173DD7}"/>
              </a:ext>
            </a:extLst>
          </p:cNvPr>
          <p:cNvSpPr txBox="1">
            <a:spLocks/>
          </p:cNvSpPr>
          <p:nvPr/>
        </p:nvSpPr>
        <p:spPr>
          <a:xfrm>
            <a:off x="6092660" y="1706695"/>
            <a:ext cx="5363270" cy="4872809"/>
          </a:xfrm>
          <a:prstGeom prst="rect">
            <a:avLst/>
          </a:prstGeom>
        </p:spPr>
        <p:txBody>
          <a:bodyPr vert="horz" lIns="91440" tIns="45720" rIns="91440" bIns="45720" rtlCol="0" anchor="t">
            <a:norm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Acceptance Criteria: </a:t>
            </a:r>
            <a:br>
              <a:rPr lang="en-US" sz="1600"/>
            </a:br>
            <a:r>
              <a:rPr lang="en-US" sz="1600">
                <a:ea typeface="+mn-lt"/>
                <a:cs typeface="+mn-lt"/>
              </a:rPr>
              <a:t> Scenario: Unauthenticated user requests the form</a:t>
            </a:r>
          </a:p>
          <a:p>
            <a:r>
              <a:rPr lang="en-US" sz="1600">
                <a:ea typeface="+mn-lt"/>
                <a:cs typeface="+mn-lt"/>
              </a:rPr>
              <a:t>    Given a user is not logged in</a:t>
            </a:r>
          </a:p>
          <a:p>
            <a:r>
              <a:rPr lang="en-US" sz="1600">
                <a:ea typeface="+mn-lt"/>
                <a:cs typeface="+mn-lt"/>
              </a:rPr>
              <a:t>    When the user navigates to "/clubs/register"</a:t>
            </a:r>
          </a:p>
          <a:p>
            <a:r>
              <a:rPr lang="en-US" sz="1600">
                <a:ea typeface="+mn-lt"/>
                <a:cs typeface="+mn-lt"/>
              </a:rPr>
              <a:t>    Then the user is redirected to the login page</a:t>
            </a:r>
          </a:p>
          <a:p>
            <a:endParaRPr lang="en-US"/>
          </a:p>
        </p:txBody>
      </p:sp>
    </p:spTree>
    <p:extLst>
      <p:ext uri="{BB962C8B-B14F-4D97-AF65-F5344CB8AC3E}">
        <p14:creationId xmlns:p14="http://schemas.microsoft.com/office/powerpoint/2010/main" val="9380309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62FAC-A74B-2029-F62A-53408D8F39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6D9B42-7D5F-C80D-F118-B17DD78BD724}"/>
              </a:ext>
            </a:extLst>
          </p:cNvPr>
          <p:cNvSpPr>
            <a:spLocks noGrp="1"/>
          </p:cNvSpPr>
          <p:nvPr>
            <p:ph type="title"/>
          </p:nvPr>
        </p:nvSpPr>
        <p:spPr/>
        <p:txBody>
          <a:bodyPr>
            <a:normAutofit fontScale="90000"/>
          </a:bodyPr>
          <a:lstStyle/>
          <a:p>
            <a:r>
              <a:rPr lang="en-US">
                <a:solidFill>
                  <a:srgbClr val="2C3E50"/>
                </a:solidFill>
              </a:rPr>
              <a:t>FR-002.2: Front end: club registration form</a:t>
            </a:r>
            <a:endParaRPr lang="en-US"/>
          </a:p>
        </p:txBody>
      </p:sp>
      <p:sp>
        <p:nvSpPr>
          <p:cNvPr id="3" name="Content Placeholder 2">
            <a:extLst>
              <a:ext uri="{FF2B5EF4-FFF2-40B4-BE49-F238E27FC236}">
                <a16:creationId xmlns:a16="http://schemas.microsoft.com/office/drawing/2014/main" id="{972DD872-DF7D-EA63-5EF0-112A852E67CF}"/>
              </a:ext>
            </a:extLst>
          </p:cNvPr>
          <p:cNvSpPr>
            <a:spLocks noGrp="1"/>
          </p:cNvSpPr>
          <p:nvPr>
            <p:ph idx="1"/>
          </p:nvPr>
        </p:nvSpPr>
        <p:spPr>
          <a:xfrm>
            <a:off x="731520" y="1710870"/>
            <a:ext cx="5363270" cy="4872809"/>
          </a:xfrm>
        </p:spPr>
        <p:txBody>
          <a:bodyPr vert="horz" lIns="91440" tIns="45720" rIns="91440" bIns="45720" rtlCol="0" anchor="t">
            <a:normAutofit fontScale="77500" lnSpcReduction="20000"/>
          </a:bodyPr>
          <a:lstStyle/>
          <a:p>
            <a:r>
              <a:rPr lang="en-US"/>
              <a:t>Functionality: Provide a responsive web page for the club registration form.</a:t>
            </a:r>
          </a:p>
          <a:p>
            <a:r>
              <a:rPr lang="en-US"/>
              <a:t>User Stories: As a student who wants to start a new club, I need a clear, easy-to-use club registration form, so that I can submit my club registration request without confusion or errors.</a:t>
            </a:r>
          </a:p>
          <a:p>
            <a:r>
              <a:rPr lang="en-US"/>
              <a:t>Acceptance Criteria: </a:t>
            </a:r>
            <a:br>
              <a:rPr lang="en-US"/>
            </a:br>
            <a:r>
              <a:rPr lang="en-US">
                <a:ea typeface="+mn-lt"/>
                <a:cs typeface="+mn-lt"/>
              </a:rPr>
              <a:t>Feature: Club registration form UI</a:t>
            </a:r>
          </a:p>
          <a:p>
            <a:r>
              <a:rPr lang="en-US">
                <a:ea typeface="+mn-lt"/>
                <a:cs typeface="+mn-lt"/>
              </a:rPr>
              <a:t>  Scenario: Form displays all fields</a:t>
            </a:r>
            <a:endParaRPr lang="en-US"/>
          </a:p>
          <a:p>
            <a:r>
              <a:rPr lang="en-US">
                <a:ea typeface="+mn-lt"/>
                <a:cs typeface="+mn-lt"/>
              </a:rPr>
              <a:t>    Given a logged-in student opens the club registration page</a:t>
            </a:r>
            <a:endParaRPr lang="en-US"/>
          </a:p>
          <a:p>
            <a:r>
              <a:rPr lang="en-US">
                <a:ea typeface="+mn-lt"/>
                <a:cs typeface="+mn-lt"/>
              </a:rPr>
              <a:t>    Then the form shows fields for club name, description, category, meeting info, faculty advisor, and contact email</a:t>
            </a:r>
            <a:endParaRPr lang="en-US"/>
          </a:p>
          <a:p>
            <a:r>
              <a:rPr lang="en-US">
                <a:ea typeface="+mn-lt"/>
                <a:cs typeface="+mn-lt"/>
              </a:rPr>
              <a:t>    And required fields are visibly marked</a:t>
            </a:r>
            <a:endParaRPr lang="en-US"/>
          </a:p>
          <a:p>
            <a:r>
              <a:rPr lang="en-US">
                <a:ea typeface="+mn-lt"/>
                <a:cs typeface="+mn-lt"/>
              </a:rPr>
              <a:t>  Scenario: Browser blocks incomplete submission</a:t>
            </a:r>
            <a:endParaRPr lang="en-US"/>
          </a:p>
          <a:p>
            <a:r>
              <a:rPr lang="en-US">
                <a:ea typeface="+mn-lt"/>
                <a:cs typeface="+mn-lt"/>
              </a:rPr>
              <a:t>    Given a student is filling out the registration form</a:t>
            </a:r>
            <a:endParaRPr lang="en-US"/>
          </a:p>
          <a:p>
            <a:r>
              <a:rPr lang="en-US">
                <a:ea typeface="+mn-lt"/>
                <a:cs typeface="+mn-lt"/>
              </a:rPr>
              <a:t>    When the student clicks Submit with the club name empty</a:t>
            </a:r>
            <a:endParaRPr lang="en-US"/>
          </a:p>
          <a:p>
            <a:r>
              <a:rPr lang="en-US">
                <a:ea typeface="+mn-lt"/>
                <a:cs typeface="+mn-lt"/>
              </a:rPr>
              <a:t>    Then the form is not submitted</a:t>
            </a:r>
            <a:endParaRPr lang="en-US"/>
          </a:p>
          <a:p>
            <a:r>
              <a:rPr lang="en-US">
                <a:ea typeface="+mn-lt"/>
                <a:cs typeface="+mn-lt"/>
              </a:rPr>
              <a:t>    And a message indicates the club name is required</a:t>
            </a:r>
            <a:endParaRPr lang="en-US"/>
          </a:p>
          <a:p>
            <a:endParaRPr lang="en-US"/>
          </a:p>
          <a:p>
            <a:endParaRPr lang="en-US"/>
          </a:p>
        </p:txBody>
      </p:sp>
      <p:sp>
        <p:nvSpPr>
          <p:cNvPr id="5" name="Content Placeholder 2">
            <a:extLst>
              <a:ext uri="{FF2B5EF4-FFF2-40B4-BE49-F238E27FC236}">
                <a16:creationId xmlns:a16="http://schemas.microsoft.com/office/drawing/2014/main" id="{091AF9B9-DE28-BEC3-DED9-5D1B484CAFAB}"/>
              </a:ext>
            </a:extLst>
          </p:cNvPr>
          <p:cNvSpPr txBox="1">
            <a:spLocks/>
          </p:cNvSpPr>
          <p:nvPr/>
        </p:nvSpPr>
        <p:spPr>
          <a:xfrm>
            <a:off x="6092660" y="1706695"/>
            <a:ext cx="5363270" cy="4872809"/>
          </a:xfrm>
          <a:prstGeom prst="rect">
            <a:avLst/>
          </a:prstGeom>
        </p:spPr>
        <p:txBody>
          <a:bodyPr vert="horz" lIns="91440" tIns="45720" rIns="91440" bIns="45720" rtlCol="0" anchor="t">
            <a:norm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Acceptance Criteria: </a:t>
            </a:r>
            <a:br>
              <a:rPr lang="en-US" sz="1600"/>
            </a:br>
            <a:r>
              <a:rPr lang="en-US" sz="1600">
                <a:ea typeface="+mn-lt"/>
                <a:cs typeface="+mn-lt"/>
              </a:rPr>
              <a:t> Scenario: Server errors are shown inline</a:t>
            </a:r>
            <a:endParaRPr lang="en-US"/>
          </a:p>
          <a:p>
            <a:r>
              <a:rPr lang="en-US" sz="1600">
                <a:ea typeface="+mn-lt"/>
                <a:cs typeface="+mn-lt"/>
              </a:rPr>
              <a:t>    Given a student submits a club name that already exists</a:t>
            </a:r>
            <a:endParaRPr lang="en-US"/>
          </a:p>
          <a:p>
            <a:r>
              <a:rPr lang="en-US" sz="1600">
                <a:ea typeface="+mn-lt"/>
                <a:cs typeface="+mn-lt"/>
              </a:rPr>
              <a:t>    When the page reloads with the server response</a:t>
            </a:r>
            <a:endParaRPr lang="en-US"/>
          </a:p>
          <a:p>
            <a:r>
              <a:rPr lang="en-US" sz="1600">
                <a:ea typeface="+mn-lt"/>
                <a:cs typeface="+mn-lt"/>
              </a:rPr>
              <a:t>    Then an error appears beneath the club name field</a:t>
            </a:r>
            <a:endParaRPr lang="en-US"/>
          </a:p>
          <a:p>
            <a:r>
              <a:rPr lang="en-US" sz="1600">
                <a:ea typeface="+mn-lt"/>
                <a:cs typeface="+mn-lt"/>
              </a:rPr>
              <a:t>    And all other entered values remain in the form</a:t>
            </a:r>
            <a:endParaRPr lang="en-US">
              <a:ea typeface="+mn-lt"/>
              <a:cs typeface="+mn-lt"/>
            </a:endParaRPr>
          </a:p>
          <a:p>
            <a:endParaRPr lang="en-US">
              <a:ea typeface="+mn-lt"/>
              <a:cs typeface="+mn-lt"/>
            </a:endParaRPr>
          </a:p>
          <a:p>
            <a:r>
              <a:rPr lang="en-US" sz="1600">
                <a:ea typeface="+mn-lt"/>
                <a:cs typeface="+mn-lt"/>
              </a:rPr>
              <a:t>  Scenario: Student cancels registration</a:t>
            </a:r>
            <a:endParaRPr lang="en-US"/>
          </a:p>
          <a:p>
            <a:r>
              <a:rPr lang="en-US" sz="1600">
                <a:ea typeface="+mn-lt"/>
                <a:cs typeface="+mn-lt"/>
              </a:rPr>
              <a:t>    Given a student is on the registration form</a:t>
            </a:r>
            <a:endParaRPr lang="en-US"/>
          </a:p>
          <a:p>
            <a:r>
              <a:rPr lang="en-US" sz="1600">
                <a:ea typeface="+mn-lt"/>
                <a:cs typeface="+mn-lt"/>
              </a:rPr>
              <a:t>    When the student clicks Cancel</a:t>
            </a:r>
            <a:endParaRPr lang="en-US"/>
          </a:p>
          <a:p>
            <a:r>
              <a:rPr lang="en-US" sz="1600">
                <a:ea typeface="+mn-lt"/>
                <a:cs typeface="+mn-lt"/>
              </a:rPr>
              <a:t>    Then the student is returned to the club list without saving anything</a:t>
            </a:r>
            <a:endParaRPr lang="en-US"/>
          </a:p>
          <a:p>
            <a:endParaRPr lang="en-US"/>
          </a:p>
        </p:txBody>
      </p:sp>
    </p:spTree>
    <p:extLst>
      <p:ext uri="{BB962C8B-B14F-4D97-AF65-F5344CB8AC3E}">
        <p14:creationId xmlns:p14="http://schemas.microsoft.com/office/powerpoint/2010/main" val="23921585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05BF8-2C1E-889E-8CC2-C61B3B77A6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A74B22-221E-4BFF-1302-4B0948C0367D}"/>
              </a:ext>
            </a:extLst>
          </p:cNvPr>
          <p:cNvSpPr>
            <a:spLocks noGrp="1"/>
          </p:cNvSpPr>
          <p:nvPr>
            <p:ph type="title"/>
          </p:nvPr>
        </p:nvSpPr>
        <p:spPr/>
        <p:txBody>
          <a:bodyPr>
            <a:normAutofit fontScale="90000"/>
          </a:bodyPr>
          <a:lstStyle/>
          <a:p>
            <a:r>
              <a:rPr lang="en-US">
                <a:solidFill>
                  <a:srgbClr val="2C3E50"/>
                </a:solidFill>
              </a:rPr>
              <a:t>FR-002.3: back end: Club Registration Submission</a:t>
            </a:r>
            <a:endParaRPr lang="en-US"/>
          </a:p>
        </p:txBody>
      </p:sp>
      <p:sp>
        <p:nvSpPr>
          <p:cNvPr id="3" name="Content Placeholder 2">
            <a:extLst>
              <a:ext uri="{FF2B5EF4-FFF2-40B4-BE49-F238E27FC236}">
                <a16:creationId xmlns:a16="http://schemas.microsoft.com/office/drawing/2014/main" id="{062E108C-CBBB-9692-EDF5-271109DCA405}"/>
              </a:ext>
            </a:extLst>
          </p:cNvPr>
          <p:cNvSpPr>
            <a:spLocks noGrp="1"/>
          </p:cNvSpPr>
          <p:nvPr>
            <p:ph idx="1"/>
          </p:nvPr>
        </p:nvSpPr>
        <p:spPr>
          <a:xfrm>
            <a:off x="731520" y="1710870"/>
            <a:ext cx="5363270" cy="4872809"/>
          </a:xfrm>
        </p:spPr>
        <p:txBody>
          <a:bodyPr vert="horz" lIns="91440" tIns="45720" rIns="91440" bIns="45720" rtlCol="0" anchor="t">
            <a:normAutofit fontScale="92500" lnSpcReduction="20000"/>
          </a:bodyPr>
          <a:lstStyle/>
          <a:p>
            <a:r>
              <a:rPr lang="en-US"/>
              <a:t>Functionality: After the user submits the club registration form, the information shall be successfully stored.</a:t>
            </a:r>
          </a:p>
          <a:p>
            <a:r>
              <a:rPr lang="en-US"/>
              <a:t>User Stories: As a student who wants to start a new club, I need the backend to validate and store my club registration submission, so that my club registration request is saved and queued for admin approval.</a:t>
            </a:r>
          </a:p>
          <a:p>
            <a:r>
              <a:rPr lang="en-US"/>
              <a:t>Acceptance Criteria: </a:t>
            </a:r>
            <a:br>
              <a:rPr lang="en-US"/>
            </a:br>
            <a:r>
              <a:rPr lang="en-US">
                <a:ea typeface="+mn-lt"/>
                <a:cs typeface="+mn-lt"/>
              </a:rPr>
              <a:t>Scenario: Successful club registration</a:t>
            </a:r>
          </a:p>
          <a:p>
            <a:r>
              <a:rPr lang="en-US">
                <a:ea typeface="+mn-lt"/>
                <a:cs typeface="+mn-lt"/>
              </a:rPr>
              <a:t>Given I am logged in with a valid student account</a:t>
            </a:r>
            <a:endParaRPr lang="en-US"/>
          </a:p>
          <a:p>
            <a:r>
              <a:rPr lang="en-US">
                <a:ea typeface="+mn-lt"/>
                <a:cs typeface="+mn-lt"/>
              </a:rPr>
              <a:t>And I am on the club registration page</a:t>
            </a:r>
          </a:p>
          <a:p>
            <a:r>
              <a:rPr lang="en-US">
                <a:ea typeface="+mn-lt"/>
                <a:cs typeface="+mn-lt"/>
              </a:rPr>
              <a:t>When I submit a registration form with a club name, description, and category</a:t>
            </a:r>
            <a:endParaRPr lang="en-US"/>
          </a:p>
          <a:p>
            <a:r>
              <a:rPr lang="en-US">
                <a:ea typeface="+mn-lt"/>
                <a:cs typeface="+mn-lt"/>
              </a:rPr>
              <a:t>Then the registration is saved with a status of "Pending Approval"</a:t>
            </a:r>
            <a:endParaRPr lang="en-US"/>
          </a:p>
          <a:p>
            <a:r>
              <a:rPr lang="en-US">
                <a:ea typeface="+mn-lt"/>
                <a:cs typeface="+mn-lt"/>
              </a:rPr>
              <a:t>And I am notified that an administrator will review my submission</a:t>
            </a:r>
            <a:endParaRPr lang="en-US"/>
          </a:p>
          <a:p>
            <a:endParaRPr lang="en-US"/>
          </a:p>
          <a:p>
            <a:endParaRPr lang="en-US"/>
          </a:p>
        </p:txBody>
      </p:sp>
      <p:sp>
        <p:nvSpPr>
          <p:cNvPr id="5" name="Content Placeholder 2">
            <a:extLst>
              <a:ext uri="{FF2B5EF4-FFF2-40B4-BE49-F238E27FC236}">
                <a16:creationId xmlns:a16="http://schemas.microsoft.com/office/drawing/2014/main" id="{CC7E046A-F851-25C8-5165-08E5D745FC06}"/>
              </a:ext>
            </a:extLst>
          </p:cNvPr>
          <p:cNvSpPr txBox="1">
            <a:spLocks/>
          </p:cNvSpPr>
          <p:nvPr/>
        </p:nvSpPr>
        <p:spPr>
          <a:xfrm>
            <a:off x="6092660" y="1706695"/>
            <a:ext cx="5363270" cy="4872809"/>
          </a:xfrm>
          <a:prstGeom prst="rect">
            <a:avLst/>
          </a:prstGeom>
        </p:spPr>
        <p:txBody>
          <a:bodyPr vert="horz" lIns="91440" tIns="45720" rIns="91440" bIns="45720" rtlCol="0" anchor="t">
            <a:norm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Acceptance Criteria: </a:t>
            </a:r>
            <a:br>
              <a:rPr lang="en-US" sz="1600"/>
            </a:br>
            <a:r>
              <a:rPr lang="en-US" sz="1600">
                <a:ea typeface="+mn-lt"/>
                <a:cs typeface="+mn-lt"/>
              </a:rPr>
              <a:t>Scenario: Club registration request fails</a:t>
            </a:r>
            <a:endParaRPr lang="en-US"/>
          </a:p>
          <a:p>
            <a:r>
              <a:rPr lang="en-US" sz="1600">
                <a:ea typeface="+mn-lt"/>
                <a:cs typeface="+mn-lt"/>
              </a:rPr>
              <a:t>Given I am logged in with a valid student account</a:t>
            </a:r>
            <a:endParaRPr lang="en-US"/>
          </a:p>
          <a:p>
            <a:r>
              <a:rPr lang="en-US" sz="1600">
                <a:ea typeface="+mn-lt"/>
                <a:cs typeface="+mn-lt"/>
              </a:rPr>
              <a:t>And I am on the club registration page</a:t>
            </a:r>
            <a:endParaRPr lang="en-US">
              <a:ea typeface="+mn-lt"/>
              <a:cs typeface="+mn-lt"/>
            </a:endParaRPr>
          </a:p>
          <a:p>
            <a:r>
              <a:rPr lang="en-US" sz="1600">
                <a:ea typeface="+mn-lt"/>
                <a:cs typeface="+mn-lt"/>
              </a:rPr>
              <a:t>When I submit my application</a:t>
            </a:r>
            <a:endParaRPr lang="en-US"/>
          </a:p>
          <a:p>
            <a:r>
              <a:rPr lang="en-US" sz="1600">
                <a:ea typeface="+mn-lt"/>
                <a:cs typeface="+mn-lt"/>
              </a:rPr>
              <a:t>And the request fails before completion</a:t>
            </a:r>
            <a:endParaRPr lang="en-US"/>
          </a:p>
          <a:p>
            <a:r>
              <a:rPr lang="en-US" sz="1600">
                <a:ea typeface="+mn-lt"/>
                <a:cs typeface="+mn-lt"/>
              </a:rPr>
              <a:t>Then no registration is created</a:t>
            </a:r>
            <a:endParaRPr lang="en-US"/>
          </a:p>
          <a:p>
            <a:r>
              <a:rPr lang="en-US" sz="1600">
                <a:ea typeface="+mn-lt"/>
                <a:cs typeface="+mn-lt"/>
              </a:rPr>
              <a:t>And I am returned to the registration form</a:t>
            </a:r>
            <a:endParaRPr lang="en-US"/>
          </a:p>
          <a:p>
            <a:endParaRPr lang="en-US" sz="1600"/>
          </a:p>
          <a:p>
            <a:endParaRPr lang="en-US"/>
          </a:p>
        </p:txBody>
      </p:sp>
    </p:spTree>
    <p:extLst>
      <p:ext uri="{BB962C8B-B14F-4D97-AF65-F5344CB8AC3E}">
        <p14:creationId xmlns:p14="http://schemas.microsoft.com/office/powerpoint/2010/main" val="39655148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8CA87-DA46-52EB-1E85-FC4C34172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44B39C-6D12-DE7B-D3BF-994E806A81AE}"/>
              </a:ext>
            </a:extLst>
          </p:cNvPr>
          <p:cNvSpPr>
            <a:spLocks noGrp="1"/>
          </p:cNvSpPr>
          <p:nvPr>
            <p:ph type="title"/>
          </p:nvPr>
        </p:nvSpPr>
        <p:spPr/>
        <p:txBody>
          <a:bodyPr>
            <a:normAutofit fontScale="90000"/>
          </a:bodyPr>
          <a:lstStyle/>
          <a:p>
            <a:r>
              <a:rPr lang="en-US">
                <a:solidFill>
                  <a:srgbClr val="2C3E50"/>
                </a:solidFill>
              </a:rPr>
              <a:t>FR-002.3: back end: Club Registration Submission continued</a:t>
            </a:r>
            <a:endParaRPr lang="en-US"/>
          </a:p>
        </p:txBody>
      </p:sp>
      <p:sp>
        <p:nvSpPr>
          <p:cNvPr id="3" name="Content Placeholder 2">
            <a:extLst>
              <a:ext uri="{FF2B5EF4-FFF2-40B4-BE49-F238E27FC236}">
                <a16:creationId xmlns:a16="http://schemas.microsoft.com/office/drawing/2014/main" id="{992AF4E7-DC54-704C-F6DF-B14C2666ACF6}"/>
              </a:ext>
            </a:extLst>
          </p:cNvPr>
          <p:cNvSpPr>
            <a:spLocks noGrp="1"/>
          </p:cNvSpPr>
          <p:nvPr>
            <p:ph idx="1"/>
          </p:nvPr>
        </p:nvSpPr>
        <p:spPr>
          <a:xfrm>
            <a:off x="731520" y="1710870"/>
            <a:ext cx="5363270" cy="4872809"/>
          </a:xfrm>
        </p:spPr>
        <p:txBody>
          <a:bodyPr vert="horz" lIns="91440" tIns="45720" rIns="91440" bIns="45720" rtlCol="0" anchor="t">
            <a:normAutofit fontScale="85000" lnSpcReduction="20000"/>
          </a:bodyPr>
          <a:lstStyle/>
          <a:p>
            <a:r>
              <a:rPr lang="en-US">
                <a:ea typeface="+mn-lt"/>
                <a:cs typeface="+mn-lt"/>
              </a:rPr>
              <a:t>Feature: Process club registration submission</a:t>
            </a:r>
            <a:endParaRPr lang="en-US"/>
          </a:p>
          <a:p>
            <a:r>
              <a:rPr lang="en-US">
                <a:ea typeface="+mn-lt"/>
                <a:cs typeface="+mn-lt"/>
              </a:rPr>
              <a:t>  Scenario: Valid submission is saved</a:t>
            </a:r>
            <a:endParaRPr lang="en-US"/>
          </a:p>
          <a:p>
            <a:r>
              <a:rPr lang="en-US">
                <a:ea typeface="+mn-lt"/>
                <a:cs typeface="+mn-lt"/>
              </a:rPr>
              <a:t>    Given a logged-in student</a:t>
            </a:r>
            <a:endParaRPr lang="en-US"/>
          </a:p>
          <a:p>
            <a:r>
              <a:rPr lang="en-US">
                <a:ea typeface="+mn-lt"/>
                <a:cs typeface="+mn-lt"/>
              </a:rPr>
              <a:t>    And no club named "Chess Club" exists</a:t>
            </a:r>
            <a:endParaRPr lang="en-US"/>
          </a:p>
          <a:p>
            <a:r>
              <a:rPr lang="en-US">
                <a:ea typeface="+mn-lt"/>
                <a:cs typeface="+mn-lt"/>
              </a:rPr>
              <a:t>    When the student submits a valid registration for "Chess Club"</a:t>
            </a:r>
            <a:endParaRPr lang="en-US"/>
          </a:p>
          <a:p>
            <a:r>
              <a:rPr lang="en-US">
                <a:ea typeface="+mn-lt"/>
                <a:cs typeface="+mn-lt"/>
              </a:rPr>
              <a:t>    Then a club record is saved with status "PENDING"</a:t>
            </a:r>
            <a:endParaRPr lang="en-US"/>
          </a:p>
          <a:p>
            <a:r>
              <a:rPr lang="en-US">
                <a:ea typeface="+mn-lt"/>
                <a:cs typeface="+mn-lt"/>
              </a:rPr>
              <a:t>    And the submission timestamp is recorded</a:t>
            </a:r>
            <a:endParaRPr lang="en-US"/>
          </a:p>
          <a:p>
            <a:r>
              <a:rPr lang="en-US">
                <a:ea typeface="+mn-lt"/>
                <a:cs typeface="+mn-lt"/>
              </a:rPr>
              <a:t>    And the student is linked as the founding officer</a:t>
            </a:r>
            <a:endParaRPr lang="en-US"/>
          </a:p>
          <a:p>
            <a:r>
              <a:rPr lang="en-US">
                <a:ea typeface="+mn-lt"/>
                <a:cs typeface="+mn-lt"/>
              </a:rPr>
              <a:t>    And the student is redirected to the submission confirmation page</a:t>
            </a:r>
            <a:endParaRPr lang="en-US"/>
          </a:p>
          <a:p>
            <a:r>
              <a:rPr lang="en-US">
                <a:ea typeface="+mn-lt"/>
                <a:cs typeface="+mn-lt"/>
              </a:rPr>
              <a:t>  Scenario: Missing required fields</a:t>
            </a:r>
            <a:endParaRPr lang="en-US"/>
          </a:p>
          <a:p>
            <a:r>
              <a:rPr lang="en-US">
                <a:ea typeface="+mn-lt"/>
                <a:cs typeface="+mn-lt"/>
              </a:rPr>
              <a:t>    Given a logged-in student</a:t>
            </a:r>
            <a:endParaRPr lang="en-US"/>
          </a:p>
          <a:p>
            <a:r>
              <a:rPr lang="en-US">
                <a:ea typeface="+mn-lt"/>
                <a:cs typeface="+mn-lt"/>
              </a:rPr>
              <a:t>    When the student submits a registration without a description</a:t>
            </a:r>
            <a:endParaRPr lang="en-US"/>
          </a:p>
          <a:p>
            <a:r>
              <a:rPr lang="en-US">
                <a:ea typeface="+mn-lt"/>
                <a:cs typeface="+mn-lt"/>
              </a:rPr>
              <a:t>    Then no club record is created</a:t>
            </a:r>
            <a:endParaRPr lang="en-US"/>
          </a:p>
          <a:p>
            <a:r>
              <a:rPr lang="en-US">
                <a:ea typeface="+mn-lt"/>
                <a:cs typeface="+mn-lt"/>
              </a:rPr>
              <a:t>    And the form is returned with an error for the description field</a:t>
            </a:r>
            <a:endParaRPr lang="en-US"/>
          </a:p>
          <a:p>
            <a:endParaRPr lang="en-US"/>
          </a:p>
          <a:p>
            <a:endParaRPr lang="en-US"/>
          </a:p>
          <a:p>
            <a:endParaRPr lang="en-US"/>
          </a:p>
        </p:txBody>
      </p:sp>
      <p:sp>
        <p:nvSpPr>
          <p:cNvPr id="5" name="Content Placeholder 2">
            <a:extLst>
              <a:ext uri="{FF2B5EF4-FFF2-40B4-BE49-F238E27FC236}">
                <a16:creationId xmlns:a16="http://schemas.microsoft.com/office/drawing/2014/main" id="{1841955C-3160-8142-6D0B-EDA3DF9826AC}"/>
              </a:ext>
            </a:extLst>
          </p:cNvPr>
          <p:cNvSpPr txBox="1">
            <a:spLocks/>
          </p:cNvSpPr>
          <p:nvPr/>
        </p:nvSpPr>
        <p:spPr>
          <a:xfrm>
            <a:off x="6092660" y="1706695"/>
            <a:ext cx="5363270" cy="4872809"/>
          </a:xfrm>
          <a:prstGeom prst="rect">
            <a:avLst/>
          </a:prstGeom>
        </p:spPr>
        <p:txBody>
          <a:bodyPr vert="horz" lIns="91440" tIns="45720" rIns="91440" bIns="45720" rtlCol="0" anchor="t">
            <a:normAutofit fontScale="92500" lnSpcReduction="20000"/>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Acceptance Criteria: </a:t>
            </a:r>
            <a:br>
              <a:rPr lang="en-US" sz="1600"/>
            </a:br>
            <a:r>
              <a:rPr lang="en-US" sz="1400">
                <a:ea typeface="+mn-lt"/>
                <a:cs typeface="+mn-lt"/>
              </a:rPr>
              <a:t>  Scenario: Duplicate club name</a:t>
            </a:r>
            <a:endParaRPr lang="en-US" sz="1400"/>
          </a:p>
          <a:p>
            <a:r>
              <a:rPr lang="en-US" sz="1400">
                <a:ea typeface="+mn-lt"/>
                <a:cs typeface="+mn-lt"/>
              </a:rPr>
              <a:t>    Given a club named "Chess Club" exists or is pending</a:t>
            </a:r>
          </a:p>
          <a:p>
            <a:r>
              <a:rPr lang="en-US" sz="1400">
                <a:ea typeface="+mn-lt"/>
                <a:cs typeface="+mn-lt"/>
              </a:rPr>
              <a:t>    When a student submits a registration named "chess club"</a:t>
            </a:r>
          </a:p>
          <a:p>
            <a:r>
              <a:rPr lang="en-US" sz="1400">
                <a:ea typeface="+mn-lt"/>
                <a:cs typeface="+mn-lt"/>
              </a:rPr>
              <a:t>    Then no club record is created</a:t>
            </a:r>
            <a:endParaRPr lang="en-US" sz="1400"/>
          </a:p>
          <a:p>
            <a:r>
              <a:rPr lang="en-US" sz="1400">
                <a:ea typeface="+mn-lt"/>
                <a:cs typeface="+mn-lt"/>
              </a:rPr>
              <a:t>    And the error "A club with this name already exists" is returned</a:t>
            </a:r>
          </a:p>
          <a:p>
            <a:r>
              <a:rPr lang="en-US" sz="1400">
                <a:ea typeface="+mn-lt"/>
                <a:cs typeface="+mn-lt"/>
              </a:rPr>
              <a:t>  Scenario: Invalid category</a:t>
            </a:r>
          </a:p>
          <a:p>
            <a:r>
              <a:rPr lang="en-US" sz="1400">
                <a:ea typeface="+mn-lt"/>
                <a:cs typeface="+mn-lt"/>
              </a:rPr>
              <a:t>    Given a logged-in student</a:t>
            </a:r>
          </a:p>
          <a:p>
            <a:r>
              <a:rPr lang="en-US" sz="1400">
                <a:ea typeface="+mn-lt"/>
                <a:cs typeface="+mn-lt"/>
              </a:rPr>
              <a:t>    When a submission includes a category not in the database</a:t>
            </a:r>
          </a:p>
          <a:p>
            <a:r>
              <a:rPr lang="en-US" sz="1400">
                <a:ea typeface="+mn-lt"/>
                <a:cs typeface="+mn-lt"/>
              </a:rPr>
              <a:t>    Then no club record is created</a:t>
            </a:r>
            <a:endParaRPr lang="en-US" sz="1400"/>
          </a:p>
          <a:p>
            <a:r>
              <a:rPr lang="en-US" sz="1400">
                <a:ea typeface="+mn-lt"/>
                <a:cs typeface="+mn-lt"/>
              </a:rPr>
              <a:t>    And an error indicates the category is invalid</a:t>
            </a:r>
          </a:p>
          <a:p>
            <a:r>
              <a:rPr lang="en-US" sz="1400">
                <a:ea typeface="+mn-lt"/>
                <a:cs typeface="+mn-lt"/>
              </a:rPr>
              <a:t>  Scenario: Unauthenticated submission</a:t>
            </a:r>
          </a:p>
          <a:p>
            <a:r>
              <a:rPr lang="en-US" sz="1400">
                <a:ea typeface="+mn-lt"/>
                <a:cs typeface="+mn-lt"/>
              </a:rPr>
              <a:t>    Given a user is not logged in</a:t>
            </a:r>
          </a:p>
          <a:p>
            <a:r>
              <a:rPr lang="en-US" sz="1400">
                <a:ea typeface="+mn-lt"/>
                <a:cs typeface="+mn-lt"/>
              </a:rPr>
              <a:t>    When a POST request is sent to "/clubs/register"</a:t>
            </a:r>
            <a:endParaRPr lang="en-US" sz="1400"/>
          </a:p>
          <a:p>
            <a:r>
              <a:rPr lang="en-US" sz="1400">
                <a:ea typeface="+mn-lt"/>
                <a:cs typeface="+mn-lt"/>
              </a:rPr>
              <a:t>    Then the request is rejected</a:t>
            </a:r>
            <a:endParaRPr lang="en-US" sz="1400"/>
          </a:p>
          <a:p>
            <a:r>
              <a:rPr lang="en-US" sz="1400">
                <a:ea typeface="+mn-lt"/>
                <a:cs typeface="+mn-lt"/>
              </a:rPr>
              <a:t>    And the user is redirected to the login page</a:t>
            </a:r>
            <a:endParaRPr lang="en-US" sz="1400"/>
          </a:p>
          <a:p>
            <a:endParaRPr lang="en-US" sz="1600"/>
          </a:p>
          <a:p>
            <a:endParaRPr lang="en-US"/>
          </a:p>
        </p:txBody>
      </p:sp>
    </p:spTree>
    <p:extLst>
      <p:ext uri="{BB962C8B-B14F-4D97-AF65-F5344CB8AC3E}">
        <p14:creationId xmlns:p14="http://schemas.microsoft.com/office/powerpoint/2010/main" val="19743650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9E315-1387-E94C-082C-9A3957122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EBFAC6-EE67-32DD-39A5-026867003314}"/>
              </a:ext>
            </a:extLst>
          </p:cNvPr>
          <p:cNvSpPr>
            <a:spLocks noGrp="1"/>
          </p:cNvSpPr>
          <p:nvPr>
            <p:ph type="title"/>
          </p:nvPr>
        </p:nvSpPr>
        <p:spPr/>
        <p:txBody>
          <a:bodyPr>
            <a:normAutofit/>
          </a:bodyPr>
          <a:lstStyle/>
          <a:p>
            <a:r>
              <a:rPr lang="en-US">
                <a:solidFill>
                  <a:srgbClr val="2C3E50"/>
                </a:solidFill>
              </a:rPr>
              <a:t>FR-002.4: front end: Club page</a:t>
            </a:r>
            <a:endParaRPr lang="en-US"/>
          </a:p>
        </p:txBody>
      </p:sp>
      <p:sp>
        <p:nvSpPr>
          <p:cNvPr id="3" name="Content Placeholder 2">
            <a:extLst>
              <a:ext uri="{FF2B5EF4-FFF2-40B4-BE49-F238E27FC236}">
                <a16:creationId xmlns:a16="http://schemas.microsoft.com/office/drawing/2014/main" id="{7299156D-4F4B-42FD-030A-75CC61AA3922}"/>
              </a:ext>
            </a:extLst>
          </p:cNvPr>
          <p:cNvSpPr>
            <a:spLocks noGrp="1"/>
          </p:cNvSpPr>
          <p:nvPr>
            <p:ph idx="1"/>
          </p:nvPr>
        </p:nvSpPr>
        <p:spPr>
          <a:xfrm>
            <a:off x="731520" y="1710870"/>
            <a:ext cx="5363270" cy="4872809"/>
          </a:xfrm>
        </p:spPr>
        <p:txBody>
          <a:bodyPr vert="horz" lIns="91440" tIns="45720" rIns="91440" bIns="45720" rtlCol="0" anchor="t">
            <a:normAutofit fontScale="77500" lnSpcReduction="20000"/>
          </a:bodyPr>
          <a:lstStyle/>
          <a:p>
            <a:r>
              <a:rPr lang="en-US"/>
              <a:t>Functionality: The front end </a:t>
            </a:r>
            <a:r>
              <a:rPr lang="en-US" err="1"/>
              <a:t>wil</a:t>
            </a:r>
            <a:r>
              <a:rPr lang="en-US"/>
              <a:t>l serve an html club page displaying club information.</a:t>
            </a:r>
          </a:p>
          <a:p>
            <a:r>
              <a:rPr lang="en-US"/>
              <a:t>User Stories: As a student, I need a page for each club showing its information, so that I can learn about the club and decide whether to join</a:t>
            </a:r>
          </a:p>
          <a:p>
            <a:r>
              <a:rPr lang="en-US"/>
              <a:t>Acceptance Criteria: </a:t>
            </a:r>
            <a:br>
              <a:rPr lang="en-US"/>
            </a:br>
            <a:r>
              <a:rPr lang="en-US">
                <a:ea typeface="+mn-lt"/>
                <a:cs typeface="+mn-lt"/>
              </a:rPr>
              <a:t>Feature: Club page</a:t>
            </a:r>
          </a:p>
          <a:p>
            <a:r>
              <a:rPr lang="en-US">
                <a:ea typeface="+mn-lt"/>
                <a:cs typeface="+mn-lt"/>
              </a:rPr>
              <a:t>  Scenario: Viewing an approved club</a:t>
            </a:r>
          </a:p>
          <a:p>
            <a:r>
              <a:rPr lang="en-US">
                <a:ea typeface="+mn-lt"/>
                <a:cs typeface="+mn-lt"/>
              </a:rPr>
              <a:t>    Given "Chess Club" has status "APPROVED"</a:t>
            </a:r>
            <a:endParaRPr lang="en-US"/>
          </a:p>
          <a:p>
            <a:r>
              <a:rPr lang="en-US">
                <a:ea typeface="+mn-lt"/>
                <a:cs typeface="+mn-lt"/>
              </a:rPr>
              <a:t>    When a student navigates to the Chess Club page</a:t>
            </a:r>
          </a:p>
          <a:p>
            <a:r>
              <a:rPr lang="en-US">
                <a:ea typeface="+mn-lt"/>
                <a:cs typeface="+mn-lt"/>
              </a:rPr>
              <a:t>    Then the page shows the club's name, description, category, meeting info, advisor, contact email, and officers</a:t>
            </a:r>
            <a:endParaRPr lang="en-US"/>
          </a:p>
          <a:p>
            <a:r>
              <a:rPr lang="en-US">
                <a:ea typeface="+mn-lt"/>
                <a:cs typeface="+mn-lt"/>
              </a:rPr>
              <a:t>    And a "Request to Join" button is shown</a:t>
            </a:r>
            <a:endParaRPr lang="en-US"/>
          </a:p>
          <a:p>
            <a:r>
              <a:rPr lang="en-US">
                <a:ea typeface="+mn-lt"/>
                <a:cs typeface="+mn-lt"/>
              </a:rPr>
              <a:t>  Scenario: Pending club hidden from other students</a:t>
            </a:r>
            <a:endParaRPr lang="en-US"/>
          </a:p>
          <a:p>
            <a:r>
              <a:rPr lang="en-US">
                <a:ea typeface="+mn-lt"/>
                <a:cs typeface="+mn-lt"/>
              </a:rPr>
              <a:t>    Given "Robotics Club" has status "PENDING"</a:t>
            </a:r>
          </a:p>
          <a:p>
            <a:r>
              <a:rPr lang="en-US">
                <a:ea typeface="+mn-lt"/>
                <a:cs typeface="+mn-lt"/>
              </a:rPr>
              <a:t>    When a student who did not submit it navigates to its page</a:t>
            </a:r>
            <a:endParaRPr lang="en-US"/>
          </a:p>
          <a:p>
            <a:r>
              <a:rPr lang="en-US">
                <a:ea typeface="+mn-lt"/>
                <a:cs typeface="+mn-lt"/>
              </a:rPr>
              <a:t>    Then a "Club not found" page is shown</a:t>
            </a:r>
            <a:endParaRPr lang="en-US"/>
          </a:p>
          <a:p>
            <a:endParaRPr lang="en-US"/>
          </a:p>
          <a:p>
            <a:endParaRPr lang="en-US"/>
          </a:p>
        </p:txBody>
      </p:sp>
      <p:sp>
        <p:nvSpPr>
          <p:cNvPr id="5" name="Content Placeholder 2">
            <a:extLst>
              <a:ext uri="{FF2B5EF4-FFF2-40B4-BE49-F238E27FC236}">
                <a16:creationId xmlns:a16="http://schemas.microsoft.com/office/drawing/2014/main" id="{16572D26-1F3E-6C95-AA13-CF7A188D84FE}"/>
              </a:ext>
            </a:extLst>
          </p:cNvPr>
          <p:cNvSpPr txBox="1">
            <a:spLocks/>
          </p:cNvSpPr>
          <p:nvPr/>
        </p:nvSpPr>
        <p:spPr>
          <a:xfrm>
            <a:off x="6092660" y="1706695"/>
            <a:ext cx="5363270" cy="4872809"/>
          </a:xfrm>
          <a:prstGeom prst="rect">
            <a:avLst/>
          </a:prstGeom>
        </p:spPr>
        <p:txBody>
          <a:bodyPr vert="horz" lIns="91440" tIns="45720" rIns="91440" bIns="45720" rtlCol="0" anchor="t">
            <a:norm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Acceptance Criteria: </a:t>
            </a:r>
            <a:br>
              <a:rPr lang="en-US" sz="1600"/>
            </a:br>
            <a:r>
              <a:rPr lang="en-US" sz="1600">
                <a:ea typeface="+mn-lt"/>
                <a:cs typeface="+mn-lt"/>
              </a:rPr>
              <a:t>  Scenario: Submitter can view their pending club</a:t>
            </a:r>
            <a:endParaRPr lang="en-US"/>
          </a:p>
          <a:p>
            <a:r>
              <a:rPr lang="en-US" sz="1600">
                <a:ea typeface="+mn-lt"/>
                <a:cs typeface="+mn-lt"/>
              </a:rPr>
              <a:t>    Given a student submitted "Robotics Club" and it is "PENDING"</a:t>
            </a:r>
            <a:endParaRPr lang="en-US"/>
          </a:p>
          <a:p>
            <a:r>
              <a:rPr lang="en-US" sz="1600">
                <a:ea typeface="+mn-lt"/>
                <a:cs typeface="+mn-lt"/>
              </a:rPr>
              <a:t>    When that student navigates to its page</a:t>
            </a:r>
            <a:endParaRPr lang="en-US"/>
          </a:p>
          <a:p>
            <a:r>
              <a:rPr lang="en-US" sz="1600">
                <a:ea typeface="+mn-lt"/>
                <a:cs typeface="+mn-lt"/>
              </a:rPr>
              <a:t>    Then the club details are shown with a "Pending Approval" banner</a:t>
            </a:r>
            <a:endParaRPr lang="en-US"/>
          </a:p>
          <a:p>
            <a:r>
              <a:rPr lang="en-US" sz="1600">
                <a:ea typeface="+mn-lt"/>
                <a:cs typeface="+mn-lt"/>
              </a:rPr>
              <a:t>    And the "Request to Join" button is not shown</a:t>
            </a:r>
            <a:endParaRPr lang="en-US"/>
          </a:p>
          <a:p>
            <a:r>
              <a:rPr lang="en-US" sz="1600">
                <a:ea typeface="+mn-lt"/>
                <a:cs typeface="+mn-lt"/>
              </a:rPr>
              <a:t>  Scenario: Nonexistent club</a:t>
            </a:r>
            <a:endParaRPr lang="en-US"/>
          </a:p>
          <a:p>
            <a:r>
              <a:rPr lang="en-US" sz="1600">
                <a:ea typeface="+mn-lt"/>
                <a:cs typeface="+mn-lt"/>
              </a:rPr>
              <a:t>    Given no club exists with id 9999</a:t>
            </a:r>
            <a:endParaRPr lang="en-US"/>
          </a:p>
          <a:p>
            <a:r>
              <a:rPr lang="en-US" sz="1600">
                <a:ea typeface="+mn-lt"/>
                <a:cs typeface="+mn-lt"/>
              </a:rPr>
              <a:t>    When a student navigates to "/clubs/9999"</a:t>
            </a:r>
            <a:endParaRPr lang="en-US"/>
          </a:p>
          <a:p>
            <a:r>
              <a:rPr lang="en-US" sz="1600">
                <a:ea typeface="+mn-lt"/>
                <a:cs typeface="+mn-lt"/>
              </a:rPr>
              <a:t>    Then a "Club not found" page is shown</a:t>
            </a:r>
            <a:endParaRPr lang="en-US"/>
          </a:p>
          <a:p>
            <a:endParaRPr lang="en-US" sz="1600"/>
          </a:p>
          <a:p>
            <a:endParaRPr lang="en-US"/>
          </a:p>
        </p:txBody>
      </p:sp>
    </p:spTree>
    <p:extLst>
      <p:ext uri="{BB962C8B-B14F-4D97-AF65-F5344CB8AC3E}">
        <p14:creationId xmlns:p14="http://schemas.microsoft.com/office/powerpoint/2010/main" val="4165255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1E7FF-D87F-9C0B-D64E-CB43E816F0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A7B81A-EA6D-4F99-F22E-3538AA79F0D5}"/>
              </a:ext>
            </a:extLst>
          </p:cNvPr>
          <p:cNvSpPr>
            <a:spLocks noGrp="1"/>
          </p:cNvSpPr>
          <p:nvPr>
            <p:ph type="title"/>
          </p:nvPr>
        </p:nvSpPr>
        <p:spPr/>
        <p:txBody>
          <a:bodyPr>
            <a:normAutofit fontScale="90000"/>
          </a:bodyPr>
          <a:lstStyle/>
          <a:p>
            <a:r>
              <a:rPr lang="en-US">
                <a:solidFill>
                  <a:srgbClr val="2C3E50"/>
                </a:solidFill>
              </a:rPr>
              <a:t>FR-002.5: front end: Club registration submission</a:t>
            </a:r>
            <a:endParaRPr lang="en-US"/>
          </a:p>
        </p:txBody>
      </p:sp>
      <p:sp>
        <p:nvSpPr>
          <p:cNvPr id="3" name="Content Placeholder 2">
            <a:extLst>
              <a:ext uri="{FF2B5EF4-FFF2-40B4-BE49-F238E27FC236}">
                <a16:creationId xmlns:a16="http://schemas.microsoft.com/office/drawing/2014/main" id="{283E6941-1347-6050-C2DF-749B2A748DED}"/>
              </a:ext>
            </a:extLst>
          </p:cNvPr>
          <p:cNvSpPr>
            <a:spLocks noGrp="1"/>
          </p:cNvSpPr>
          <p:nvPr>
            <p:ph idx="1"/>
          </p:nvPr>
        </p:nvSpPr>
        <p:spPr>
          <a:xfrm>
            <a:off x="731520" y="1710870"/>
            <a:ext cx="5363270" cy="4872809"/>
          </a:xfrm>
        </p:spPr>
        <p:txBody>
          <a:bodyPr vert="horz" lIns="91440" tIns="45720" rIns="91440" bIns="45720" rtlCol="0" anchor="t">
            <a:normAutofit fontScale="70000" lnSpcReduction="20000"/>
          </a:bodyPr>
          <a:lstStyle/>
          <a:p>
            <a:r>
              <a:rPr lang="en-US"/>
              <a:t>Functionality: The front end </a:t>
            </a:r>
            <a:r>
              <a:rPr lang="en-US" err="1"/>
              <a:t>wil</a:t>
            </a:r>
            <a:r>
              <a:rPr lang="en-US"/>
              <a:t>l serve an html club registration form that can be successfully submitted.</a:t>
            </a:r>
          </a:p>
          <a:p>
            <a:r>
              <a:rPr lang="en-US"/>
              <a:t>User Stories: As a student who submitted a club registration, I need confirmation of my submission and a way to check its status, so that I know my request went through and whether it was approved.</a:t>
            </a:r>
          </a:p>
          <a:p>
            <a:r>
              <a:rPr lang="en-US"/>
              <a:t>Acceptance Criteria: </a:t>
            </a:r>
            <a:br>
              <a:rPr lang="en-US"/>
            </a:br>
            <a:r>
              <a:rPr lang="en-US">
                <a:ea typeface="+mn-lt"/>
                <a:cs typeface="+mn-lt"/>
              </a:rPr>
              <a:t>Feature: Club registration submission UI</a:t>
            </a:r>
          </a:p>
          <a:p>
            <a:r>
              <a:rPr lang="en-US">
                <a:ea typeface="+mn-lt"/>
                <a:cs typeface="+mn-lt"/>
              </a:rPr>
              <a:t>  Scenario: Confirmation after submitting</a:t>
            </a:r>
            <a:endParaRPr lang="en-US"/>
          </a:p>
          <a:p>
            <a:r>
              <a:rPr lang="en-US">
                <a:ea typeface="+mn-lt"/>
                <a:cs typeface="+mn-lt"/>
              </a:rPr>
              <a:t>    Given a student successfully submits a registration for "Chess Club"</a:t>
            </a:r>
          </a:p>
          <a:p>
            <a:r>
              <a:rPr lang="en-US">
                <a:ea typeface="+mn-lt"/>
                <a:cs typeface="+mn-lt"/>
              </a:rPr>
              <a:t>    When the confirmation page loads</a:t>
            </a:r>
            <a:endParaRPr lang="en-US"/>
          </a:p>
          <a:p>
            <a:r>
              <a:rPr lang="en-US">
                <a:ea typeface="+mn-lt"/>
                <a:cs typeface="+mn-lt"/>
              </a:rPr>
              <a:t>    Then a success message says the request is awaiting admin approval</a:t>
            </a:r>
            <a:endParaRPr lang="en-US"/>
          </a:p>
          <a:p>
            <a:r>
              <a:rPr lang="en-US">
                <a:ea typeface="+mn-lt"/>
                <a:cs typeface="+mn-lt"/>
              </a:rPr>
              <a:t>    And a summary of the submitted details is shown</a:t>
            </a:r>
            <a:endParaRPr lang="en-US"/>
          </a:p>
          <a:p>
            <a:r>
              <a:rPr lang="en-US">
                <a:ea typeface="+mn-lt"/>
                <a:cs typeface="+mn-lt"/>
              </a:rPr>
              <a:t>    And a link to "My Club Requests" is shown</a:t>
            </a:r>
          </a:p>
          <a:p>
            <a:r>
              <a:rPr lang="en-US">
                <a:ea typeface="+mn-lt"/>
                <a:cs typeface="+mn-lt"/>
              </a:rPr>
              <a:t>  Scenario: Viewing request status</a:t>
            </a:r>
            <a:endParaRPr lang="en-US"/>
          </a:p>
          <a:p>
            <a:r>
              <a:rPr lang="en-US">
                <a:ea typeface="+mn-lt"/>
                <a:cs typeface="+mn-lt"/>
              </a:rPr>
              <a:t>    Given a student has submitted "Chess Club" and "Hiking Club"</a:t>
            </a:r>
          </a:p>
          <a:p>
            <a:r>
              <a:rPr lang="en-US">
                <a:ea typeface="+mn-lt"/>
                <a:cs typeface="+mn-lt"/>
              </a:rPr>
              <a:t>    When the student opens "My Club Requests"</a:t>
            </a:r>
          </a:p>
          <a:p>
            <a:r>
              <a:rPr lang="en-US">
                <a:ea typeface="+mn-lt"/>
                <a:cs typeface="+mn-lt"/>
              </a:rPr>
              <a:t>    Then both requests are listed with their status and submission date</a:t>
            </a:r>
            <a:endParaRPr lang="en-US"/>
          </a:p>
          <a:p>
            <a:endParaRPr lang="en-US"/>
          </a:p>
          <a:p>
            <a:endParaRPr lang="en-US"/>
          </a:p>
        </p:txBody>
      </p:sp>
      <p:sp>
        <p:nvSpPr>
          <p:cNvPr id="5" name="Content Placeholder 2">
            <a:extLst>
              <a:ext uri="{FF2B5EF4-FFF2-40B4-BE49-F238E27FC236}">
                <a16:creationId xmlns:a16="http://schemas.microsoft.com/office/drawing/2014/main" id="{52E218F6-FA36-7829-52C6-CA772767A479}"/>
              </a:ext>
            </a:extLst>
          </p:cNvPr>
          <p:cNvSpPr txBox="1">
            <a:spLocks/>
          </p:cNvSpPr>
          <p:nvPr/>
        </p:nvSpPr>
        <p:spPr>
          <a:xfrm>
            <a:off x="6092660" y="1706695"/>
            <a:ext cx="5363270" cy="4872809"/>
          </a:xfrm>
          <a:prstGeom prst="rect">
            <a:avLst/>
          </a:prstGeom>
        </p:spPr>
        <p:txBody>
          <a:bodyPr vert="horz" lIns="91440" tIns="45720" rIns="91440" bIns="45720" rtlCol="0" anchor="t">
            <a:normAutofit fontScale="92500" lnSpcReduction="20000"/>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Acceptance Criteria: </a:t>
            </a:r>
            <a:br>
              <a:rPr lang="en-US" sz="1600"/>
            </a:br>
            <a:r>
              <a:rPr lang="en-US" sz="1600">
                <a:ea typeface="+mn-lt"/>
                <a:cs typeface="+mn-lt"/>
              </a:rPr>
              <a:t>Scenario: Approved request links to club page</a:t>
            </a:r>
            <a:endParaRPr lang="en-US"/>
          </a:p>
          <a:p>
            <a:r>
              <a:rPr lang="en-US" sz="1600">
                <a:ea typeface="+mn-lt"/>
                <a:cs typeface="+mn-lt"/>
              </a:rPr>
              <a:t>    Given the student's "Chess Club" request has status "APPROVED"</a:t>
            </a:r>
            <a:endParaRPr lang="en-US">
              <a:ea typeface="+mn-lt"/>
              <a:cs typeface="+mn-lt"/>
            </a:endParaRPr>
          </a:p>
          <a:p>
            <a:r>
              <a:rPr lang="en-US" sz="1600">
                <a:ea typeface="+mn-lt"/>
                <a:cs typeface="+mn-lt"/>
              </a:rPr>
              <a:t>    When the student views "My Club Requests"</a:t>
            </a:r>
            <a:endParaRPr lang="en-US"/>
          </a:p>
          <a:p>
            <a:r>
              <a:rPr lang="en-US" sz="1600">
                <a:ea typeface="+mn-lt"/>
                <a:cs typeface="+mn-lt"/>
              </a:rPr>
              <a:t>    Then "Chess Club" shows status "Approved" with a link to its club page</a:t>
            </a:r>
            <a:endParaRPr lang="en-US">
              <a:ea typeface="+mn-lt"/>
              <a:cs typeface="+mn-lt"/>
            </a:endParaRPr>
          </a:p>
          <a:p>
            <a:r>
              <a:rPr lang="en-US" sz="1600">
                <a:ea typeface="+mn-lt"/>
                <a:cs typeface="+mn-lt"/>
              </a:rPr>
              <a:t>  Scenario: Rejected request shows reason</a:t>
            </a:r>
            <a:endParaRPr lang="en-US"/>
          </a:p>
          <a:p>
            <a:r>
              <a:rPr lang="en-US" sz="1600">
                <a:ea typeface="+mn-lt"/>
                <a:cs typeface="+mn-lt"/>
              </a:rPr>
              <a:t>    Given the student's "Hiking Club" request was rejected with the reason "Duplicate of Outdoors Club"</a:t>
            </a:r>
            <a:endParaRPr lang="en-US">
              <a:ea typeface="+mn-lt"/>
              <a:cs typeface="+mn-lt"/>
            </a:endParaRPr>
          </a:p>
          <a:p>
            <a:r>
              <a:rPr lang="en-US" sz="1600">
                <a:ea typeface="+mn-lt"/>
                <a:cs typeface="+mn-lt"/>
              </a:rPr>
              <a:t>    When the student views "My Club Requests"</a:t>
            </a:r>
            <a:endParaRPr lang="en-US">
              <a:ea typeface="+mn-lt"/>
              <a:cs typeface="+mn-lt"/>
            </a:endParaRPr>
          </a:p>
          <a:p>
            <a:r>
              <a:rPr lang="en-US" sz="1600">
                <a:ea typeface="+mn-lt"/>
                <a:cs typeface="+mn-lt"/>
              </a:rPr>
              <a:t>    Then "Hiking Club" shows status "Rejected" and the reason</a:t>
            </a:r>
            <a:endParaRPr lang="en-US"/>
          </a:p>
          <a:p>
            <a:r>
              <a:rPr lang="en-US" sz="1600">
                <a:ea typeface="+mn-lt"/>
                <a:cs typeface="+mn-lt"/>
              </a:rPr>
              <a:t>  Scenario: No requests yet</a:t>
            </a:r>
            <a:endParaRPr lang="en-US"/>
          </a:p>
          <a:p>
            <a:r>
              <a:rPr lang="en-US" sz="1600">
                <a:ea typeface="+mn-lt"/>
                <a:cs typeface="+mn-lt"/>
              </a:rPr>
              <a:t>    Given a student has never submitted a registration</a:t>
            </a:r>
            <a:endParaRPr lang="en-US"/>
          </a:p>
          <a:p>
            <a:r>
              <a:rPr lang="en-US" sz="1600">
                <a:ea typeface="+mn-lt"/>
                <a:cs typeface="+mn-lt"/>
              </a:rPr>
              <a:t>    When the student opens "My Club Requests"</a:t>
            </a:r>
            <a:endParaRPr lang="en-US">
              <a:ea typeface="+mn-lt"/>
              <a:cs typeface="+mn-lt"/>
            </a:endParaRPr>
          </a:p>
          <a:p>
            <a:r>
              <a:rPr lang="en-US" sz="1600">
                <a:ea typeface="+mn-lt"/>
                <a:cs typeface="+mn-lt"/>
              </a:rPr>
              <a:t>    Then a message says they have no club requests and links to the registration form</a:t>
            </a:r>
            <a:endParaRPr lang="en-US"/>
          </a:p>
          <a:p>
            <a:endParaRPr lang="en-US" sz="1600"/>
          </a:p>
          <a:p>
            <a:endParaRPr lang="en-US"/>
          </a:p>
        </p:txBody>
      </p:sp>
    </p:spTree>
    <p:extLst>
      <p:ext uri="{BB962C8B-B14F-4D97-AF65-F5344CB8AC3E}">
        <p14:creationId xmlns:p14="http://schemas.microsoft.com/office/powerpoint/2010/main" val="12664440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314D9-F715-A587-EAB8-DAC4DCA358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52BED0-2A82-BEAF-D020-8DD9256CD36D}"/>
              </a:ext>
            </a:extLst>
          </p:cNvPr>
          <p:cNvSpPr>
            <a:spLocks noGrp="1"/>
          </p:cNvSpPr>
          <p:nvPr>
            <p:ph type="title"/>
          </p:nvPr>
        </p:nvSpPr>
        <p:spPr/>
        <p:txBody>
          <a:bodyPr>
            <a:normAutofit/>
          </a:bodyPr>
          <a:lstStyle/>
          <a:p>
            <a:r>
              <a:rPr lang="en-US">
                <a:solidFill>
                  <a:srgbClr val="2C3E50"/>
                </a:solidFill>
              </a:rPr>
              <a:t>FR-003.1: Back end: club search</a:t>
            </a:r>
            <a:endParaRPr lang="en-US"/>
          </a:p>
        </p:txBody>
      </p:sp>
      <p:sp>
        <p:nvSpPr>
          <p:cNvPr id="3" name="Content Placeholder 2">
            <a:extLst>
              <a:ext uri="{FF2B5EF4-FFF2-40B4-BE49-F238E27FC236}">
                <a16:creationId xmlns:a16="http://schemas.microsoft.com/office/drawing/2014/main" id="{2A6E6B08-A4D7-419D-77A1-DDC9914DCE76}"/>
              </a:ext>
            </a:extLst>
          </p:cNvPr>
          <p:cNvSpPr>
            <a:spLocks noGrp="1"/>
          </p:cNvSpPr>
          <p:nvPr>
            <p:ph idx="1"/>
          </p:nvPr>
        </p:nvSpPr>
        <p:spPr>
          <a:xfrm>
            <a:off x="731520" y="1710870"/>
            <a:ext cx="5363270" cy="4872809"/>
          </a:xfrm>
        </p:spPr>
        <p:txBody>
          <a:bodyPr vert="horz" lIns="91440" tIns="45720" rIns="91440" bIns="45720" rtlCol="0" anchor="t">
            <a:normAutofit fontScale="85000" lnSpcReduction="20000"/>
          </a:bodyPr>
          <a:lstStyle/>
          <a:p>
            <a:r>
              <a:rPr lang="en-US"/>
              <a:t>Functionality: The back end is able to search for clubs based on club name or area of interest.</a:t>
            </a:r>
          </a:p>
          <a:p>
            <a:r>
              <a:rPr lang="en-US"/>
              <a:t>User Stories: As a student, I need the backend to search clubs by name, category, and keywords, so that I can quickly find clubs that match my interests.</a:t>
            </a:r>
          </a:p>
          <a:p>
            <a:r>
              <a:rPr lang="en-US"/>
              <a:t>Acceptance Criteria: </a:t>
            </a:r>
            <a:br>
              <a:rPr lang="en-US"/>
            </a:br>
            <a:r>
              <a:rPr lang="en-US">
                <a:ea typeface="+mn-lt"/>
                <a:cs typeface="+mn-lt"/>
              </a:rPr>
              <a:t>Feature: Club search backend</a:t>
            </a:r>
          </a:p>
          <a:p>
            <a:r>
              <a:rPr lang="en-US">
                <a:ea typeface="+mn-lt"/>
                <a:cs typeface="+mn-lt"/>
              </a:rPr>
              <a:t>  Scenario: Search by keyword</a:t>
            </a:r>
            <a:endParaRPr lang="en-US"/>
          </a:p>
          <a:p>
            <a:r>
              <a:rPr lang="en-US">
                <a:ea typeface="+mn-lt"/>
                <a:cs typeface="+mn-lt"/>
              </a:rPr>
              <a:t>    Given approved clubs "Chess Club" and "Chess &amp; Strategy Games" exist</a:t>
            </a:r>
            <a:endParaRPr lang="en-US"/>
          </a:p>
          <a:p>
            <a:r>
              <a:rPr lang="en-US">
                <a:ea typeface="+mn-lt"/>
                <a:cs typeface="+mn-lt"/>
              </a:rPr>
              <a:t>    When a search is performed with the keyword "chess"</a:t>
            </a:r>
          </a:p>
          <a:p>
            <a:r>
              <a:rPr lang="en-US">
                <a:ea typeface="+mn-lt"/>
                <a:cs typeface="+mn-lt"/>
              </a:rPr>
              <a:t>    Then both clubs are returned</a:t>
            </a:r>
            <a:endParaRPr lang="en-US"/>
          </a:p>
          <a:p>
            <a:r>
              <a:rPr lang="en-US">
                <a:ea typeface="+mn-lt"/>
                <a:cs typeface="+mn-lt"/>
              </a:rPr>
              <a:t>  Scenario: Keyword matches description</a:t>
            </a:r>
            <a:endParaRPr lang="en-US"/>
          </a:p>
          <a:p>
            <a:r>
              <a:rPr lang="en-US">
                <a:ea typeface="+mn-lt"/>
                <a:cs typeface="+mn-lt"/>
              </a:rPr>
              <a:t>    Given an approved club "Board Game Society" has "chess" in its description</a:t>
            </a:r>
            <a:endParaRPr lang="en-US"/>
          </a:p>
          <a:p>
            <a:r>
              <a:rPr lang="en-US">
                <a:ea typeface="+mn-lt"/>
                <a:cs typeface="+mn-lt"/>
              </a:rPr>
              <a:t>    When a search is performed with the keyword "chess"</a:t>
            </a:r>
          </a:p>
          <a:p>
            <a:r>
              <a:rPr lang="en-US">
                <a:ea typeface="+mn-lt"/>
                <a:cs typeface="+mn-lt"/>
              </a:rPr>
              <a:t>    Then "Board Game Society" is included in the results</a:t>
            </a:r>
            <a:endParaRPr lang="en-US"/>
          </a:p>
          <a:p>
            <a:endParaRPr lang="en-US"/>
          </a:p>
          <a:p>
            <a:endParaRPr lang="en-US"/>
          </a:p>
        </p:txBody>
      </p:sp>
      <p:sp>
        <p:nvSpPr>
          <p:cNvPr id="5" name="Content Placeholder 2">
            <a:extLst>
              <a:ext uri="{FF2B5EF4-FFF2-40B4-BE49-F238E27FC236}">
                <a16:creationId xmlns:a16="http://schemas.microsoft.com/office/drawing/2014/main" id="{3A718727-67B5-CE9E-D749-93287E3E1817}"/>
              </a:ext>
            </a:extLst>
          </p:cNvPr>
          <p:cNvSpPr txBox="1">
            <a:spLocks/>
          </p:cNvSpPr>
          <p:nvPr/>
        </p:nvSpPr>
        <p:spPr>
          <a:xfrm>
            <a:off x="6092660" y="1706695"/>
            <a:ext cx="5363270" cy="4872809"/>
          </a:xfrm>
          <a:prstGeom prst="rect">
            <a:avLst/>
          </a:prstGeom>
        </p:spPr>
        <p:txBody>
          <a:bodyPr vert="horz" lIns="91440" tIns="45720" rIns="91440" bIns="45720" rtlCol="0" anchor="t">
            <a:normAutofit fontScale="77500" lnSpcReduction="20000"/>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Acceptance Criteria: </a:t>
            </a:r>
            <a:br>
              <a:rPr lang="en-US" sz="1600"/>
            </a:br>
            <a:r>
              <a:rPr lang="en-US" sz="1600">
                <a:ea typeface="+mn-lt"/>
                <a:cs typeface="+mn-lt"/>
              </a:rPr>
              <a:t>Scenario: Filter by category</a:t>
            </a:r>
            <a:endParaRPr lang="en-US"/>
          </a:p>
          <a:p>
            <a:r>
              <a:rPr lang="en-US" sz="1600">
                <a:ea typeface="+mn-lt"/>
                <a:cs typeface="+mn-lt"/>
              </a:rPr>
              <a:t>    Given approved clubs exist in the "Sports" and "Academic" categories</a:t>
            </a:r>
            <a:endParaRPr lang="en-US"/>
          </a:p>
          <a:p>
            <a:r>
              <a:rPr lang="en-US" sz="1600">
                <a:ea typeface="+mn-lt"/>
                <a:cs typeface="+mn-lt"/>
              </a:rPr>
              <a:t>    When a search is performed with category "Sports"</a:t>
            </a:r>
            <a:endParaRPr lang="en-US">
              <a:ea typeface="+mn-lt"/>
              <a:cs typeface="+mn-lt"/>
            </a:endParaRPr>
          </a:p>
          <a:p>
            <a:r>
              <a:rPr lang="en-US" sz="1600">
                <a:ea typeface="+mn-lt"/>
                <a:cs typeface="+mn-lt"/>
              </a:rPr>
              <a:t>    Then only clubs in the "Sports" category are returned</a:t>
            </a:r>
            <a:endParaRPr lang="en-US"/>
          </a:p>
          <a:p>
            <a:r>
              <a:rPr lang="en-US" sz="1600">
                <a:ea typeface="+mn-lt"/>
                <a:cs typeface="+mn-lt"/>
              </a:rPr>
              <a:t>  Scenario: Keyword and category combined</a:t>
            </a:r>
            <a:endParaRPr lang="en-US"/>
          </a:p>
          <a:p>
            <a:r>
              <a:rPr lang="en-US" sz="1600">
                <a:ea typeface="+mn-lt"/>
                <a:cs typeface="+mn-lt"/>
              </a:rPr>
              <a:t>    Given "Chess Club" is "Academic" and "Chess Boxing" is "Sports"</a:t>
            </a:r>
            <a:endParaRPr lang="en-US"/>
          </a:p>
          <a:p>
            <a:r>
              <a:rPr lang="en-US" sz="1600">
                <a:ea typeface="+mn-lt"/>
                <a:cs typeface="+mn-lt"/>
              </a:rPr>
              <a:t>    When a search is performed with keyword "chess" and category "Sports"</a:t>
            </a:r>
            <a:endParaRPr lang="en-US"/>
          </a:p>
          <a:p>
            <a:r>
              <a:rPr lang="en-US" sz="1600">
                <a:ea typeface="+mn-lt"/>
                <a:cs typeface="+mn-lt"/>
              </a:rPr>
              <a:t>    Then only "Chess Boxing" is returned</a:t>
            </a:r>
            <a:endParaRPr lang="en-US"/>
          </a:p>
          <a:p>
            <a:r>
              <a:rPr lang="en-US" sz="1600">
                <a:ea typeface="+mn-lt"/>
                <a:cs typeface="+mn-lt"/>
              </a:rPr>
              <a:t>  Scenario: Pending clubs excluded</a:t>
            </a:r>
            <a:endParaRPr lang="en-US"/>
          </a:p>
          <a:p>
            <a:r>
              <a:rPr lang="en-US" sz="1600">
                <a:ea typeface="+mn-lt"/>
                <a:cs typeface="+mn-lt"/>
              </a:rPr>
              <a:t>    Given "Robotics Club" has status "PENDING"</a:t>
            </a:r>
            <a:endParaRPr lang="en-US">
              <a:ea typeface="+mn-lt"/>
              <a:cs typeface="+mn-lt"/>
            </a:endParaRPr>
          </a:p>
          <a:p>
            <a:r>
              <a:rPr lang="en-US" sz="1600">
                <a:ea typeface="+mn-lt"/>
                <a:cs typeface="+mn-lt"/>
              </a:rPr>
              <a:t>    When a search is performed with keyword "robotics"</a:t>
            </a:r>
            <a:endParaRPr lang="en-US">
              <a:ea typeface="+mn-lt"/>
              <a:cs typeface="+mn-lt"/>
            </a:endParaRPr>
          </a:p>
          <a:p>
            <a:r>
              <a:rPr lang="en-US" sz="1600">
                <a:ea typeface="+mn-lt"/>
                <a:cs typeface="+mn-lt"/>
              </a:rPr>
              <a:t>    Then "Robotics Club" is not returned</a:t>
            </a:r>
            <a:endParaRPr lang="en-US"/>
          </a:p>
          <a:p>
            <a:r>
              <a:rPr lang="en-US" sz="1600">
                <a:ea typeface="+mn-lt"/>
                <a:cs typeface="+mn-lt"/>
              </a:rPr>
              <a:t>  Scenario: No parameters</a:t>
            </a:r>
            <a:endParaRPr lang="en-US"/>
          </a:p>
          <a:p>
            <a:r>
              <a:rPr lang="en-US" sz="1600">
                <a:ea typeface="+mn-lt"/>
                <a:cs typeface="+mn-lt"/>
              </a:rPr>
              <a:t>    When a search is performed with no keyword or category</a:t>
            </a:r>
            <a:endParaRPr lang="en-US"/>
          </a:p>
          <a:p>
            <a:r>
              <a:rPr lang="en-US" sz="1600">
                <a:ea typeface="+mn-lt"/>
                <a:cs typeface="+mn-lt"/>
              </a:rPr>
              <a:t>    Then all approved clubs are returned in alphabetical order</a:t>
            </a:r>
            <a:endParaRPr lang="en-US"/>
          </a:p>
          <a:p>
            <a:endParaRPr lang="en-US" sz="1600"/>
          </a:p>
          <a:p>
            <a:endParaRPr lang="en-US"/>
          </a:p>
        </p:txBody>
      </p:sp>
    </p:spTree>
    <p:extLst>
      <p:ext uri="{BB962C8B-B14F-4D97-AF65-F5344CB8AC3E}">
        <p14:creationId xmlns:p14="http://schemas.microsoft.com/office/powerpoint/2010/main" val="36024296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85B37-5FE5-3D08-EB78-D07CF94C82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1374F2-BD15-EBFA-F062-F4E59C444E09}"/>
              </a:ext>
            </a:extLst>
          </p:cNvPr>
          <p:cNvSpPr>
            <a:spLocks noGrp="1"/>
          </p:cNvSpPr>
          <p:nvPr>
            <p:ph type="title"/>
          </p:nvPr>
        </p:nvSpPr>
        <p:spPr/>
        <p:txBody>
          <a:bodyPr>
            <a:normAutofit/>
          </a:bodyPr>
          <a:lstStyle/>
          <a:p>
            <a:r>
              <a:rPr lang="en-US">
                <a:solidFill>
                  <a:srgbClr val="2C3E50"/>
                </a:solidFill>
              </a:rPr>
              <a:t>FR-003.2: front end: club search</a:t>
            </a:r>
            <a:endParaRPr lang="en-US"/>
          </a:p>
        </p:txBody>
      </p:sp>
      <p:sp>
        <p:nvSpPr>
          <p:cNvPr id="3" name="Content Placeholder 2">
            <a:extLst>
              <a:ext uri="{FF2B5EF4-FFF2-40B4-BE49-F238E27FC236}">
                <a16:creationId xmlns:a16="http://schemas.microsoft.com/office/drawing/2014/main" id="{0EDDC8BC-163F-A22A-361D-3DC755ECF336}"/>
              </a:ext>
            </a:extLst>
          </p:cNvPr>
          <p:cNvSpPr>
            <a:spLocks noGrp="1"/>
          </p:cNvSpPr>
          <p:nvPr>
            <p:ph idx="1"/>
          </p:nvPr>
        </p:nvSpPr>
        <p:spPr>
          <a:xfrm>
            <a:off x="731520" y="1710870"/>
            <a:ext cx="5363270" cy="4872809"/>
          </a:xfrm>
        </p:spPr>
        <p:txBody>
          <a:bodyPr vert="horz" lIns="91440" tIns="45720" rIns="91440" bIns="45720" rtlCol="0" anchor="t">
            <a:normAutofit fontScale="62500" lnSpcReduction="20000"/>
          </a:bodyPr>
          <a:lstStyle/>
          <a:p>
            <a:r>
              <a:rPr lang="en-US"/>
              <a:t>Functionality: The front end is able to receive input values from the user to successfully search through the database and show clubs that match a club name or area of interest.</a:t>
            </a:r>
          </a:p>
          <a:p>
            <a:r>
              <a:rPr lang="en-US"/>
              <a:t>User Stories: As a student, I need a search bar and filters on the club search page, so that I can browse and find clubs easily.</a:t>
            </a:r>
          </a:p>
          <a:p>
            <a:r>
              <a:rPr lang="en-US"/>
              <a:t>Acceptance Criteria: </a:t>
            </a:r>
            <a:br>
              <a:rPr lang="en-US"/>
            </a:br>
            <a:r>
              <a:rPr lang="en-US">
                <a:ea typeface="+mn-lt"/>
                <a:cs typeface="+mn-lt"/>
              </a:rPr>
              <a:t>Feature: Club search UI</a:t>
            </a:r>
          </a:p>
          <a:p>
            <a:r>
              <a:rPr lang="en-US">
                <a:ea typeface="+mn-lt"/>
                <a:cs typeface="+mn-lt"/>
              </a:rPr>
              <a:t>  Scenario: Searching shows matching clubs</a:t>
            </a:r>
            <a:endParaRPr lang="en-US"/>
          </a:p>
          <a:p>
            <a:r>
              <a:rPr lang="en-US">
                <a:ea typeface="+mn-lt"/>
                <a:cs typeface="+mn-lt"/>
              </a:rPr>
              <a:t>    Given a student is on the club list page</a:t>
            </a:r>
            <a:endParaRPr lang="en-US"/>
          </a:p>
          <a:p>
            <a:r>
              <a:rPr lang="en-US">
                <a:ea typeface="+mn-lt"/>
                <a:cs typeface="+mn-lt"/>
              </a:rPr>
              <a:t>    When the student enters "chess" and clicks Search</a:t>
            </a:r>
            <a:endParaRPr lang="en-US"/>
          </a:p>
          <a:p>
            <a:r>
              <a:rPr lang="en-US">
                <a:ea typeface="+mn-lt"/>
                <a:cs typeface="+mn-lt"/>
              </a:rPr>
              <a:t>    Then matching clubs are displayed with name, category, and description snippet</a:t>
            </a:r>
            <a:endParaRPr lang="en-US"/>
          </a:p>
          <a:p>
            <a:r>
              <a:rPr lang="en-US">
                <a:ea typeface="+mn-lt"/>
                <a:cs typeface="+mn-lt"/>
              </a:rPr>
              <a:t>    And the search box still contains "chess"</a:t>
            </a:r>
            <a:endParaRPr lang="en-US"/>
          </a:p>
          <a:p>
            <a:endParaRPr lang="en-US">
              <a:ea typeface="+mn-lt"/>
              <a:cs typeface="+mn-lt"/>
            </a:endParaRPr>
          </a:p>
          <a:p>
            <a:r>
              <a:rPr lang="en-US">
                <a:ea typeface="+mn-lt"/>
                <a:cs typeface="+mn-lt"/>
              </a:rPr>
              <a:t>  Scenario: Filtering by category</a:t>
            </a:r>
            <a:endParaRPr lang="en-US"/>
          </a:p>
          <a:p>
            <a:r>
              <a:rPr lang="en-US">
                <a:ea typeface="+mn-lt"/>
                <a:cs typeface="+mn-lt"/>
              </a:rPr>
              <a:t>    Given a student is on the club list page</a:t>
            </a:r>
            <a:endParaRPr lang="en-US"/>
          </a:p>
          <a:p>
            <a:r>
              <a:rPr lang="en-US">
                <a:ea typeface="+mn-lt"/>
                <a:cs typeface="+mn-lt"/>
              </a:rPr>
              <a:t>    When the student selects "Sports" from the category dropdown and clicks Search</a:t>
            </a:r>
            <a:endParaRPr lang="en-US"/>
          </a:p>
          <a:p>
            <a:r>
              <a:rPr lang="en-US">
                <a:ea typeface="+mn-lt"/>
                <a:cs typeface="+mn-lt"/>
              </a:rPr>
              <a:t>    Then only Sports clubs are displayed</a:t>
            </a:r>
            <a:endParaRPr lang="en-US"/>
          </a:p>
          <a:p>
            <a:r>
              <a:rPr lang="en-US">
                <a:ea typeface="+mn-lt"/>
                <a:cs typeface="+mn-lt"/>
              </a:rPr>
              <a:t>    And "Sports" remains selected in the dropdown</a:t>
            </a:r>
            <a:endParaRPr lang="en-US"/>
          </a:p>
          <a:p>
            <a:endParaRPr lang="en-US"/>
          </a:p>
        </p:txBody>
      </p:sp>
      <p:sp>
        <p:nvSpPr>
          <p:cNvPr id="5" name="Content Placeholder 2">
            <a:extLst>
              <a:ext uri="{FF2B5EF4-FFF2-40B4-BE49-F238E27FC236}">
                <a16:creationId xmlns:a16="http://schemas.microsoft.com/office/drawing/2014/main" id="{B6F72385-6659-3294-27CE-936D1CC660EE}"/>
              </a:ext>
            </a:extLst>
          </p:cNvPr>
          <p:cNvSpPr txBox="1">
            <a:spLocks/>
          </p:cNvSpPr>
          <p:nvPr/>
        </p:nvSpPr>
        <p:spPr>
          <a:xfrm>
            <a:off x="6092660" y="1706695"/>
            <a:ext cx="5363270" cy="4872809"/>
          </a:xfrm>
          <a:prstGeom prst="rect">
            <a:avLst/>
          </a:prstGeom>
        </p:spPr>
        <p:txBody>
          <a:bodyPr vert="horz" lIns="91440" tIns="45720" rIns="91440" bIns="45720" rtlCol="0" anchor="t">
            <a:normAutofit fontScale="77500" lnSpcReduction="20000"/>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2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t>Acceptance Criteria: </a:t>
            </a:r>
            <a:br>
              <a:rPr lang="en-US" sz="1600"/>
            </a:br>
            <a:r>
              <a:rPr lang="en-US" sz="1600">
                <a:ea typeface="+mn-lt"/>
                <a:cs typeface="+mn-lt"/>
              </a:rPr>
              <a:t>Scenario: No results</a:t>
            </a:r>
            <a:endParaRPr lang="en-US"/>
          </a:p>
          <a:p>
            <a:r>
              <a:rPr lang="en-US" sz="1600">
                <a:ea typeface="+mn-lt"/>
                <a:cs typeface="+mn-lt"/>
              </a:rPr>
              <a:t>    Given no clubs match the keyword "underwater basket weaving"</a:t>
            </a:r>
            <a:endParaRPr lang="en-US">
              <a:ea typeface="+mn-lt"/>
              <a:cs typeface="+mn-lt"/>
            </a:endParaRPr>
          </a:p>
          <a:p>
            <a:r>
              <a:rPr lang="en-US" sz="1600">
                <a:ea typeface="+mn-lt"/>
                <a:cs typeface="+mn-lt"/>
              </a:rPr>
              <a:t>    When the student searches for it</a:t>
            </a:r>
            <a:endParaRPr lang="en-US"/>
          </a:p>
          <a:p>
            <a:r>
              <a:rPr lang="en-US" sz="1600">
                <a:ea typeface="+mn-lt"/>
                <a:cs typeface="+mn-lt"/>
              </a:rPr>
              <a:t>    Then a "No clubs found" message is shown</a:t>
            </a:r>
            <a:endParaRPr lang="en-US"/>
          </a:p>
          <a:p>
            <a:r>
              <a:rPr lang="en-US" sz="1600">
                <a:ea typeface="+mn-lt"/>
                <a:cs typeface="+mn-lt"/>
              </a:rPr>
              <a:t>    And a "Clear filters" option is available</a:t>
            </a:r>
            <a:endParaRPr lang="en-US"/>
          </a:p>
          <a:p>
            <a:endParaRPr lang="en-US"/>
          </a:p>
          <a:p>
            <a:r>
              <a:rPr lang="en-US" sz="1600">
                <a:ea typeface="+mn-lt"/>
                <a:cs typeface="+mn-lt"/>
              </a:rPr>
              <a:t>  Scenario: Opening a club from results</a:t>
            </a:r>
            <a:endParaRPr lang="en-US"/>
          </a:p>
          <a:p>
            <a:r>
              <a:rPr lang="en-US" sz="1600">
                <a:ea typeface="+mn-lt"/>
                <a:cs typeface="+mn-lt"/>
              </a:rPr>
              <a:t>    Given search results are displayed</a:t>
            </a:r>
            <a:endParaRPr lang="en-US"/>
          </a:p>
          <a:p>
            <a:r>
              <a:rPr lang="en-US" sz="1600">
                <a:ea typeface="+mn-lt"/>
                <a:cs typeface="+mn-lt"/>
              </a:rPr>
              <a:t>    When the student clicks on "Chess Club"</a:t>
            </a:r>
            <a:endParaRPr lang="en-US">
              <a:ea typeface="+mn-lt"/>
              <a:cs typeface="+mn-lt"/>
            </a:endParaRPr>
          </a:p>
          <a:p>
            <a:r>
              <a:rPr lang="en-US" sz="1600">
                <a:ea typeface="+mn-lt"/>
                <a:cs typeface="+mn-lt"/>
              </a:rPr>
              <a:t>    Then the student is taken to the Chess Club page</a:t>
            </a:r>
            <a:endParaRPr lang="en-US"/>
          </a:p>
          <a:p>
            <a:endParaRPr lang="en-US"/>
          </a:p>
          <a:p>
            <a:r>
              <a:rPr lang="en-US" sz="1600">
                <a:ea typeface="+mn-lt"/>
                <a:cs typeface="+mn-lt"/>
              </a:rPr>
              <a:t>  Scenario: Paginated results</a:t>
            </a:r>
            <a:endParaRPr lang="en-US"/>
          </a:p>
          <a:p>
            <a:r>
              <a:rPr lang="en-US" sz="1600">
                <a:ea typeface="+mn-lt"/>
                <a:cs typeface="+mn-lt"/>
              </a:rPr>
              <a:t>    Given more than 20 clubs match a search</a:t>
            </a:r>
            <a:endParaRPr lang="en-US">
              <a:ea typeface="+mn-lt"/>
              <a:cs typeface="+mn-lt"/>
            </a:endParaRPr>
          </a:p>
          <a:p>
            <a:r>
              <a:rPr lang="en-US" sz="1600">
                <a:ea typeface="+mn-lt"/>
                <a:cs typeface="+mn-lt"/>
              </a:rPr>
              <a:t>    When the results load</a:t>
            </a:r>
            <a:endParaRPr lang="en-US"/>
          </a:p>
          <a:p>
            <a:r>
              <a:rPr lang="en-US" sz="1600">
                <a:ea typeface="+mn-lt"/>
                <a:cs typeface="+mn-lt"/>
              </a:rPr>
              <a:t>    Then the first 20 are shown with controls to view the next page</a:t>
            </a:r>
            <a:endParaRPr lang="en-US"/>
          </a:p>
          <a:p>
            <a:endParaRPr lang="en-US" sz="1600"/>
          </a:p>
          <a:p>
            <a:endParaRPr lang="en-US"/>
          </a:p>
        </p:txBody>
      </p:sp>
    </p:spTree>
    <p:extLst>
      <p:ext uri="{BB962C8B-B14F-4D97-AF65-F5344CB8AC3E}">
        <p14:creationId xmlns:p14="http://schemas.microsoft.com/office/powerpoint/2010/main" val="26225254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F6927-BFD2-A73D-E260-D009333068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55FED3-7EBE-202F-2944-B9DC689DC661}"/>
              </a:ext>
            </a:extLst>
          </p:cNvPr>
          <p:cNvSpPr>
            <a:spLocks noGrp="1"/>
          </p:cNvSpPr>
          <p:nvPr>
            <p:ph type="title"/>
          </p:nvPr>
        </p:nvSpPr>
        <p:spPr>
          <a:xfrm>
            <a:off x="731520" y="365760"/>
            <a:ext cx="10741152" cy="1132258"/>
          </a:xfrm>
        </p:spPr>
        <p:txBody>
          <a:bodyPr vert="horz" lIns="91440" tIns="45720" rIns="91440" bIns="45720" rtlCol="0" anchor="b">
            <a:normAutofit/>
          </a:bodyPr>
          <a:lstStyle/>
          <a:p>
            <a:r>
              <a:rPr lang="en-US" kern="1200" cap="all" baseline="0">
                <a:solidFill>
                  <a:srgbClr val="2C3E50"/>
                </a:solidFill>
                <a:latin typeface="+mj-lt"/>
                <a:ea typeface="+mj-ea"/>
                <a:cs typeface="+mj-cs"/>
              </a:rPr>
              <a:t>Responsible Use of ai</a:t>
            </a:r>
          </a:p>
        </p:txBody>
      </p:sp>
      <p:sp>
        <p:nvSpPr>
          <p:cNvPr id="8" name="Content Placeholder 2">
            <a:extLst>
              <a:ext uri="{FF2B5EF4-FFF2-40B4-BE49-F238E27FC236}">
                <a16:creationId xmlns:a16="http://schemas.microsoft.com/office/drawing/2014/main" id="{9C48F758-FA02-4AAE-0315-6B963C979BEC}"/>
              </a:ext>
            </a:extLst>
          </p:cNvPr>
          <p:cNvSpPr txBox="1">
            <a:spLocks/>
          </p:cNvSpPr>
          <p:nvPr/>
        </p:nvSpPr>
        <p:spPr>
          <a:xfrm>
            <a:off x="731520" y="1658679"/>
            <a:ext cx="10780776" cy="4925000"/>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a:solidFill>
                  <a:srgbClr val="2C3E50"/>
                </a:solidFill>
              </a:rPr>
              <a:t>Sprint 1: Limited usage</a:t>
            </a:r>
          </a:p>
          <a:p>
            <a:pPr marL="605790" lvl="2" indent="-285750">
              <a:spcBef>
                <a:spcPts val="1000"/>
              </a:spcBef>
            </a:pPr>
            <a:r>
              <a:rPr lang="en-US" sz="1600" i="1">
                <a:solidFill>
                  <a:srgbClr val="2C3E50"/>
                </a:solidFill>
              </a:rPr>
              <a:t>Team priority was to understand underlying architecture before transitioning to SDD</a:t>
            </a:r>
          </a:p>
          <a:p>
            <a:pPr marL="285750" indent="-285750">
              <a:buFont typeface="Arial" panose="020B0604020202020204" pitchFamily="34" charset="0"/>
              <a:buChar char="•"/>
            </a:pPr>
            <a:r>
              <a:rPr lang="en-US">
                <a:solidFill>
                  <a:srgbClr val="2C3E50"/>
                </a:solidFill>
              </a:rPr>
              <a:t>AI served in the capacity of a tutor</a:t>
            </a:r>
          </a:p>
          <a:p>
            <a:pPr marL="788670" lvl="1" indent="-285750">
              <a:buFont typeface="Arial" panose="020B0604020202020204" pitchFamily="34" charset="0"/>
              <a:buChar char="•"/>
            </a:pPr>
            <a:r>
              <a:rPr lang="en-US">
                <a:solidFill>
                  <a:srgbClr val="2C3E50"/>
                </a:solidFill>
              </a:rPr>
              <a:t>Assisted with debugging and code correction</a:t>
            </a:r>
          </a:p>
          <a:p>
            <a:pPr marL="285750" indent="-285750">
              <a:buFont typeface="Arial" panose="020B0604020202020204" pitchFamily="34" charset="0"/>
              <a:buChar char="•"/>
            </a:pPr>
            <a:r>
              <a:rPr lang="en-US">
                <a:solidFill>
                  <a:srgbClr val="2C3E50"/>
                </a:solidFill>
              </a:rPr>
              <a:t>Repeated patterns seen in front end/backend interactions will be applied to future sprints </a:t>
            </a:r>
          </a:p>
          <a:p>
            <a:pPr marL="285750" indent="-285750">
              <a:buFont typeface="Arial" panose="020B0604020202020204" pitchFamily="34" charset="0"/>
              <a:buChar char="•"/>
            </a:pPr>
            <a:r>
              <a:rPr lang="en-US">
                <a:solidFill>
                  <a:srgbClr val="2C3E50"/>
                </a:solidFill>
              </a:rPr>
              <a:t>Meetings </a:t>
            </a:r>
          </a:p>
          <a:p>
            <a:pPr marL="788670" lvl="1" indent="-285750">
              <a:buFont typeface="Arial" panose="020B0604020202020204" pitchFamily="34" charset="0"/>
              <a:buChar char="•"/>
            </a:pPr>
            <a:r>
              <a:rPr lang="en-US">
                <a:solidFill>
                  <a:srgbClr val="2C3E50"/>
                </a:solidFill>
              </a:rPr>
              <a:t>AI was used to generate meeting summaries, and then uploaded into MoM</a:t>
            </a:r>
          </a:p>
        </p:txBody>
      </p:sp>
    </p:spTree>
    <p:extLst>
      <p:ext uri="{BB962C8B-B14F-4D97-AF65-F5344CB8AC3E}">
        <p14:creationId xmlns:p14="http://schemas.microsoft.com/office/powerpoint/2010/main" val="38562331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4A789-5C57-8315-E316-9E75C0FA8028}"/>
              </a:ext>
            </a:extLst>
          </p:cNvPr>
          <p:cNvSpPr>
            <a:spLocks noGrp="1"/>
          </p:cNvSpPr>
          <p:nvPr>
            <p:ph type="title"/>
          </p:nvPr>
        </p:nvSpPr>
        <p:spPr>
          <a:xfrm>
            <a:off x="731520" y="365760"/>
            <a:ext cx="10741152" cy="1132258"/>
          </a:xfrm>
        </p:spPr>
        <p:txBody>
          <a:bodyPr anchor="b">
            <a:normAutofit/>
          </a:bodyPr>
          <a:lstStyle/>
          <a:p>
            <a:r>
              <a:rPr lang="en-US">
                <a:solidFill>
                  <a:srgbClr val="2C3E50"/>
                </a:solidFill>
              </a:rPr>
              <a:t>Sprint review &amp; retrospective</a:t>
            </a:r>
          </a:p>
        </p:txBody>
      </p:sp>
      <p:graphicFrame>
        <p:nvGraphicFramePr>
          <p:cNvPr id="9" name="Content Placeholder 2">
            <a:extLst>
              <a:ext uri="{FF2B5EF4-FFF2-40B4-BE49-F238E27FC236}">
                <a16:creationId xmlns:a16="http://schemas.microsoft.com/office/drawing/2014/main" id="{DF52C033-7A69-1230-E8AA-4BFAF3243855}"/>
              </a:ext>
            </a:extLst>
          </p:cNvPr>
          <p:cNvGraphicFramePr>
            <a:graphicFrameLocks noGrp="1"/>
          </p:cNvGraphicFramePr>
          <p:nvPr>
            <p:ph sz="quarter" idx="13"/>
            <p:extLst>
              <p:ext uri="{D42A27DB-BD31-4B8C-83A1-F6EECF244321}">
                <p14:modId xmlns:p14="http://schemas.microsoft.com/office/powerpoint/2010/main" val="2758033029"/>
              </p:ext>
            </p:extLst>
          </p:nvPr>
        </p:nvGraphicFramePr>
        <p:xfrm>
          <a:off x="731520" y="2301836"/>
          <a:ext cx="10741150" cy="39211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92290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F23C9-AD70-E087-AB06-86BDD8121CA2}"/>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2B1D84FE-7550-752C-EB66-887BBCA37CDA}"/>
              </a:ext>
            </a:extLst>
          </p:cNvPr>
          <p:cNvSpPr>
            <a:spLocks noGrp="1"/>
          </p:cNvSpPr>
          <p:nvPr>
            <p:ph type="title"/>
          </p:nvPr>
        </p:nvSpPr>
        <p:spPr>
          <a:xfrm>
            <a:off x="731520" y="365760"/>
            <a:ext cx="10741152" cy="1132258"/>
          </a:xfrm>
        </p:spPr>
        <p:txBody>
          <a:bodyPr>
            <a:normAutofit/>
          </a:bodyPr>
          <a:lstStyle/>
          <a:p>
            <a:r>
              <a:rPr lang="en-US">
                <a:solidFill>
                  <a:srgbClr val="2C3E50"/>
                </a:solidFill>
              </a:rPr>
              <a:t>Change Development Approach </a:t>
            </a:r>
          </a:p>
        </p:txBody>
      </p:sp>
      <p:sp>
        <p:nvSpPr>
          <p:cNvPr id="24" name="Content Placeholder 23">
            <a:extLst>
              <a:ext uri="{FF2B5EF4-FFF2-40B4-BE49-F238E27FC236}">
                <a16:creationId xmlns:a16="http://schemas.microsoft.com/office/drawing/2014/main" id="{0216E221-3982-4B14-9570-AA1487E7A7E5}"/>
              </a:ext>
            </a:extLst>
          </p:cNvPr>
          <p:cNvSpPr>
            <a:spLocks noGrp="1"/>
          </p:cNvSpPr>
          <p:nvPr>
            <p:ph sz="quarter" idx="15"/>
          </p:nvPr>
        </p:nvSpPr>
        <p:spPr>
          <a:xfrm>
            <a:off x="731838" y="2103438"/>
            <a:ext cx="7908070" cy="4351337"/>
          </a:xfrm>
        </p:spPr>
        <p:txBody>
          <a:bodyPr/>
          <a:lstStyle/>
          <a:p>
            <a:pPr marL="342900" lvl="0" indent="-342900" fontAlgn="t">
              <a:buFont typeface="Arial" panose="020B0604020202020204" pitchFamily="34" charset="0"/>
              <a:buChar char="•"/>
            </a:pPr>
            <a:r>
              <a:rPr lang="en-US" b="1">
                <a:solidFill>
                  <a:srgbClr val="2C3E50"/>
                </a:solidFill>
              </a:rPr>
              <a:t>Issue</a:t>
            </a:r>
          </a:p>
          <a:p>
            <a:pPr marL="845820" lvl="1" indent="-342900" fontAlgn="t">
              <a:buFont typeface="Arial" panose="020B0604020202020204" pitchFamily="34" charset="0"/>
              <a:buChar char="•"/>
            </a:pPr>
            <a:r>
              <a:rPr lang="en-US">
                <a:solidFill>
                  <a:srgbClr val="2C3E50"/>
                </a:solidFill>
              </a:rPr>
              <a:t>Learning and implementation were occurring in parallel</a:t>
            </a:r>
          </a:p>
          <a:p>
            <a:pPr marL="1165860" lvl="2" indent="-342900" fontAlgn="t"/>
            <a:r>
              <a:rPr lang="en-US">
                <a:solidFill>
                  <a:srgbClr val="2C3E50"/>
                </a:solidFill>
              </a:rPr>
              <a:t>May not be best suited for the scope of this course</a:t>
            </a:r>
          </a:p>
          <a:p>
            <a:pPr marL="342900" indent="-342900" fontAlgn="t">
              <a:buFont typeface="Arial" panose="020B0604020202020204" pitchFamily="34" charset="0"/>
              <a:buChar char="•"/>
            </a:pPr>
            <a:r>
              <a:rPr lang="en-US" b="1">
                <a:solidFill>
                  <a:srgbClr val="2C3E50"/>
                </a:solidFill>
              </a:rPr>
              <a:t>Moving Forward</a:t>
            </a:r>
          </a:p>
          <a:p>
            <a:pPr marL="845820" lvl="1" indent="-342900" fontAlgn="t">
              <a:buFont typeface="Arial" panose="020B0604020202020204" pitchFamily="34" charset="0"/>
              <a:buChar char="•"/>
            </a:pPr>
            <a:r>
              <a:rPr lang="en-US">
                <a:solidFill>
                  <a:srgbClr val="2C3E50"/>
                </a:solidFill>
              </a:rPr>
              <a:t>Specification Driven Development: Sprints 2 and 3</a:t>
            </a:r>
          </a:p>
          <a:p>
            <a:pPr marL="845820" lvl="1" indent="-342900" fontAlgn="t">
              <a:buFont typeface="Arial" panose="020B0604020202020204" pitchFamily="34" charset="0"/>
              <a:buChar char="•"/>
            </a:pPr>
            <a:r>
              <a:rPr lang="en-US">
                <a:solidFill>
                  <a:srgbClr val="2C3E50"/>
                </a:solidFill>
              </a:rPr>
              <a:t>Sprint 2: Beginning will focus on constitution and specification document development </a:t>
            </a:r>
          </a:p>
          <a:p>
            <a:pPr marL="845820" lvl="1" indent="-342900" fontAlgn="t">
              <a:buFont typeface="Arial" panose="020B0604020202020204" pitchFamily="34" charset="0"/>
              <a:buChar char="•"/>
            </a:pPr>
            <a:endParaRPr lang="en-US">
              <a:solidFill>
                <a:srgbClr val="2C3E50"/>
              </a:solidFill>
            </a:endParaRPr>
          </a:p>
        </p:txBody>
      </p:sp>
      <p:sp>
        <p:nvSpPr>
          <p:cNvPr id="3" name="Content Placeholder 23">
            <a:extLst>
              <a:ext uri="{FF2B5EF4-FFF2-40B4-BE49-F238E27FC236}">
                <a16:creationId xmlns:a16="http://schemas.microsoft.com/office/drawing/2014/main" id="{C748099E-E6D7-8BD6-18C2-EB0700CC840A}"/>
              </a:ext>
            </a:extLst>
          </p:cNvPr>
          <p:cNvSpPr txBox="1">
            <a:spLocks/>
          </p:cNvSpPr>
          <p:nvPr/>
        </p:nvSpPr>
        <p:spPr>
          <a:xfrm>
            <a:off x="6096000" y="2103437"/>
            <a:ext cx="4891304" cy="4351337"/>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fontAlgn="t">
              <a:buFont typeface="Arial" panose="020B0604020202020204" pitchFamily="34" charset="0"/>
              <a:buChar char="•"/>
            </a:pPr>
            <a:endParaRPr lang="en-US">
              <a:solidFill>
                <a:srgbClr val="2C3E50"/>
              </a:solidFill>
            </a:endParaRPr>
          </a:p>
        </p:txBody>
      </p:sp>
    </p:spTree>
    <p:extLst>
      <p:ext uri="{BB962C8B-B14F-4D97-AF65-F5344CB8AC3E}">
        <p14:creationId xmlns:p14="http://schemas.microsoft.com/office/powerpoint/2010/main" val="25400250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EEA1AB-43B6-8F9A-AC53-36F55D9950AB}"/>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3AC1816C-DFC9-8F19-1ABA-039BE5350073}"/>
              </a:ext>
            </a:extLst>
          </p:cNvPr>
          <p:cNvSpPr>
            <a:spLocks noGrp="1"/>
          </p:cNvSpPr>
          <p:nvPr>
            <p:ph type="title"/>
          </p:nvPr>
        </p:nvSpPr>
        <p:spPr>
          <a:xfrm>
            <a:off x="731520" y="365760"/>
            <a:ext cx="10741152" cy="1132258"/>
          </a:xfrm>
        </p:spPr>
        <p:txBody>
          <a:bodyPr>
            <a:normAutofit/>
          </a:bodyPr>
          <a:lstStyle/>
          <a:p>
            <a:r>
              <a:rPr lang="en-US">
                <a:solidFill>
                  <a:srgbClr val="2C3E50"/>
                </a:solidFill>
              </a:rPr>
              <a:t>Clearly Defined Deadlines</a:t>
            </a:r>
          </a:p>
        </p:txBody>
      </p:sp>
      <p:sp>
        <p:nvSpPr>
          <p:cNvPr id="24" name="Content Placeholder 23">
            <a:extLst>
              <a:ext uri="{FF2B5EF4-FFF2-40B4-BE49-F238E27FC236}">
                <a16:creationId xmlns:a16="http://schemas.microsoft.com/office/drawing/2014/main" id="{6196963A-759A-FD4A-196A-02AC657D0641}"/>
              </a:ext>
            </a:extLst>
          </p:cNvPr>
          <p:cNvSpPr>
            <a:spLocks noGrp="1"/>
          </p:cNvSpPr>
          <p:nvPr>
            <p:ph sz="quarter" idx="15"/>
          </p:nvPr>
        </p:nvSpPr>
        <p:spPr>
          <a:xfrm>
            <a:off x="731838" y="2103438"/>
            <a:ext cx="4891304" cy="4351337"/>
          </a:xfrm>
        </p:spPr>
        <p:txBody>
          <a:bodyPr/>
          <a:lstStyle/>
          <a:p>
            <a:pPr marL="342900" lvl="0" indent="-342900" fontAlgn="t">
              <a:buFont typeface="Arial" panose="020B0604020202020204" pitchFamily="34" charset="0"/>
              <a:buChar char="•"/>
            </a:pPr>
            <a:r>
              <a:rPr lang="en-US" b="1">
                <a:solidFill>
                  <a:srgbClr val="2C3E50"/>
                </a:solidFill>
              </a:rPr>
              <a:t>Issue</a:t>
            </a:r>
          </a:p>
          <a:p>
            <a:pPr marL="845820" lvl="1" indent="-342900" fontAlgn="t">
              <a:buFont typeface="Arial" panose="020B0604020202020204" pitchFamily="34" charset="0"/>
              <a:buChar char="•"/>
            </a:pPr>
            <a:r>
              <a:rPr lang="en-US">
                <a:solidFill>
                  <a:srgbClr val="2C3E50"/>
                </a:solidFill>
              </a:rPr>
              <a:t>Delay in feature development </a:t>
            </a:r>
          </a:p>
          <a:p>
            <a:pPr marL="1165860" lvl="2" indent="-342900" fontAlgn="t"/>
            <a:r>
              <a:rPr lang="en-US">
                <a:solidFill>
                  <a:srgbClr val="2C3E50"/>
                </a:solidFill>
              </a:rPr>
              <a:t>Academic obligations and external factors</a:t>
            </a:r>
          </a:p>
          <a:p>
            <a:pPr marL="342900" indent="-342900" fontAlgn="t">
              <a:buFont typeface="Arial" panose="020B0604020202020204" pitchFamily="34" charset="0"/>
              <a:buChar char="•"/>
            </a:pPr>
            <a:r>
              <a:rPr lang="en-US" b="1">
                <a:solidFill>
                  <a:srgbClr val="2C3E50"/>
                </a:solidFill>
              </a:rPr>
              <a:t>Moving Forward</a:t>
            </a:r>
          </a:p>
          <a:p>
            <a:pPr marL="845820" lvl="1" indent="-342900" fontAlgn="t">
              <a:buFont typeface="Arial" panose="020B0604020202020204" pitchFamily="34" charset="0"/>
              <a:buChar char="•"/>
            </a:pPr>
            <a:r>
              <a:rPr lang="en-US">
                <a:solidFill>
                  <a:srgbClr val="2C3E50"/>
                </a:solidFill>
              </a:rPr>
              <a:t>Facilitate progress through structure</a:t>
            </a:r>
          </a:p>
          <a:p>
            <a:pPr marL="1165860" lvl="2" indent="-342900" fontAlgn="t"/>
            <a:r>
              <a:rPr lang="en-US">
                <a:solidFill>
                  <a:srgbClr val="2C3E50"/>
                </a:solidFill>
              </a:rPr>
              <a:t>Project manager will consistently follow up with developers </a:t>
            </a:r>
          </a:p>
          <a:p>
            <a:pPr marL="342900" indent="-342900" fontAlgn="t"/>
            <a:endParaRPr lang="en-US">
              <a:solidFill>
                <a:srgbClr val="2C3E50"/>
              </a:solidFill>
            </a:endParaRPr>
          </a:p>
        </p:txBody>
      </p:sp>
      <p:sp>
        <p:nvSpPr>
          <p:cNvPr id="3" name="Content Placeholder 23">
            <a:extLst>
              <a:ext uri="{FF2B5EF4-FFF2-40B4-BE49-F238E27FC236}">
                <a16:creationId xmlns:a16="http://schemas.microsoft.com/office/drawing/2014/main" id="{B943479A-3B75-16DC-6F28-5F608FC169A2}"/>
              </a:ext>
            </a:extLst>
          </p:cNvPr>
          <p:cNvSpPr txBox="1">
            <a:spLocks/>
          </p:cNvSpPr>
          <p:nvPr/>
        </p:nvSpPr>
        <p:spPr>
          <a:xfrm>
            <a:off x="6096000" y="2103437"/>
            <a:ext cx="4891304" cy="4351337"/>
          </a:xfrm>
          <a:prstGeom prst="rect">
            <a:avLst/>
          </a:prstGeom>
        </p:spPr>
        <p:txBody>
          <a:bodyPr vert="horz" lIns="91440" tIns="45720" rIns="91440" bIns="45720" rtlCol="0">
            <a:normAutofit/>
          </a:bodyPr>
          <a:lst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45820" lvl="1" indent="-342900" fontAlgn="t">
              <a:buFont typeface="Arial" panose="020B0604020202020204" pitchFamily="34" charset="0"/>
              <a:buChar char="•"/>
            </a:pPr>
            <a:endParaRPr lang="en-US">
              <a:solidFill>
                <a:srgbClr val="2C3E50"/>
              </a:solidFill>
            </a:endParaRPr>
          </a:p>
        </p:txBody>
      </p:sp>
    </p:spTree>
    <p:extLst>
      <p:ext uri="{BB962C8B-B14F-4D97-AF65-F5344CB8AC3E}">
        <p14:creationId xmlns:p14="http://schemas.microsoft.com/office/powerpoint/2010/main" val="8348117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25ED2-DCF1-0774-3BB7-E5B7870D9974}"/>
              </a:ext>
            </a:extLst>
          </p:cNvPr>
          <p:cNvSpPr>
            <a:spLocks noGrp="1"/>
          </p:cNvSpPr>
          <p:nvPr>
            <p:ph type="title"/>
          </p:nvPr>
        </p:nvSpPr>
        <p:spPr/>
        <p:txBody>
          <a:bodyPr>
            <a:normAutofit fontScale="90000"/>
          </a:bodyPr>
          <a:lstStyle/>
          <a:p>
            <a:r>
              <a:rPr lang="en-US">
                <a:solidFill>
                  <a:srgbClr val="2C3E50"/>
                </a:solidFill>
              </a:rPr>
              <a:t>Pull Requests Before Merging Into Main </a:t>
            </a:r>
          </a:p>
        </p:txBody>
      </p:sp>
      <p:sp>
        <p:nvSpPr>
          <p:cNvPr id="3" name="Content Placeholder 2">
            <a:extLst>
              <a:ext uri="{FF2B5EF4-FFF2-40B4-BE49-F238E27FC236}">
                <a16:creationId xmlns:a16="http://schemas.microsoft.com/office/drawing/2014/main" id="{5FF4EB45-C6AC-FE09-8D89-DAFF2E393F81}"/>
              </a:ext>
            </a:extLst>
          </p:cNvPr>
          <p:cNvSpPr>
            <a:spLocks noGrp="1"/>
          </p:cNvSpPr>
          <p:nvPr>
            <p:ph sz="quarter" idx="15"/>
          </p:nvPr>
        </p:nvSpPr>
        <p:spPr/>
        <p:txBody>
          <a:bodyPr/>
          <a:lstStyle/>
          <a:p>
            <a:pPr marL="342900" lvl="0" indent="-342900" fontAlgn="t">
              <a:buFont typeface="Arial" panose="020B0604020202020204" pitchFamily="34" charset="0"/>
              <a:buChar char="•"/>
            </a:pPr>
            <a:r>
              <a:rPr lang="en-US" b="1">
                <a:solidFill>
                  <a:srgbClr val="2C3E50"/>
                </a:solidFill>
              </a:rPr>
              <a:t>Issue</a:t>
            </a:r>
          </a:p>
          <a:p>
            <a:pPr marL="845820" lvl="1" indent="-342900" fontAlgn="t">
              <a:buFont typeface="Arial" panose="020B0604020202020204" pitchFamily="34" charset="0"/>
              <a:buChar char="•"/>
            </a:pPr>
            <a:r>
              <a:rPr lang="en-US">
                <a:solidFill>
                  <a:srgbClr val="2C3E50"/>
                </a:solidFill>
              </a:rPr>
              <a:t>Current architecture</a:t>
            </a:r>
          </a:p>
          <a:p>
            <a:pPr marL="1165860" lvl="2" indent="-342900" fontAlgn="t"/>
            <a:r>
              <a:rPr lang="en-US">
                <a:solidFill>
                  <a:srgbClr val="2C3E50"/>
                </a:solidFill>
              </a:rPr>
              <a:t>Downstream components rely on backend implementation</a:t>
            </a:r>
          </a:p>
          <a:p>
            <a:pPr marL="342900" indent="-342900" fontAlgn="t">
              <a:buFont typeface="Arial" panose="020B0604020202020204" pitchFamily="34" charset="0"/>
              <a:buChar char="•"/>
            </a:pPr>
            <a:r>
              <a:rPr lang="en-US" b="1">
                <a:solidFill>
                  <a:srgbClr val="2C3E50"/>
                </a:solidFill>
              </a:rPr>
              <a:t>Moving Forward</a:t>
            </a:r>
          </a:p>
          <a:p>
            <a:pPr marL="845820" lvl="1" indent="-342900" fontAlgn="t">
              <a:buFont typeface="Arial" panose="020B0604020202020204" pitchFamily="34" charset="0"/>
              <a:buChar char="•"/>
            </a:pPr>
            <a:r>
              <a:rPr lang="en-US">
                <a:solidFill>
                  <a:srgbClr val="2C3E50"/>
                </a:solidFill>
              </a:rPr>
              <a:t>Pull requests will be made, and verified by project manager</a:t>
            </a:r>
          </a:p>
          <a:p>
            <a:pPr marL="845820" lvl="1" indent="-342900" fontAlgn="t">
              <a:buFont typeface="Arial" panose="020B0604020202020204" pitchFamily="34" charset="0"/>
              <a:buChar char="•"/>
            </a:pPr>
            <a:r>
              <a:rPr lang="en-US">
                <a:solidFill>
                  <a:srgbClr val="2C3E50"/>
                </a:solidFill>
              </a:rPr>
              <a:t>Improved Kanban board</a:t>
            </a:r>
          </a:p>
          <a:p>
            <a:pPr lvl="1" indent="0" fontAlgn="t">
              <a:buNone/>
            </a:pPr>
            <a:endParaRPr lang="en-US" b="1">
              <a:solidFill>
                <a:srgbClr val="2C3E50"/>
              </a:solidFill>
            </a:endParaRPr>
          </a:p>
          <a:p>
            <a:endParaRPr lang="en-US"/>
          </a:p>
        </p:txBody>
      </p:sp>
    </p:spTree>
    <p:extLst>
      <p:ext uri="{BB962C8B-B14F-4D97-AF65-F5344CB8AC3E}">
        <p14:creationId xmlns:p14="http://schemas.microsoft.com/office/powerpoint/2010/main" val="7211990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962C1-6717-69B9-FB23-F32385D9BF46}"/>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C3FDA7EC-BED9-FC5A-4D98-57E47C876E5C}"/>
              </a:ext>
            </a:extLst>
          </p:cNvPr>
          <p:cNvSpPr>
            <a:spLocks noGrp="1"/>
          </p:cNvSpPr>
          <p:nvPr>
            <p:ph type="title"/>
          </p:nvPr>
        </p:nvSpPr>
        <p:spPr>
          <a:xfrm>
            <a:off x="731520" y="365760"/>
            <a:ext cx="10741152" cy="1132258"/>
          </a:xfrm>
        </p:spPr>
        <p:txBody>
          <a:bodyPr>
            <a:normAutofit fontScale="90000"/>
          </a:bodyPr>
          <a:lstStyle/>
          <a:p>
            <a:r>
              <a:rPr lang="en-US">
                <a:solidFill>
                  <a:srgbClr val="2C3E50"/>
                </a:solidFill>
              </a:rPr>
              <a:t>Stronger Communication and Increased Availability</a:t>
            </a:r>
          </a:p>
        </p:txBody>
      </p:sp>
      <p:sp>
        <p:nvSpPr>
          <p:cNvPr id="24" name="Content Placeholder 23">
            <a:extLst>
              <a:ext uri="{FF2B5EF4-FFF2-40B4-BE49-F238E27FC236}">
                <a16:creationId xmlns:a16="http://schemas.microsoft.com/office/drawing/2014/main" id="{1E478314-378B-596B-C77C-FAF38B085CB8}"/>
              </a:ext>
            </a:extLst>
          </p:cNvPr>
          <p:cNvSpPr>
            <a:spLocks noGrp="1"/>
          </p:cNvSpPr>
          <p:nvPr>
            <p:ph sz="quarter" idx="15"/>
          </p:nvPr>
        </p:nvSpPr>
        <p:spPr>
          <a:xfrm>
            <a:off x="731838" y="2103438"/>
            <a:ext cx="4891304" cy="4351337"/>
          </a:xfrm>
        </p:spPr>
        <p:txBody>
          <a:bodyPr/>
          <a:lstStyle/>
          <a:p>
            <a:pPr marL="342900" lvl="0" indent="-342900" fontAlgn="t">
              <a:buFont typeface="Arial" panose="020B0604020202020204" pitchFamily="34" charset="0"/>
              <a:buChar char="•"/>
            </a:pPr>
            <a:r>
              <a:rPr lang="en-US" b="1">
                <a:solidFill>
                  <a:srgbClr val="2C3E50"/>
                </a:solidFill>
              </a:rPr>
              <a:t>Issue</a:t>
            </a:r>
          </a:p>
          <a:p>
            <a:pPr marL="845820" lvl="1" indent="-342900" fontAlgn="t">
              <a:buFont typeface="Arial" panose="020B0604020202020204" pitchFamily="34" charset="0"/>
              <a:buChar char="•"/>
            </a:pPr>
            <a:r>
              <a:rPr lang="en-US">
                <a:solidFill>
                  <a:srgbClr val="2C3E50"/>
                </a:solidFill>
              </a:rPr>
              <a:t>Infrequent Meetings </a:t>
            </a:r>
          </a:p>
          <a:p>
            <a:pPr marL="1165860" lvl="2" indent="-342900" fontAlgn="t"/>
            <a:r>
              <a:rPr lang="en-US">
                <a:solidFill>
                  <a:srgbClr val="2C3E50"/>
                </a:solidFill>
              </a:rPr>
              <a:t>Made it hard to follow up with teammates, and testing was left until the end, when the number of features had become overwhelming</a:t>
            </a:r>
          </a:p>
          <a:p>
            <a:pPr marL="342900" indent="-342900" fontAlgn="t">
              <a:buFont typeface="Arial" panose="020B0604020202020204" pitchFamily="34" charset="0"/>
              <a:buChar char="•"/>
            </a:pPr>
            <a:r>
              <a:rPr lang="en-US" b="1">
                <a:solidFill>
                  <a:srgbClr val="2C3E50"/>
                </a:solidFill>
              </a:rPr>
              <a:t>Moving Forward</a:t>
            </a:r>
          </a:p>
          <a:p>
            <a:pPr marL="845820" lvl="1" indent="-342900" fontAlgn="t">
              <a:buFont typeface="Arial" panose="020B0604020202020204" pitchFamily="34" charset="0"/>
              <a:buChar char="•"/>
            </a:pPr>
            <a:r>
              <a:rPr lang="en-US">
                <a:solidFill>
                  <a:srgbClr val="2C3E50"/>
                </a:solidFill>
              </a:rPr>
              <a:t>Regular Check-ins</a:t>
            </a:r>
          </a:p>
          <a:p>
            <a:pPr marL="1165860" lvl="2" indent="-342900" fontAlgn="t"/>
            <a:r>
              <a:rPr lang="en-US">
                <a:solidFill>
                  <a:srgbClr val="2C3E50"/>
                </a:solidFill>
              </a:rPr>
              <a:t>Meet more often so the project manager can check in regularly and testing happens alongside development.</a:t>
            </a:r>
          </a:p>
          <a:p>
            <a:pPr marL="342900" indent="-342900" fontAlgn="t">
              <a:buFont typeface="Arial" panose="020B0604020202020204" pitchFamily="34" charset="0"/>
              <a:buChar char="•"/>
            </a:pPr>
            <a:endParaRPr lang="en-US">
              <a:solidFill>
                <a:srgbClr val="2C3E50"/>
              </a:solidFill>
            </a:endParaRPr>
          </a:p>
        </p:txBody>
      </p:sp>
    </p:spTree>
    <p:extLst>
      <p:ext uri="{BB962C8B-B14F-4D97-AF65-F5344CB8AC3E}">
        <p14:creationId xmlns:p14="http://schemas.microsoft.com/office/powerpoint/2010/main" val="3634273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5CB2A-6094-18E4-C42E-48C6645F861A}"/>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484E1689-F05D-D6A7-4A51-CCD31ABB0B88}"/>
              </a:ext>
            </a:extLst>
          </p:cNvPr>
          <p:cNvSpPr>
            <a:spLocks noGrp="1"/>
          </p:cNvSpPr>
          <p:nvPr>
            <p:ph type="title"/>
          </p:nvPr>
        </p:nvSpPr>
        <p:spPr>
          <a:xfrm>
            <a:off x="731520" y="365760"/>
            <a:ext cx="10741152" cy="1132258"/>
          </a:xfrm>
        </p:spPr>
        <p:txBody>
          <a:bodyPr>
            <a:normAutofit fontScale="90000"/>
          </a:bodyPr>
          <a:lstStyle/>
          <a:p>
            <a:r>
              <a:rPr lang="en-US">
                <a:solidFill>
                  <a:srgbClr val="2C3E50"/>
                </a:solidFill>
              </a:rPr>
              <a:t>Breaking Down Functional Requirements</a:t>
            </a:r>
          </a:p>
        </p:txBody>
      </p:sp>
      <p:sp>
        <p:nvSpPr>
          <p:cNvPr id="24" name="Content Placeholder 23">
            <a:extLst>
              <a:ext uri="{FF2B5EF4-FFF2-40B4-BE49-F238E27FC236}">
                <a16:creationId xmlns:a16="http://schemas.microsoft.com/office/drawing/2014/main" id="{BD3D20C3-B51F-6CA2-F8A8-B68FCD901AC0}"/>
              </a:ext>
            </a:extLst>
          </p:cNvPr>
          <p:cNvSpPr>
            <a:spLocks noGrp="1"/>
          </p:cNvSpPr>
          <p:nvPr>
            <p:ph sz="quarter" idx="15"/>
          </p:nvPr>
        </p:nvSpPr>
        <p:spPr>
          <a:xfrm>
            <a:off x="731838" y="2103438"/>
            <a:ext cx="4891304" cy="4351337"/>
          </a:xfrm>
        </p:spPr>
        <p:txBody>
          <a:bodyPr/>
          <a:lstStyle/>
          <a:p>
            <a:pPr marL="342900" lvl="0" indent="-342900" fontAlgn="t">
              <a:buFont typeface="Arial" panose="020B0604020202020204" pitchFamily="34" charset="0"/>
              <a:buChar char="•"/>
            </a:pPr>
            <a:r>
              <a:rPr lang="en-US" b="1">
                <a:solidFill>
                  <a:srgbClr val="2C3E50"/>
                </a:solidFill>
              </a:rPr>
              <a:t>Issue</a:t>
            </a:r>
          </a:p>
          <a:p>
            <a:pPr marL="845820" lvl="1" indent="-342900" fontAlgn="t">
              <a:buFont typeface="Arial" panose="020B0604020202020204" pitchFamily="34" charset="0"/>
              <a:buChar char="•"/>
            </a:pPr>
            <a:r>
              <a:rPr lang="en-US">
                <a:solidFill>
                  <a:srgbClr val="2C3E50"/>
                </a:solidFill>
              </a:rPr>
              <a:t>Functional requirements were high-level overviews</a:t>
            </a:r>
          </a:p>
          <a:p>
            <a:pPr marL="342900" indent="-342900" fontAlgn="t">
              <a:buFont typeface="Arial" panose="020B0604020202020204" pitchFamily="34" charset="0"/>
              <a:buChar char="•"/>
            </a:pPr>
            <a:r>
              <a:rPr lang="en-US" b="1">
                <a:solidFill>
                  <a:srgbClr val="2C3E50"/>
                </a:solidFill>
              </a:rPr>
              <a:t>Moving Forward</a:t>
            </a:r>
          </a:p>
          <a:p>
            <a:pPr marL="845820" lvl="1" indent="-342900" fontAlgn="t">
              <a:buFont typeface="Arial" panose="020B0604020202020204" pitchFamily="34" charset="0"/>
              <a:buChar char="•"/>
            </a:pPr>
            <a:r>
              <a:rPr lang="en-US">
                <a:solidFill>
                  <a:srgbClr val="2C3E50"/>
                </a:solidFill>
              </a:rPr>
              <a:t>Each functional requirement will be reduced into backend and frontend components </a:t>
            </a:r>
          </a:p>
          <a:p>
            <a:pPr marL="1165860" lvl="2" indent="-342900" fontAlgn="t"/>
            <a:r>
              <a:rPr lang="en-US">
                <a:solidFill>
                  <a:srgbClr val="2C3E50"/>
                </a:solidFill>
              </a:rPr>
              <a:t>Improved Kanban board</a:t>
            </a:r>
          </a:p>
          <a:p>
            <a:pPr marL="1440180" lvl="3" indent="-342900" fontAlgn="t"/>
            <a:r>
              <a:rPr lang="en-US">
                <a:solidFill>
                  <a:srgbClr val="2C3E50"/>
                </a:solidFill>
              </a:rPr>
              <a:t>Facilitating better software engineering practices </a:t>
            </a:r>
          </a:p>
          <a:p>
            <a:pPr marL="1165860" lvl="2" indent="-342900" fontAlgn="t"/>
            <a:r>
              <a:rPr lang="en-US">
                <a:solidFill>
                  <a:srgbClr val="2C3E50"/>
                </a:solidFill>
              </a:rPr>
              <a:t>Clearer commination, particularly for developer responsible for testing and quality assurance </a:t>
            </a:r>
          </a:p>
          <a:p>
            <a:pPr marL="845820" lvl="1" indent="-342900" fontAlgn="t">
              <a:buFont typeface="Arial" panose="020B0604020202020204" pitchFamily="34" charset="0"/>
              <a:buChar char="•"/>
            </a:pPr>
            <a:endParaRPr lang="en-US">
              <a:solidFill>
                <a:srgbClr val="2C3E50"/>
              </a:solidFill>
            </a:endParaRPr>
          </a:p>
          <a:p>
            <a:pPr marL="845820" lvl="1" indent="-342900" fontAlgn="t">
              <a:buFont typeface="Arial" panose="020B0604020202020204" pitchFamily="34" charset="0"/>
              <a:buChar char="•"/>
            </a:pPr>
            <a:endParaRPr lang="en-US">
              <a:solidFill>
                <a:srgbClr val="2C3E50"/>
              </a:solidFill>
            </a:endParaRPr>
          </a:p>
          <a:p>
            <a:pPr lvl="0" fontAlgn="t"/>
            <a:endParaRPr lang="en-US">
              <a:solidFill>
                <a:srgbClr val="2C3E50"/>
              </a:solidFill>
            </a:endParaRPr>
          </a:p>
        </p:txBody>
      </p:sp>
    </p:spTree>
    <p:extLst>
      <p:ext uri="{BB962C8B-B14F-4D97-AF65-F5344CB8AC3E}">
        <p14:creationId xmlns:p14="http://schemas.microsoft.com/office/powerpoint/2010/main" val="1718357933"/>
      </p:ext>
    </p:extLst>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Archway</Template>
  <TotalTime>0</TotalTime>
  <Words>4160</Words>
  <Application>Microsoft Macintosh PowerPoint</Application>
  <PresentationFormat>Widescreen</PresentationFormat>
  <Paragraphs>468</Paragraphs>
  <Slides>33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Aptos</vt:lpstr>
      <vt:lpstr>Arial</vt:lpstr>
      <vt:lpstr>Felix Titling</vt:lpstr>
      <vt:lpstr>Felix Titling (Headings)</vt:lpstr>
      <vt:lpstr>Goudy Old Style</vt:lpstr>
      <vt:lpstr>Goudy Old Style (Body)</vt:lpstr>
      <vt:lpstr>Archway</vt:lpstr>
      <vt:lpstr>Sprint 1 Report</vt:lpstr>
      <vt:lpstr>Project: ClubHub</vt:lpstr>
      <vt:lpstr>PowerPoint Presentation</vt:lpstr>
      <vt:lpstr>sprint backlog overview</vt:lpstr>
      <vt:lpstr>Changes to Kanban Board Structure</vt:lpstr>
      <vt:lpstr>ClubHub Use Case Diagram</vt:lpstr>
      <vt:lpstr>ClubHub Class Diagram</vt:lpstr>
      <vt:lpstr>ClubHub Collaboration Diagram for Student Profile Creation</vt:lpstr>
      <vt:lpstr>PowerPoint Presentation</vt:lpstr>
      <vt:lpstr>BackENd</vt:lpstr>
      <vt:lpstr>Front ENd</vt:lpstr>
      <vt:lpstr>PowerPoint Presentation</vt:lpstr>
      <vt:lpstr>Club Testing</vt:lpstr>
      <vt:lpstr>Features Implemented</vt:lpstr>
      <vt:lpstr>FR-001.1: Back end: User Profile form</vt:lpstr>
      <vt:lpstr>FR-001.2: Front end: user profile page</vt:lpstr>
      <vt:lpstr>FR-001.3: back end: User profile submission and storage</vt:lpstr>
      <vt:lpstr>FR-001.4: front end: user profile form &amp; submission</vt:lpstr>
      <vt:lpstr>FR-002.1: Back end: club registration form</vt:lpstr>
      <vt:lpstr>FR-002.2: Front end: club registration form</vt:lpstr>
      <vt:lpstr>FR-002.3: back end: Club Registration Submission</vt:lpstr>
      <vt:lpstr>FR-002.3: back end: Club Registration Submission continued</vt:lpstr>
      <vt:lpstr>FR-002.4: front end: Club page</vt:lpstr>
      <vt:lpstr>FR-002.5: front end: Club registration submission</vt:lpstr>
      <vt:lpstr>FR-003.1: Back end: club search</vt:lpstr>
      <vt:lpstr>FR-003.2: front end: club search</vt:lpstr>
      <vt:lpstr>Responsible Use of ai</vt:lpstr>
      <vt:lpstr>Sprint review &amp; retrospective</vt:lpstr>
      <vt:lpstr>Change Development Approach </vt:lpstr>
      <vt:lpstr>Clearly Defined Deadlines</vt:lpstr>
      <vt:lpstr>Pull Requests Before Merging Into Main </vt:lpstr>
      <vt:lpstr>Stronger Communication and Increased Availability</vt:lpstr>
      <vt:lpstr>Breaking Down Functional 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Nguyen-Vo Herbert, Jordan Vinh</dc:creator>
  <cp:lastModifiedBy>Nguyen-Vo Herbert, Jordan Vinh</cp:lastModifiedBy>
  <cp:revision>1</cp:revision>
  <dcterms:created xsi:type="dcterms:W3CDTF">2026-10-12T19:15:49Z</dcterms:created>
  <dcterms:modified xsi:type="dcterms:W3CDTF">2026-10-17T20:44:09Z</dcterms:modified>
</cp:coreProperties>
</file>