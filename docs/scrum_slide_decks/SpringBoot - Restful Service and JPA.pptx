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8" r:id="rId3"/>
    <p:sldId id="257" r:id="rId4"/>
    <p:sldId id="264" r:id="rId5"/>
    <p:sldId id="260" r:id="rId6"/>
    <p:sldId id="266" r:id="rId7"/>
    <p:sldId id="261" r:id="rId8"/>
    <p:sldId id="274" r:id="rId9"/>
    <p:sldId id="267" r:id="rId10"/>
    <p:sldId id="275" r:id="rId11"/>
    <p:sldId id="271" r:id="rId12"/>
    <p:sldId id="276" r:id="rId13"/>
    <p:sldId id="277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  <a:srgbClr val="2C3E50"/>
    <a:srgbClr val="000000"/>
    <a:srgbClr val="FAF9F6"/>
    <a:srgbClr val="1F2A44"/>
    <a:srgbClr val="222222"/>
    <a:srgbClr val="1A1A1A"/>
    <a:srgbClr val="1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0" autoAdjust="0"/>
    <p:restoredTop sz="94658"/>
  </p:normalViewPr>
  <p:slideViewPr>
    <p:cSldViewPr>
      <p:cViewPr varScale="1">
        <p:scale>
          <a:sx n="91" d="100"/>
          <a:sy n="91" d="100"/>
        </p:scale>
        <p:origin x="216" y="8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00BB7-A187-4890-A71D-883A0F23C0AE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736F5-CE2C-4547-8E1C-E7F25F262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1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Background: F5F1E8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2C3E50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736F5-CE2C-4547-8E1C-E7F25F2620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7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736F5-CE2C-4547-8E1C-E7F25F2620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49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3E88-686B-CBA4-7C52-074C96E1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272C5-4248-F4C2-1C09-B600DDA0A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0A050-973D-5D73-96DE-20CE38DF1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4C23C-D3D1-C5FB-77E8-44D63D8E5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736F5-CE2C-4547-8E1C-E7F25F2620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71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42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14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49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8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6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49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30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5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4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1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769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811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80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61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998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579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40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13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88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33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94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3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97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46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29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28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6056DAF-B3F4-4DC6-852B-234F2435F72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FE5067E-9276-4E24-970E-DABE0DDDB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8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guides/gs/accessing-data-jpa" TargetMode="External"/><Relationship Id="rId2" Type="http://schemas.openxmlformats.org/officeDocument/2006/relationships/hyperlink" Target="https://spring.io/guides/gs/rest-service/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869B-4545-0882-AA06-50F98E68F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4570" y="1295400"/>
            <a:ext cx="4066072" cy="3725937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2C3E50"/>
                </a:solidFill>
              </a:rPr>
              <a:t>Building a Restful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186B8-82D6-BDD7-3689-2CF7AD94B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2C3E50"/>
                </a:solidFill>
              </a:rPr>
              <a:t>SCRUM Meeting</a:t>
            </a:r>
          </a:p>
          <a:p>
            <a:r>
              <a:rPr lang="en-US" dirty="0">
                <a:solidFill>
                  <a:srgbClr val="2C3E50"/>
                </a:solidFill>
              </a:rPr>
              <a:t>September 27</a:t>
            </a:r>
            <a:r>
              <a:rPr lang="en-US" baseline="30000" dirty="0">
                <a:solidFill>
                  <a:srgbClr val="2C3E50"/>
                </a:solidFill>
              </a:rPr>
              <a:t>th</a:t>
            </a:r>
            <a:r>
              <a:rPr lang="en-US" dirty="0">
                <a:solidFill>
                  <a:srgbClr val="2C3E50"/>
                </a:solidFill>
              </a:rPr>
              <a:t>, 2026</a:t>
            </a:r>
          </a:p>
        </p:txBody>
      </p:sp>
      <p:pic>
        <p:nvPicPr>
          <p:cNvPr id="13" name="Picture Placeholder 12" descr="Starry night sky">
            <a:extLst>
              <a:ext uri="{FF2B5EF4-FFF2-40B4-BE49-F238E27FC236}">
                <a16:creationId xmlns:a16="http://schemas.microsoft.com/office/drawing/2014/main" id="{6F50D959-B9D1-7FCA-6B9B-120D226D4C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7" r="11847"/>
          <a:stretch/>
        </p:blipFill>
        <p:spPr/>
      </p:pic>
    </p:spTree>
    <p:extLst>
      <p:ext uri="{BB962C8B-B14F-4D97-AF65-F5344CB8AC3E}">
        <p14:creationId xmlns:p14="http://schemas.microsoft.com/office/powerpoint/2010/main" val="3719692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67AB-2371-2CEB-F73D-16E94F2E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C3E50"/>
                </a:solidFill>
              </a:rPr>
              <a:t>Core Challenges</a:t>
            </a:r>
            <a:br>
              <a:rPr lang="en-US" dirty="0">
                <a:solidFill>
                  <a:srgbClr val="2C3E50"/>
                </a:solidFill>
              </a:rPr>
            </a:br>
            <a:endParaRPr lang="en-US" dirty="0">
              <a:solidFill>
                <a:srgbClr val="2C3E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F24A-CD58-469B-996A-99A502E2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C3E50"/>
                </a:solidFill>
              </a:rPr>
              <a:t>Website</a:t>
            </a:r>
          </a:p>
          <a:p>
            <a:pPr lvl="1"/>
            <a:r>
              <a:rPr lang="en-US" sz="2100" dirty="0">
                <a:solidFill>
                  <a:srgbClr val="2C3E50"/>
                </a:solidFill>
              </a:rPr>
              <a:t>Website needs to be able to access data and present that data</a:t>
            </a:r>
          </a:p>
          <a:p>
            <a:pPr lvl="2"/>
            <a:r>
              <a:rPr lang="en-US" sz="2100" dirty="0">
                <a:solidFill>
                  <a:srgbClr val="2C3E50"/>
                </a:solidFill>
              </a:rPr>
              <a:t>How do we send data? </a:t>
            </a:r>
          </a:p>
          <a:p>
            <a:pPr lvl="2"/>
            <a:r>
              <a:rPr lang="en-US" sz="2100" dirty="0">
                <a:solidFill>
                  <a:srgbClr val="2C3E50"/>
                </a:solidFill>
              </a:rPr>
              <a:t>How do we pick what is relevant to the specific query?</a:t>
            </a:r>
          </a:p>
        </p:txBody>
      </p:sp>
    </p:spTree>
    <p:extLst>
      <p:ext uri="{BB962C8B-B14F-4D97-AF65-F5344CB8AC3E}">
        <p14:creationId xmlns:p14="http://schemas.microsoft.com/office/powerpoint/2010/main" val="341067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E948-25BA-E1DA-3CF3-96D506FB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URL Breakdown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9CE4A9-CAF6-FDE1-DF7C-82CB91B4BA7F}"/>
              </a:ext>
            </a:extLst>
          </p:cNvPr>
          <p:cNvSpPr/>
          <p:nvPr/>
        </p:nvSpPr>
        <p:spPr>
          <a:xfrm>
            <a:off x="3124200" y="3124200"/>
            <a:ext cx="1571767" cy="9144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Protocol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6F9756-3039-1492-8569-38C124ACDD18}"/>
              </a:ext>
            </a:extLst>
          </p:cNvPr>
          <p:cNvSpPr/>
          <p:nvPr/>
        </p:nvSpPr>
        <p:spPr>
          <a:xfrm>
            <a:off x="4727434" y="3124200"/>
            <a:ext cx="1571767" cy="9144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20B8EE-342E-7EBE-A6C9-442192AB7097}"/>
              </a:ext>
            </a:extLst>
          </p:cNvPr>
          <p:cNvSpPr/>
          <p:nvPr/>
        </p:nvSpPr>
        <p:spPr>
          <a:xfrm>
            <a:off x="6324600" y="3124200"/>
            <a:ext cx="1571767" cy="9144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05AF55-503C-536A-EFF4-F582E127CCC5}"/>
              </a:ext>
            </a:extLst>
          </p:cNvPr>
          <p:cNvSpPr/>
          <p:nvPr/>
        </p:nvSpPr>
        <p:spPr>
          <a:xfrm>
            <a:off x="7921766" y="3124200"/>
            <a:ext cx="1571767" cy="9144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Parameter</a:t>
            </a:r>
          </a:p>
        </p:txBody>
      </p:sp>
    </p:spTree>
    <p:extLst>
      <p:ext uri="{BB962C8B-B14F-4D97-AF65-F5344CB8AC3E}">
        <p14:creationId xmlns:p14="http://schemas.microsoft.com/office/powerpoint/2010/main" val="288780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DB401-F864-C76A-FD51-1F5B293D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5E4289-E9EA-2EF7-CAAF-94F3F2BDA926}"/>
              </a:ext>
            </a:extLst>
          </p:cNvPr>
          <p:cNvSpPr/>
          <p:nvPr/>
        </p:nvSpPr>
        <p:spPr>
          <a:xfrm>
            <a:off x="975401" y="5029200"/>
            <a:ext cx="1489604" cy="61291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066B04-F33D-7847-0AED-C6296F468081}"/>
              </a:ext>
            </a:extLst>
          </p:cNvPr>
          <p:cNvSpPr/>
          <p:nvPr/>
        </p:nvSpPr>
        <p:spPr>
          <a:xfrm>
            <a:off x="4891068" y="5029200"/>
            <a:ext cx="2199489" cy="61291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823260-DF61-6F43-187F-250DEFE98B88}"/>
              </a:ext>
            </a:extLst>
          </p:cNvPr>
          <p:cNvSpPr/>
          <p:nvPr/>
        </p:nvSpPr>
        <p:spPr>
          <a:xfrm>
            <a:off x="8197694" y="5025887"/>
            <a:ext cx="3184934" cy="612913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EBE62F69-6419-5F73-C3CD-20027E2D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2802" y="1911361"/>
            <a:ext cx="4268066" cy="224279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15BC9A4-FB3A-8439-82E6-C8435C47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78F749-1FEA-2EA4-074E-D201523CCE68}"/>
              </a:ext>
            </a:extLst>
          </p:cNvPr>
          <p:cNvSpPr txBox="1"/>
          <p:nvPr/>
        </p:nvSpPr>
        <p:spPr>
          <a:xfrm>
            <a:off x="1192430" y="5150990"/>
            <a:ext cx="101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2C3E50"/>
                </a:solidFill>
              </a:rPr>
              <a:t>https://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81DF51-6697-A272-4B9B-8EAF133CF45B}"/>
              </a:ext>
            </a:extLst>
          </p:cNvPr>
          <p:cNvSpPr txBox="1"/>
          <p:nvPr/>
        </p:nvSpPr>
        <p:spPr>
          <a:xfrm>
            <a:off x="2453749" y="5150990"/>
            <a:ext cx="242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2C3E50"/>
                </a:solidFill>
              </a:rPr>
              <a:t>wsu.instructure.com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9ADD8-0A5E-F15E-D471-4325C66590C2}"/>
              </a:ext>
            </a:extLst>
          </p:cNvPr>
          <p:cNvSpPr txBox="1"/>
          <p:nvPr/>
        </p:nvSpPr>
        <p:spPr>
          <a:xfrm>
            <a:off x="4891068" y="5147677"/>
            <a:ext cx="223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C3E50"/>
                </a:solidFill>
              </a:rPr>
              <a:t>/courses/1894762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0124F9-2AC6-6BD6-FBDE-BBE01B3F12A3}"/>
              </a:ext>
            </a:extLst>
          </p:cNvPr>
          <p:cNvSpPr txBox="1"/>
          <p:nvPr/>
        </p:nvSpPr>
        <p:spPr>
          <a:xfrm>
            <a:off x="8119694" y="5147677"/>
            <a:ext cx="3439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2C3E50"/>
                </a:solidFill>
              </a:rPr>
              <a:t>?module_item_id=26789979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76EC92-E489-1D55-123C-643AFFD6A96D}"/>
              </a:ext>
            </a:extLst>
          </p:cNvPr>
          <p:cNvSpPr/>
          <p:nvPr/>
        </p:nvSpPr>
        <p:spPr>
          <a:xfrm>
            <a:off x="7145206" y="5025887"/>
            <a:ext cx="974488" cy="61291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9AAFE1-261A-67A4-CCF9-C86C8EEA717A}"/>
              </a:ext>
            </a:extLst>
          </p:cNvPr>
          <p:cNvSpPr txBox="1"/>
          <p:nvPr/>
        </p:nvSpPr>
        <p:spPr>
          <a:xfrm>
            <a:off x="7142920" y="5159236"/>
            <a:ext cx="950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C3E50"/>
                </a:solidFill>
              </a:rPr>
              <a:t>/pages</a:t>
            </a:r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6F6FA1F-3044-5365-6417-89C558F031AF}"/>
              </a:ext>
            </a:extLst>
          </p:cNvPr>
          <p:cNvSpPr/>
          <p:nvPr/>
        </p:nvSpPr>
        <p:spPr>
          <a:xfrm>
            <a:off x="2514600" y="5029476"/>
            <a:ext cx="2326873" cy="61291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0203-23C5-A8EC-29CC-3482A7B0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https://wsu.instructure.com/courses/1894762/pages/learning-objectives-5?module_item_id=26789979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DC45-959F-D1E1-EC82-271DC50D16D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https://wsu.instructure.com/courses/1894762/pages/learning-objectives-5?module_item_id=26789979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F7725A-834B-40BD-0317-29D9040AB52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248400" y="2376436"/>
            <a:ext cx="5260975" cy="32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9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02FF9-C61A-AA89-0D4E-CFDA8468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 to show the different parts of the mvc architecture.">
            <a:extLst>
              <a:ext uri="{FF2B5EF4-FFF2-40B4-BE49-F238E27FC236}">
                <a16:creationId xmlns:a16="http://schemas.microsoft.com/office/drawing/2014/main" id="{A090E913-8C3B-5095-F7D0-D028FB6CE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42995"/>
            <a:ext cx="609601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8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7D39C5-8677-AD12-409D-1A1B524C81CC}"/>
              </a:ext>
            </a:extLst>
          </p:cNvPr>
          <p:cNvSpPr/>
          <p:nvPr/>
        </p:nvSpPr>
        <p:spPr>
          <a:xfrm>
            <a:off x="8718552" y="729095"/>
            <a:ext cx="1672376" cy="4572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@RestController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0D7928-2FAD-1088-C6AC-CF07E28AD7F0}"/>
              </a:ext>
            </a:extLst>
          </p:cNvPr>
          <p:cNvSpPr/>
          <p:nvPr/>
        </p:nvSpPr>
        <p:spPr>
          <a:xfrm>
            <a:off x="4727531" y="809400"/>
            <a:ext cx="1531450" cy="29659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GET Request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051097-1C9B-503D-7EE6-4E6447590819}"/>
              </a:ext>
            </a:extLst>
          </p:cNvPr>
          <p:cNvSpPr/>
          <p:nvPr/>
        </p:nvSpPr>
        <p:spPr>
          <a:xfrm>
            <a:off x="329920" y="2859633"/>
            <a:ext cx="3829130" cy="367710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2C3E50"/>
                </a:solidFill>
              </a:rPr>
              <a:t>Clubhub.com/…/students/11983460</a:t>
            </a:r>
          </a:p>
        </p:txBody>
      </p:sp>
      <p:pic>
        <p:nvPicPr>
          <p:cNvPr id="30" name="Graphic 29" descr="Internet with solid fill">
            <a:extLst>
              <a:ext uri="{FF2B5EF4-FFF2-40B4-BE49-F238E27FC236}">
                <a16:creationId xmlns:a16="http://schemas.microsoft.com/office/drawing/2014/main" id="{F483F073-4D0D-CEFB-5F5E-E29041E87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4485" y="1494847"/>
            <a:ext cx="1599999" cy="1385433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8B8ADD-178E-87D7-E8D5-D03610A08172}"/>
              </a:ext>
            </a:extLst>
          </p:cNvPr>
          <p:cNvSpPr/>
          <p:nvPr/>
        </p:nvSpPr>
        <p:spPr>
          <a:xfrm>
            <a:off x="6915150" y="729095"/>
            <a:ext cx="1015998" cy="4572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Spring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CD2957-F29E-206F-6E0F-1B3C03BFDC3D}"/>
              </a:ext>
            </a:extLst>
          </p:cNvPr>
          <p:cNvSpPr/>
          <p:nvPr/>
        </p:nvSpPr>
        <p:spPr>
          <a:xfrm>
            <a:off x="7867650" y="1849999"/>
            <a:ext cx="3429000" cy="488383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@GetMapping(/students/{id})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A79388F-81C6-5EE3-C27C-82619C34C1C3}"/>
              </a:ext>
            </a:extLst>
          </p:cNvPr>
          <p:cNvSpPr/>
          <p:nvPr/>
        </p:nvSpPr>
        <p:spPr>
          <a:xfrm>
            <a:off x="7848600" y="5257800"/>
            <a:ext cx="3429000" cy="944444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@Pathvariable uses value from GET request, which is then used to identify the correct Entity instance and when returning record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F2934DD-7D01-6B10-3E7F-A5B25A574767}"/>
              </a:ext>
            </a:extLst>
          </p:cNvPr>
          <p:cNvCxnSpPr>
            <a:cxnSpLocks/>
          </p:cNvCxnSpPr>
          <p:nvPr/>
        </p:nvCxnSpPr>
        <p:spPr>
          <a:xfrm flipV="1">
            <a:off x="3022545" y="957695"/>
            <a:ext cx="1638410" cy="1074305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DDD4B1-051B-335C-AF4B-09D3E02C1D19}"/>
              </a:ext>
            </a:extLst>
          </p:cNvPr>
          <p:cNvCxnSpPr>
            <a:cxnSpLocks/>
          </p:cNvCxnSpPr>
          <p:nvPr/>
        </p:nvCxnSpPr>
        <p:spPr>
          <a:xfrm>
            <a:off x="6305550" y="957695"/>
            <a:ext cx="53340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EDA2EA-8E69-6C3E-1B2A-B4FD2AF993FD}"/>
              </a:ext>
            </a:extLst>
          </p:cNvPr>
          <p:cNvCxnSpPr>
            <a:cxnSpLocks/>
          </p:cNvCxnSpPr>
          <p:nvPr/>
        </p:nvCxnSpPr>
        <p:spPr>
          <a:xfrm>
            <a:off x="8058150" y="957695"/>
            <a:ext cx="53340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23DB9C-5057-9526-7DAC-BA9483F69813}"/>
              </a:ext>
            </a:extLst>
          </p:cNvPr>
          <p:cNvCxnSpPr>
            <a:cxnSpLocks/>
          </p:cNvCxnSpPr>
          <p:nvPr/>
        </p:nvCxnSpPr>
        <p:spPr>
          <a:xfrm>
            <a:off x="9582150" y="1266247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1D66955-F873-374E-2EE7-F480996D9A1B}"/>
              </a:ext>
            </a:extLst>
          </p:cNvPr>
          <p:cNvCxnSpPr>
            <a:cxnSpLocks/>
          </p:cNvCxnSpPr>
          <p:nvPr/>
        </p:nvCxnSpPr>
        <p:spPr>
          <a:xfrm>
            <a:off x="9582150" y="2413000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CC4C14D-8168-FE15-18F3-95A9635C2DF4}"/>
              </a:ext>
            </a:extLst>
          </p:cNvPr>
          <p:cNvSpPr/>
          <p:nvPr/>
        </p:nvSpPr>
        <p:spPr>
          <a:xfrm>
            <a:off x="6076894" y="5501422"/>
            <a:ext cx="1117600" cy="4572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JSON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937D31B-5089-07FD-5E1B-3AA8739CF7D8}"/>
              </a:ext>
            </a:extLst>
          </p:cNvPr>
          <p:cNvSpPr/>
          <p:nvPr/>
        </p:nvSpPr>
        <p:spPr>
          <a:xfrm>
            <a:off x="7848600" y="2973382"/>
            <a:ext cx="3429000" cy="457200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Specific instance of Student record found via Controller method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F566F84-2B32-C2EE-C706-2516994A6422}"/>
              </a:ext>
            </a:extLst>
          </p:cNvPr>
          <p:cNvCxnSpPr>
            <a:cxnSpLocks/>
          </p:cNvCxnSpPr>
          <p:nvPr/>
        </p:nvCxnSpPr>
        <p:spPr>
          <a:xfrm>
            <a:off x="9582150" y="3499507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A3059A5-D2DA-C300-D1BB-D19DD873978F}"/>
              </a:ext>
            </a:extLst>
          </p:cNvPr>
          <p:cNvCxnSpPr>
            <a:cxnSpLocks/>
          </p:cNvCxnSpPr>
          <p:nvPr/>
        </p:nvCxnSpPr>
        <p:spPr>
          <a:xfrm>
            <a:off x="9588500" y="4775200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57FBF04-B1D8-53F9-97F2-D0EA838AFB8D}"/>
              </a:ext>
            </a:extLst>
          </p:cNvPr>
          <p:cNvCxnSpPr>
            <a:cxnSpLocks/>
          </p:cNvCxnSpPr>
          <p:nvPr/>
        </p:nvCxnSpPr>
        <p:spPr>
          <a:xfrm rot="10800000">
            <a:off x="2236147" y="3499508"/>
            <a:ext cx="3760260" cy="2266291"/>
          </a:xfrm>
          <a:prstGeom prst="bentConnector3">
            <a:avLst>
              <a:gd name="adj1" fmla="val 99986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578DE65-696F-749D-F425-C8B4F327D653}"/>
              </a:ext>
            </a:extLst>
          </p:cNvPr>
          <p:cNvSpPr/>
          <p:nvPr/>
        </p:nvSpPr>
        <p:spPr>
          <a:xfrm>
            <a:off x="8096252" y="4046532"/>
            <a:ext cx="2971795" cy="673368"/>
          </a:xfrm>
          <a:prstGeom prst="round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@GetMapping tells Spring this is the method for fulfilling this specific request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9A45B64-89C0-A04A-8E7C-EDADFA8D11B4}"/>
              </a:ext>
            </a:extLst>
          </p:cNvPr>
          <p:cNvCxnSpPr>
            <a:cxnSpLocks/>
          </p:cNvCxnSpPr>
          <p:nvPr/>
        </p:nvCxnSpPr>
        <p:spPr>
          <a:xfrm flipH="1">
            <a:off x="7194494" y="5730022"/>
            <a:ext cx="573619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8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49BE97-EF52-CA3B-4187-116348D2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Accessing Data with JPA</a:t>
            </a:r>
            <a:br>
              <a:rPr lang="en-US" b="1" dirty="0">
                <a:latin typeface="Perpetua" panose="02020502060401020303" pitchFamily="18" charset="0"/>
              </a:rPr>
            </a:br>
            <a:br>
              <a:rPr lang="en-US" dirty="0">
                <a:latin typeface="Perpetua" panose="02020502060401020303" pitchFamily="18" charset="0"/>
              </a:rPr>
            </a:br>
            <a:endParaRPr lang="en-US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24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193A-76A9-F579-336F-18341DE5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28600"/>
            <a:ext cx="11326704" cy="1041564"/>
          </a:xfrm>
        </p:spPr>
        <p:txBody>
          <a:bodyPr/>
          <a:lstStyle/>
          <a:p>
            <a:r>
              <a:rPr lang="en-US" dirty="0"/>
              <a:t>How can we access data from different entities?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E3E8EA-4791-EEBE-C7E4-955D336E29C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Java Persistence API</a:t>
            </a:r>
          </a:p>
          <a:p>
            <a:pPr lvl="1"/>
            <a:r>
              <a:rPr lang="en-US" dirty="0"/>
              <a:t>Creates and stores entity objects</a:t>
            </a:r>
          </a:p>
          <a:p>
            <a:pPr lvl="1"/>
            <a:r>
              <a:rPr lang="en-US" dirty="0"/>
              <a:t>Removes the need for data base system</a:t>
            </a:r>
          </a:p>
          <a:p>
            <a:r>
              <a:rPr lang="en-US" dirty="0"/>
              <a:t>Requires the usage of default ghost constructor </a:t>
            </a:r>
          </a:p>
          <a:p>
            <a:pPr lvl="1"/>
            <a:r>
              <a:rPr lang="en-US" dirty="0"/>
              <a:t>Functions as a placeholder</a:t>
            </a:r>
          </a:p>
          <a:p>
            <a:pPr lvl="2"/>
            <a:r>
              <a:rPr lang="en-US" dirty="0"/>
              <a:t>Reflection -&gt; allows access to and manipulate object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2EF8DF-72E9-6823-E842-1432513EBB6F}"/>
              </a:ext>
            </a:extLst>
          </p:cNvPr>
          <p:cNvSpPr/>
          <p:nvPr/>
        </p:nvSpPr>
        <p:spPr>
          <a:xfrm>
            <a:off x="7467600" y="2247902"/>
            <a:ext cx="3124200" cy="9144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Student</a:t>
            </a:r>
            <a:r>
              <a:rPr lang="en-US" dirty="0"/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C30DFC-B26F-46D1-EE5D-18DDC5337F21}"/>
              </a:ext>
            </a:extLst>
          </p:cNvPr>
          <p:cNvSpPr/>
          <p:nvPr/>
        </p:nvSpPr>
        <p:spPr>
          <a:xfrm>
            <a:off x="7467600" y="3200402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Long id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1D6F1A-750A-EF59-F691-952DCEC0EE53}"/>
              </a:ext>
            </a:extLst>
          </p:cNvPr>
          <p:cNvSpPr/>
          <p:nvPr/>
        </p:nvSpPr>
        <p:spPr>
          <a:xfrm>
            <a:off x="7467600" y="3771901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email</a:t>
            </a:r>
            <a:r>
              <a:rPr lang="en-US" dirty="0"/>
              <a:t>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68BCF1-9989-E1DA-4474-9478B153BF91}"/>
              </a:ext>
            </a:extLst>
          </p:cNvPr>
          <p:cNvSpPr/>
          <p:nvPr/>
        </p:nvSpPr>
        <p:spPr>
          <a:xfrm>
            <a:off x="7467600" y="4343400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password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572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8CEEFE-46D6-4ED9-8E5C-D11C59476D40}"/>
              </a:ext>
            </a:extLst>
          </p:cNvPr>
          <p:cNvSpPr/>
          <p:nvPr/>
        </p:nvSpPr>
        <p:spPr>
          <a:xfrm>
            <a:off x="4533900" y="2514601"/>
            <a:ext cx="3124200" cy="9144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Student</a:t>
            </a:r>
            <a:r>
              <a:rPr lang="en-US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A88C18-33C0-C2B4-74F5-CB251365F577}"/>
              </a:ext>
            </a:extLst>
          </p:cNvPr>
          <p:cNvSpPr/>
          <p:nvPr/>
        </p:nvSpPr>
        <p:spPr>
          <a:xfrm>
            <a:off x="4533900" y="3467101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Long id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13BE39-AAF2-1B53-A45C-975783BC2235}"/>
              </a:ext>
            </a:extLst>
          </p:cNvPr>
          <p:cNvSpPr/>
          <p:nvPr/>
        </p:nvSpPr>
        <p:spPr>
          <a:xfrm>
            <a:off x="4533900" y="4038600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email</a:t>
            </a:r>
            <a:r>
              <a:rPr lang="en-US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0FED99-0731-146A-79F8-F17A60B52483}"/>
              </a:ext>
            </a:extLst>
          </p:cNvPr>
          <p:cNvSpPr/>
          <p:nvPr/>
        </p:nvSpPr>
        <p:spPr>
          <a:xfrm>
            <a:off x="4533900" y="4610099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password</a:t>
            </a:r>
            <a:r>
              <a:rPr lang="en-US" dirty="0"/>
              <a:t>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82DBAC-64D7-A8C6-3561-120A0AA00DA3}"/>
              </a:ext>
            </a:extLst>
          </p:cNvPr>
          <p:cNvSpPr/>
          <p:nvPr/>
        </p:nvSpPr>
        <p:spPr>
          <a:xfrm>
            <a:off x="4533900" y="2057401"/>
            <a:ext cx="3124200" cy="4191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@Entity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214F3E2-6439-FC70-7FE2-4EC91A83872F}"/>
              </a:ext>
            </a:extLst>
          </p:cNvPr>
          <p:cNvSpPr/>
          <p:nvPr/>
        </p:nvSpPr>
        <p:spPr>
          <a:xfrm>
            <a:off x="8077200" y="3733800"/>
            <a:ext cx="304800" cy="1333498"/>
          </a:xfrm>
          <a:prstGeom prst="downArrow">
            <a:avLst/>
          </a:prstGeom>
          <a:noFill/>
          <a:ln w="38100">
            <a:solidFill>
              <a:srgbClr val="2C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49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EB752-8AB2-BD35-0BDA-BF6666C1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6B74-A7D8-FC66-BAB5-6C8F17E9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28600"/>
            <a:ext cx="11326704" cy="1041564"/>
          </a:xfrm>
        </p:spPr>
        <p:txBody>
          <a:bodyPr/>
          <a:lstStyle/>
          <a:p>
            <a:r>
              <a:rPr lang="en-US" dirty="0"/>
              <a:t>Annotation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CA595D-5501-308A-7632-506E8DBA6C9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@Entity</a:t>
            </a:r>
          </a:p>
          <a:p>
            <a:pPr lvl="1"/>
            <a:r>
              <a:rPr lang="en-US" dirty="0"/>
              <a:t>Indicates that the object is a JPA entity</a:t>
            </a:r>
          </a:p>
          <a:p>
            <a:r>
              <a:rPr lang="en-US" dirty="0"/>
              <a:t>@Id</a:t>
            </a:r>
          </a:p>
          <a:p>
            <a:pPr lvl="1"/>
            <a:r>
              <a:rPr lang="en-US" dirty="0"/>
              <a:t>Points to the specific field being used to create a unique instance of the object within the database</a:t>
            </a:r>
          </a:p>
          <a:p>
            <a:r>
              <a:rPr lang="en-US" dirty="0"/>
              <a:t>@GeneratedValue(strategy=GenerationType.Auto)</a:t>
            </a:r>
          </a:p>
          <a:p>
            <a:pPr lvl="1"/>
            <a:r>
              <a:rPr lang="en-US" dirty="0"/>
              <a:t>Uses this to auto populate the most appropriate value</a:t>
            </a:r>
          </a:p>
        </p:txBody>
      </p:sp>
    </p:spTree>
    <p:extLst>
      <p:ext uri="{BB962C8B-B14F-4D97-AF65-F5344CB8AC3E}">
        <p14:creationId xmlns:p14="http://schemas.microsoft.com/office/powerpoint/2010/main" val="346240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8F719-61DE-6C97-471D-A276DE35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A2D430-391A-A80C-A343-BE4FACB55020}"/>
              </a:ext>
            </a:extLst>
          </p:cNvPr>
          <p:cNvSpPr/>
          <p:nvPr/>
        </p:nvSpPr>
        <p:spPr>
          <a:xfrm>
            <a:off x="4533900" y="2057400"/>
            <a:ext cx="3124200" cy="9144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Student</a:t>
            </a:r>
            <a:r>
              <a:rPr lang="en-US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EF14AF-FCC4-4196-077F-A0B040CA0AA5}"/>
              </a:ext>
            </a:extLst>
          </p:cNvPr>
          <p:cNvSpPr/>
          <p:nvPr/>
        </p:nvSpPr>
        <p:spPr>
          <a:xfrm>
            <a:off x="4533900" y="3886202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Long id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24B379-C215-95EA-C309-3F9303E42AAA}"/>
              </a:ext>
            </a:extLst>
          </p:cNvPr>
          <p:cNvSpPr/>
          <p:nvPr/>
        </p:nvSpPr>
        <p:spPr>
          <a:xfrm>
            <a:off x="4533900" y="4457701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email</a:t>
            </a:r>
            <a:r>
              <a:rPr lang="en-US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602FF6-2FEE-4C20-6064-3D718E49A3BE}"/>
              </a:ext>
            </a:extLst>
          </p:cNvPr>
          <p:cNvSpPr/>
          <p:nvPr/>
        </p:nvSpPr>
        <p:spPr>
          <a:xfrm>
            <a:off x="4533900" y="5029200"/>
            <a:ext cx="3124200" cy="53339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String password</a:t>
            </a:r>
            <a:r>
              <a:rPr lang="en-US" dirty="0"/>
              <a:t>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D1E06C-4FB3-04C4-4B22-1DB1827A595A}"/>
              </a:ext>
            </a:extLst>
          </p:cNvPr>
          <p:cNvSpPr/>
          <p:nvPr/>
        </p:nvSpPr>
        <p:spPr>
          <a:xfrm>
            <a:off x="4533900" y="1676400"/>
            <a:ext cx="312420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@Entity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7E62CB-D219-9CCE-2104-8F77484D0D67}"/>
              </a:ext>
            </a:extLst>
          </p:cNvPr>
          <p:cNvSpPr/>
          <p:nvPr/>
        </p:nvSpPr>
        <p:spPr>
          <a:xfrm>
            <a:off x="4533900" y="3009900"/>
            <a:ext cx="312420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@ID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2BA413-B97D-3555-EED9-08D64EAB9900}"/>
              </a:ext>
            </a:extLst>
          </p:cNvPr>
          <p:cNvSpPr/>
          <p:nvPr/>
        </p:nvSpPr>
        <p:spPr>
          <a:xfrm>
            <a:off x="4533900" y="3390900"/>
            <a:ext cx="3124200" cy="4572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@GeneratedValue</a:t>
            </a:r>
          </a:p>
        </p:txBody>
      </p:sp>
    </p:spTree>
    <p:extLst>
      <p:ext uri="{BB962C8B-B14F-4D97-AF65-F5344CB8AC3E}">
        <p14:creationId xmlns:p14="http://schemas.microsoft.com/office/powerpoint/2010/main" val="805445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3DE22-A095-97F7-E9A7-BF82EC32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FDAAAB6-96D0-4D47-C5DA-E28FBCCC6F8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39251" y="4309724"/>
            <a:ext cx="2358200" cy="573618"/>
          </a:xfrm>
          <a:prstGeom prst="bentConnector3">
            <a:avLst>
              <a:gd name="adj1" fmla="val 723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BD1D82-A63C-DC8E-21D6-1C312735CCEF}"/>
              </a:ext>
            </a:extLst>
          </p:cNvPr>
          <p:cNvSpPr/>
          <p:nvPr/>
        </p:nvSpPr>
        <p:spPr>
          <a:xfrm>
            <a:off x="8718552" y="729095"/>
            <a:ext cx="1672376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@RestController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4DE5A2-A568-BDF3-1254-C875DD4A876F}"/>
              </a:ext>
            </a:extLst>
          </p:cNvPr>
          <p:cNvSpPr/>
          <p:nvPr/>
        </p:nvSpPr>
        <p:spPr>
          <a:xfrm>
            <a:off x="4727531" y="809400"/>
            <a:ext cx="1531450" cy="2965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 Request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FC28BF-1263-280E-E05E-DE0481BFC0EC}"/>
              </a:ext>
            </a:extLst>
          </p:cNvPr>
          <p:cNvSpPr/>
          <p:nvPr/>
        </p:nvSpPr>
        <p:spPr>
          <a:xfrm>
            <a:off x="329920" y="2859633"/>
            <a:ext cx="3829130" cy="367710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C3E50"/>
                </a:solidFill>
              </a:rPr>
              <a:t>Clubhub.com/…/students/11983460</a:t>
            </a:r>
          </a:p>
        </p:txBody>
      </p:sp>
      <p:pic>
        <p:nvPicPr>
          <p:cNvPr id="30" name="Graphic 29" descr="Internet with solid fill">
            <a:extLst>
              <a:ext uri="{FF2B5EF4-FFF2-40B4-BE49-F238E27FC236}">
                <a16:creationId xmlns:a16="http://schemas.microsoft.com/office/drawing/2014/main" id="{16D1086A-D37F-3CF3-829F-E75D5CF23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4485" y="1494847"/>
            <a:ext cx="1599999" cy="1385433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C60F162-0666-1DB1-4DDB-771AEE2C705E}"/>
              </a:ext>
            </a:extLst>
          </p:cNvPr>
          <p:cNvSpPr/>
          <p:nvPr/>
        </p:nvSpPr>
        <p:spPr>
          <a:xfrm>
            <a:off x="6915150" y="729095"/>
            <a:ext cx="1015998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Spring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35593C9-1467-1A1C-F3E7-ADC1D6696E45}"/>
              </a:ext>
            </a:extLst>
          </p:cNvPr>
          <p:cNvSpPr/>
          <p:nvPr/>
        </p:nvSpPr>
        <p:spPr>
          <a:xfrm>
            <a:off x="7867650" y="1849999"/>
            <a:ext cx="3429000" cy="4883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@GetMapping(/students/{id})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9BA6C0-1983-1ED5-D161-1E35F3403FDE}"/>
              </a:ext>
            </a:extLst>
          </p:cNvPr>
          <p:cNvSpPr/>
          <p:nvPr/>
        </p:nvSpPr>
        <p:spPr>
          <a:xfrm>
            <a:off x="7848600" y="5257800"/>
            <a:ext cx="3429000" cy="94444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@Pathvariable uses value from GET request, which is then used to identify the correct Entity instance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2A019DB-AD1F-8379-3F79-38DA15E19D57}"/>
              </a:ext>
            </a:extLst>
          </p:cNvPr>
          <p:cNvCxnSpPr>
            <a:cxnSpLocks/>
          </p:cNvCxnSpPr>
          <p:nvPr/>
        </p:nvCxnSpPr>
        <p:spPr>
          <a:xfrm flipV="1">
            <a:off x="3022545" y="957695"/>
            <a:ext cx="1638410" cy="1074305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8591AA-9CBC-696A-E520-E8C2A4D4E05A}"/>
              </a:ext>
            </a:extLst>
          </p:cNvPr>
          <p:cNvCxnSpPr>
            <a:cxnSpLocks/>
          </p:cNvCxnSpPr>
          <p:nvPr/>
        </p:nvCxnSpPr>
        <p:spPr>
          <a:xfrm>
            <a:off x="6305550" y="957695"/>
            <a:ext cx="53340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59D33D-F862-6418-2C3A-778CBF8B2E7E}"/>
              </a:ext>
            </a:extLst>
          </p:cNvPr>
          <p:cNvCxnSpPr>
            <a:cxnSpLocks/>
          </p:cNvCxnSpPr>
          <p:nvPr/>
        </p:nvCxnSpPr>
        <p:spPr>
          <a:xfrm>
            <a:off x="8058150" y="957695"/>
            <a:ext cx="53340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C1E503-0166-032D-0FBD-43D5C06A9560}"/>
              </a:ext>
            </a:extLst>
          </p:cNvPr>
          <p:cNvCxnSpPr>
            <a:cxnSpLocks/>
          </p:cNvCxnSpPr>
          <p:nvPr/>
        </p:nvCxnSpPr>
        <p:spPr>
          <a:xfrm>
            <a:off x="9582150" y="1266247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419AFA-0C8E-BC09-0A74-472EEE627DD0}"/>
              </a:ext>
            </a:extLst>
          </p:cNvPr>
          <p:cNvCxnSpPr>
            <a:cxnSpLocks/>
          </p:cNvCxnSpPr>
          <p:nvPr/>
        </p:nvCxnSpPr>
        <p:spPr>
          <a:xfrm>
            <a:off x="9582150" y="2413000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5A3EF9A-89C7-FAF8-683E-30E880F446FA}"/>
              </a:ext>
            </a:extLst>
          </p:cNvPr>
          <p:cNvSpPr/>
          <p:nvPr/>
        </p:nvSpPr>
        <p:spPr>
          <a:xfrm>
            <a:off x="2837448" y="5547033"/>
            <a:ext cx="11176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JSON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23A2A9B-2EAB-7C53-F79D-DFFAF0F6D353}"/>
              </a:ext>
            </a:extLst>
          </p:cNvPr>
          <p:cNvSpPr/>
          <p:nvPr/>
        </p:nvSpPr>
        <p:spPr>
          <a:xfrm>
            <a:off x="7848600" y="2973382"/>
            <a:ext cx="34290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Specific instance of Student record found via Controller method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A8AD6B3-47D6-9CE8-1286-96464D44A522}"/>
              </a:ext>
            </a:extLst>
          </p:cNvPr>
          <p:cNvCxnSpPr>
            <a:cxnSpLocks/>
          </p:cNvCxnSpPr>
          <p:nvPr/>
        </p:nvCxnSpPr>
        <p:spPr>
          <a:xfrm>
            <a:off x="9582150" y="3499507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EDE7A5-FDC8-6F0D-234B-84EC99207EDC}"/>
              </a:ext>
            </a:extLst>
          </p:cNvPr>
          <p:cNvCxnSpPr>
            <a:cxnSpLocks/>
          </p:cNvCxnSpPr>
          <p:nvPr/>
        </p:nvCxnSpPr>
        <p:spPr>
          <a:xfrm>
            <a:off x="9588500" y="4775200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5C4451C-5508-158C-F668-3CFAC8D86F9F}"/>
              </a:ext>
            </a:extLst>
          </p:cNvPr>
          <p:cNvSpPr/>
          <p:nvPr/>
        </p:nvSpPr>
        <p:spPr>
          <a:xfrm>
            <a:off x="8096252" y="4046532"/>
            <a:ext cx="2971795" cy="6733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@GetMapping tells Spring this is the method for fulfilling this specific request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5A53248-331C-E4D8-6FA9-C0B33EDF08D4}"/>
              </a:ext>
            </a:extLst>
          </p:cNvPr>
          <p:cNvCxnSpPr>
            <a:cxnSpLocks/>
          </p:cNvCxnSpPr>
          <p:nvPr/>
        </p:nvCxnSpPr>
        <p:spPr>
          <a:xfrm flipH="1">
            <a:off x="7194494" y="5730022"/>
            <a:ext cx="573619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7BDC11-B541-D18A-BD24-06EDBFCEDEB2}"/>
              </a:ext>
            </a:extLst>
          </p:cNvPr>
          <p:cNvSpPr/>
          <p:nvPr/>
        </p:nvSpPr>
        <p:spPr>
          <a:xfrm>
            <a:off x="4660955" y="5349023"/>
            <a:ext cx="2510313" cy="85322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Specific entity is retrieved from storage, values are used to populate the record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A53248-331C-E4D8-6FA9-C0B33EDF08D4}"/>
              </a:ext>
            </a:extLst>
          </p:cNvPr>
          <p:cNvCxnSpPr>
            <a:cxnSpLocks/>
          </p:cNvCxnSpPr>
          <p:nvPr/>
        </p:nvCxnSpPr>
        <p:spPr>
          <a:xfrm flipH="1">
            <a:off x="3955048" y="5775633"/>
            <a:ext cx="573619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66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7FFFC-A203-82AB-7EAE-65B58B26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C63F-D3E5-31E2-A764-2AB43DE2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28600"/>
            <a:ext cx="11326704" cy="1041564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A6D10-A02D-F963-1374-D3741C493D3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https://spring.io/guides/gs/rest-service/</a:t>
            </a:r>
            <a:endParaRPr lang="en-US" dirty="0"/>
          </a:p>
          <a:p>
            <a:pPr latinLnBrk="1"/>
            <a:r>
              <a:rPr lang="en-US" dirty="0">
                <a:hlinkClick r:id="rId3"/>
              </a:rPr>
              <a:t>https://spring.io/guides/gs/accessing-data-jpa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7363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547</TotalTime>
  <Words>417</Words>
  <Application>Microsoft Macintosh PowerPoint</Application>
  <PresentationFormat>Widescreen</PresentationFormat>
  <Paragraphs>78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Consolas</vt:lpstr>
      <vt:lpstr>Neue Haas Grotesk Text Pro</vt:lpstr>
      <vt:lpstr>Perpetua</vt:lpstr>
      <vt:lpstr>Dune</vt:lpstr>
      <vt:lpstr>Building a Restful Service</vt:lpstr>
      <vt:lpstr>Core Challenges </vt:lpstr>
      <vt:lpstr>Basic URL Breakdown</vt:lpstr>
      <vt:lpstr>PowerPoint Presentation</vt:lpstr>
      <vt:lpstr>https://wsu.instructure.com/courses/1894762/pages/learning-objectives-5?module_item_id=26789979</vt:lpstr>
      <vt:lpstr>PowerPoint Presentation</vt:lpstr>
      <vt:lpstr>PowerPoint Presentation</vt:lpstr>
      <vt:lpstr>Accessing Data with JPA  </vt:lpstr>
      <vt:lpstr>How can we access data from different entities?</vt:lpstr>
      <vt:lpstr>PowerPoint Presentation</vt:lpstr>
      <vt:lpstr>Annotation</vt:lpstr>
      <vt:lpstr>PowerPoint Presentation</vt:lpstr>
      <vt:lpstr>PowerPoint Presentation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Nguyen-Vo Herbert, Jordan Vinh</dc:creator>
  <cp:lastModifiedBy>Nguyen-Vo Herbert, Jordan Vinh</cp:lastModifiedBy>
  <cp:revision>4</cp:revision>
  <dcterms:created xsi:type="dcterms:W3CDTF">2026-09-24T17:17:36Z</dcterms:created>
  <dcterms:modified xsi:type="dcterms:W3CDTF">2026-09-25T04:15:48Z</dcterms:modified>
</cp:coreProperties>
</file>